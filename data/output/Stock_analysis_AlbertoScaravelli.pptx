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tags/tag248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9" r:id="rId3"/>
    <p:sldId id="269" r:id="rId4"/>
    <p:sldId id="282" r:id="rId5"/>
    <p:sldId id="283" r:id="rId6"/>
    <p:sldId id="284" r:id="rId7"/>
    <p:sldId id="285" r:id="rId8"/>
    <p:sldId id="286" r:id="rId9"/>
    <p:sldId id="277" r:id="rId10"/>
    <p:sldId id="287" r:id="rId11"/>
    <p:sldId id="288" r:id="rId12"/>
    <p:sldId id="266" r:id="rId13"/>
    <p:sldId id="267" r:id="rId14"/>
  </p:sldIdLst>
  <p:sldSz cx="12188825" cy="6858000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788B3D8-4A5D-CA48-9A74-4A70E4DC47E0}">
          <p14:sldIdLst>
            <p14:sldId id="256"/>
            <p14:sldId id="289"/>
            <p14:sldId id="269"/>
            <p14:sldId id="282"/>
            <p14:sldId id="283"/>
            <p14:sldId id="284"/>
            <p14:sldId id="285"/>
            <p14:sldId id="286"/>
            <p14:sldId id="277"/>
            <p14:sldId id="287"/>
            <p14:sldId id="288"/>
          </p14:sldIdLst>
        </p14:section>
        <p14:section name="Annex" id="{33DA7B53-6C29-E942-A43B-4BFD742786E7}">
          <p14:sldIdLst>
            <p14:sldId id="266"/>
            <p14:sldId id="267"/>
          </p14:sldIdLst>
        </p14:section>
        <p14:section name="Backup" id="{0B09073E-D962-A243-9633-A0866E915DF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117"/>
    <a:srgbClr val="1735B6"/>
    <a:srgbClr val="BCD8FF"/>
    <a:srgbClr val="5A9EFF"/>
    <a:srgbClr val="1B57F5"/>
    <a:srgbClr val="142057"/>
    <a:srgbClr val="A8CFF0"/>
    <a:srgbClr val="E876D4"/>
    <a:srgbClr val="B8B8EF"/>
    <a:srgbClr val="C9A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55"/>
    <p:restoredTop sz="94684"/>
  </p:normalViewPr>
  <p:slideViewPr>
    <p:cSldViewPr snapToGrid="0" snapToObjects="1">
      <p:cViewPr>
        <p:scale>
          <a:sx n="107" d="100"/>
          <a:sy n="107" d="100"/>
        </p:scale>
        <p:origin x="776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084981293425969E-2"/>
          <c:y val="9.3780369290573373E-2"/>
          <c:w val="0.844735435595938"/>
          <c:h val="0.812439261418853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A8D9A8"/>
            </a:solidFill>
            <a:ln>
              <a:noFill/>
            </a:ln>
          </c:spPr>
          <c:invertIfNegative val="0"/>
          <c:dLbls>
            <c:dLbl>
              <c:idx val="2"/>
              <c:layout>
                <c:manualLayout>
                  <c:x val="0"/>
                  <c:y val="-7.3858114674441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2E1-5E48-A097-FF203CC4F952}"/>
                </c:ext>
              </c:extLst>
            </c:dLbl>
            <c:dLbl>
              <c:idx val="3"/>
              <c:layout>
                <c:manualLayout>
                  <c:x val="0"/>
                  <c:y val="-7.3858114674441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2E1-5E48-A097-FF203CC4F952}"/>
                </c:ext>
              </c:extLst>
            </c:dLbl>
            <c:dLbl>
              <c:idx val="4"/>
              <c:layout>
                <c:manualLayout>
                  <c:x val="0"/>
                  <c:y val="-7.725947521865889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2E1-5E48-A097-FF203CC4F952}"/>
                </c:ext>
              </c:extLst>
            </c:dLbl>
            <c:dLbl>
              <c:idx val="8"/>
              <c:layout>
                <c:manualLayout>
                  <c:x val="0"/>
                  <c:y val="-0.2395529640427599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2E1-5E48-A097-FF203CC4F9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0">
                  <c:v>1.7660663759999999</c:v>
                </c:pt>
                <c:pt idx="1">
                  <c:v>2.2794268149999999</c:v>
                </c:pt>
                <c:pt idx="2">
                  <c:v>2.4759315989999999</c:v>
                </c:pt>
                <c:pt idx="3">
                  <c:v>2.4843579999999998</c:v>
                </c:pt>
                <c:pt idx="4">
                  <c:v>2.7312460000000001</c:v>
                </c:pt>
                <c:pt idx="5">
                  <c:v>4.1972009999999997</c:v>
                </c:pt>
                <c:pt idx="6">
                  <c:v>4.6169440000000002</c:v>
                </c:pt>
                <c:pt idx="7">
                  <c:v>4.7139389999999999</c:v>
                </c:pt>
                <c:pt idx="8">
                  <c:v>14.706329999999999</c:v>
                </c:pt>
                <c:pt idx="9">
                  <c:v>29.17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E1-5E48-A097-FF203CC4F9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17477695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2E1-5E48-A097-FF203CC4F952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E2E1-5E48-A097-FF203CC4F952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E2E1-5E48-A097-FF203CC4F952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E2E1-5E48-A097-FF203CC4F952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E2E1-5E48-A097-FF203CC4F952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E2E1-5E48-A097-FF203CC4F952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E2E1-5E48-A097-FF203CC4F952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E2E1-5E48-A097-FF203CC4F952}"/>
              </c:ext>
            </c:extLst>
          </c:dPt>
          <c:dPt>
            <c:idx val="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E2E1-5E48-A097-FF203CC4F952}"/>
              </c:ext>
            </c:extLst>
          </c:dPt>
          <c:dPt>
            <c:idx val="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E2E1-5E48-A097-FF203CC4F952}"/>
              </c:ext>
            </c:extLst>
          </c:dPt>
          <c:val>
            <c:numRef>
              <c:f>Sheet1!$A$2:$J$2</c:f>
              <c:numCache>
                <c:formatCode>General</c:formatCode>
                <c:ptCount val="10"/>
                <c:pt idx="0">
                  <c:v>63.49206349</c:v>
                </c:pt>
                <c:pt idx="1">
                  <c:v>68.181818179999993</c:v>
                </c:pt>
                <c:pt idx="2">
                  <c:v>80.952380950000006</c:v>
                </c:pt>
                <c:pt idx="3">
                  <c:v>68.627449999999996</c:v>
                </c:pt>
                <c:pt idx="4">
                  <c:v>75.55556</c:v>
                </c:pt>
                <c:pt idx="5">
                  <c:v>70</c:v>
                </c:pt>
                <c:pt idx="6">
                  <c:v>63.54515</c:v>
                </c:pt>
                <c:pt idx="7">
                  <c:v>62.5</c:v>
                </c:pt>
                <c:pt idx="8">
                  <c:v>82.857140000000001</c:v>
                </c:pt>
                <c:pt idx="9">
                  <c:v>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F-E2E1-5E48-A097-FF203CC4F9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2174776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17477695"/>
        <c:crosses val="min"/>
        <c:crossBetween val="between"/>
        <c:majorUnit val="5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1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457446808510634E-2"/>
          <c:y val="9.3780369290573373E-2"/>
          <c:w val="0.83776595744680848"/>
          <c:h val="0.812439261418853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0.3629737609329445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5A5-4F49-AF95-CB40F7F0955A}"/>
                </c:ext>
              </c:extLst>
            </c:dLbl>
            <c:dLbl>
              <c:idx val="2"/>
              <c:layout>
                <c:manualLayout>
                  <c:x val="0"/>
                  <c:y val="-0.2424684159378036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5A5-4F49-AF95-CB40F7F0955A}"/>
                </c:ext>
              </c:extLst>
            </c:dLbl>
            <c:dLbl>
              <c:idx val="3"/>
              <c:layout>
                <c:manualLayout>
                  <c:x val="0"/>
                  <c:y val="-0.240524781341107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5A5-4F49-AF95-CB40F7F0955A}"/>
                </c:ext>
              </c:extLst>
            </c:dLbl>
            <c:dLbl>
              <c:idx val="4"/>
              <c:layout>
                <c:manualLayout>
                  <c:x val="0"/>
                  <c:y val="-0.202137998056365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5A5-4F49-AF95-CB40F7F0955A}"/>
                </c:ext>
              </c:extLst>
            </c:dLbl>
            <c:dLbl>
              <c:idx val="6"/>
              <c:layout>
                <c:manualLayout>
                  <c:x val="0"/>
                  <c:y val="-0.1666666666666666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75A5-4F49-AF95-CB40F7F0955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0">
                  <c:v>-18.967023647073191</c:v>
                </c:pt>
                <c:pt idx="1">
                  <c:v>-15.88221730801407</c:v>
                </c:pt>
                <c:pt idx="2">
                  <c:v>-9.9546069773862449</c:v>
                </c:pt>
                <c:pt idx="3">
                  <c:v>-9.8715687067808293</c:v>
                </c:pt>
                <c:pt idx="4">
                  <c:v>-7.9618406230786114</c:v>
                </c:pt>
                <c:pt idx="5">
                  <c:v>-6.3848279383840296</c:v>
                </c:pt>
                <c:pt idx="6">
                  <c:v>-6.2145518287983501</c:v>
                </c:pt>
                <c:pt idx="7">
                  <c:v>-5.2469201087860604</c:v>
                </c:pt>
                <c:pt idx="8">
                  <c:v>-2.8183704039834399</c:v>
                </c:pt>
                <c:pt idx="9">
                  <c:v>-1.2267898162642501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5A5-4F49-AF95-CB40F7F09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56181567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75A5-4F49-AF95-CB40F7F0955A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75A5-4F49-AF95-CB40F7F0955A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75A5-4F49-AF95-CB40F7F0955A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75A5-4F49-AF95-CB40F7F0955A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75A5-4F49-AF95-CB40F7F0955A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75A5-4F49-AF95-CB40F7F0955A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75A5-4F49-AF95-CB40F7F0955A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75A5-4F49-AF95-CB40F7F0955A}"/>
              </c:ext>
            </c:extLst>
          </c:dPt>
          <c:dPt>
            <c:idx val="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75A5-4F49-AF95-CB40F7F0955A}"/>
              </c:ext>
            </c:extLst>
          </c:dPt>
          <c:dPt>
            <c:idx val="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75A5-4F49-AF95-CB40F7F0955A}"/>
              </c:ext>
            </c:extLst>
          </c:dPt>
          <c:val>
            <c:numRef>
              <c:f>Sheet1!$A$2:$J$2</c:f>
              <c:numCache>
                <c:formatCode>General</c:formatCode>
                <c:ptCount val="10"/>
                <c:pt idx="0">
                  <c:v>34.285714285714278</c:v>
                </c:pt>
                <c:pt idx="1">
                  <c:v>27.27272727272727</c:v>
                </c:pt>
                <c:pt idx="2">
                  <c:v>29.80769230769231</c:v>
                </c:pt>
                <c:pt idx="3">
                  <c:v>15.38461538461539</c:v>
                </c:pt>
                <c:pt idx="4">
                  <c:v>33.333333333333329</c:v>
                </c:pt>
                <c:pt idx="5">
                  <c:v>34.883720930232563</c:v>
                </c:pt>
                <c:pt idx="6">
                  <c:v>30.90909090909091</c:v>
                </c:pt>
                <c:pt idx="7">
                  <c:v>35.179153094462542</c:v>
                </c:pt>
                <c:pt idx="8">
                  <c:v>26.92307692307692</c:v>
                </c:pt>
                <c:pt idx="9">
                  <c:v>35.087719298245609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0-75A5-4F49-AF95-CB40F7F09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756181567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2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756181567"/>
        <c:crosses val="min"/>
        <c:crossBetween val="between"/>
        <c:majorUnit val="5"/>
      </c:valAx>
      <c:catAx>
        <c:axId val="2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ax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1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5160648279783904E-2"/>
          <c:y val="8.5059497576024684E-2"/>
          <c:w val="0.90005686664771112"/>
          <c:h val="0.8298810048479506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9EFF"/>
            </a:solidFill>
            <a:ln>
              <a:noFill/>
            </a:ln>
          </c:spPr>
          <c:invertIfNegative val="0"/>
          <c:dLbls>
            <c:dLbl>
              <c:idx val="2"/>
              <c:layout>
                <c:manualLayout>
                  <c:x val="9.5251634916121691E-3"/>
                  <c:y val="-7.360070515645658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97F-0547-A303-E8C684B52E71}"/>
                </c:ext>
              </c:extLst>
            </c:dLbl>
            <c:dLbl>
              <c:idx val="3"/>
              <c:layout>
                <c:manualLayout>
                  <c:x val="0"/>
                  <c:y val="-3.746143675628030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97F-0547-A303-E8C684B52E71}"/>
                </c:ext>
              </c:extLst>
            </c:dLbl>
            <c:dLbl>
              <c:idx val="7"/>
              <c:layout>
                <c:manualLayout>
                  <c:x val="2.8433323855558716E-3"/>
                  <c:y val="-7.580431908329660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97F-0547-A303-E8C684B52E71}"/>
                </c:ext>
              </c:extLst>
            </c:dLbl>
            <c:dLbl>
              <c:idx val="10"/>
              <c:layout>
                <c:manualLayout>
                  <c:x val="2.9854990048336651E-3"/>
                  <c:y val="-7.844865579550462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97F-0547-A303-E8C684B52E71}"/>
                </c:ext>
              </c:extLst>
            </c:dLbl>
            <c:dLbl>
              <c:idx val="12"/>
              <c:layout>
                <c:manualLayout>
                  <c:x val="0"/>
                  <c:y val="-7.624504186866461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997F-0547-A303-E8C684B52E71}"/>
                </c:ext>
              </c:extLst>
            </c:dLbl>
            <c:dLbl>
              <c:idx val="17"/>
              <c:layout>
                <c:manualLayout>
                  <c:x val="1.0946829684390105E-2"/>
                  <c:y val="-0.3010136624063464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997F-0547-A303-E8C684B52E71}"/>
                </c:ext>
              </c:extLst>
            </c:dLbl>
            <c:dLbl>
              <c:idx val="18"/>
              <c:layout>
                <c:manualLayout>
                  <c:x val="0"/>
                  <c:y val="-0.1604230938739532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997F-0547-A303-E8C684B52E71}"/>
                </c:ext>
              </c:extLst>
            </c:dLbl>
            <c:dLbl>
              <c:idx val="23"/>
              <c:layout>
                <c:manualLayout>
                  <c:x val="0"/>
                  <c:y val="-0.2542970471573380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997F-0547-A303-E8C684B52E71}"/>
                </c:ext>
              </c:extLst>
            </c:dLbl>
            <c:dLbl>
              <c:idx val="26"/>
              <c:layout>
                <c:manualLayout>
                  <c:x val="0"/>
                  <c:y val="-0.2935213750550903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997F-0547-A303-E8C684B52E71}"/>
                </c:ext>
              </c:extLst>
            </c:dLbl>
            <c:dLbl>
              <c:idx val="28"/>
              <c:layout>
                <c:manualLayout>
                  <c:x val="0"/>
                  <c:y val="-0.167033935654473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997F-0547-A303-E8C684B52E71}"/>
                </c:ext>
              </c:extLst>
            </c:dLbl>
            <c:dLbl>
              <c:idx val="33"/>
              <c:layout>
                <c:manualLayout>
                  <c:x val="0"/>
                  <c:y val="-0.2194799471132657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997F-0547-A303-E8C684B52E71}"/>
                </c:ext>
              </c:extLst>
            </c:dLbl>
            <c:dLbl>
              <c:idx val="34"/>
              <c:layout>
                <c:manualLayout>
                  <c:x val="0"/>
                  <c:y val="-0.1269281621859850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997F-0547-A303-E8C684B52E71}"/>
                </c:ext>
              </c:extLst>
            </c:dLbl>
            <c:dLbl>
              <c:idx val="35"/>
              <c:layout>
                <c:manualLayout>
                  <c:x val="0"/>
                  <c:y val="-0.1661524900837373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997F-0547-A303-E8C684B52E71}"/>
                </c:ext>
              </c:extLst>
            </c:dLbl>
            <c:dLbl>
              <c:idx val="36"/>
              <c:layout>
                <c:manualLayout>
                  <c:x val="0"/>
                  <c:y val="-0.1269281621859850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997F-0547-A303-E8C684B52E71}"/>
                </c:ext>
              </c:extLst>
            </c:dLbl>
            <c:dLbl>
              <c:idx val="39"/>
              <c:layout>
                <c:manualLayout>
                  <c:x val="0"/>
                  <c:y val="-0.1154693697664169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997F-0547-A303-E8C684B52E71}"/>
                </c:ext>
              </c:extLst>
            </c:dLbl>
            <c:dLbl>
              <c:idx val="40"/>
              <c:layout>
                <c:manualLayout>
                  <c:x val="-2.416832527722491E-3"/>
                  <c:y val="-7.844865579550462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997F-0547-A303-E8C684B52E7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Sheet1!$A$1:$AO$1</c:f>
              <c:numCache>
                <c:formatCode>General</c:formatCode>
                <c:ptCount val="41"/>
                <c:pt idx="0">
                  <c:v>89</c:v>
                </c:pt>
                <c:pt idx="1">
                  <c:v>95</c:v>
                </c:pt>
                <c:pt idx="2">
                  <c:v>117</c:v>
                </c:pt>
                <c:pt idx="3">
                  <c:v>2</c:v>
                </c:pt>
                <c:pt idx="4">
                  <c:v>108</c:v>
                </c:pt>
                <c:pt idx="5">
                  <c:v>116</c:v>
                </c:pt>
                <c:pt idx="6">
                  <c:v>78</c:v>
                </c:pt>
                <c:pt idx="7">
                  <c:v>115</c:v>
                </c:pt>
                <c:pt idx="8">
                  <c:v>190</c:v>
                </c:pt>
                <c:pt idx="9">
                  <c:v>92</c:v>
                </c:pt>
                <c:pt idx="10">
                  <c:v>132</c:v>
                </c:pt>
                <c:pt idx="11">
                  <c:v>168</c:v>
                </c:pt>
                <c:pt idx="12">
                  <c:v>124</c:v>
                </c:pt>
                <c:pt idx="13">
                  <c:v>317</c:v>
                </c:pt>
                <c:pt idx="14">
                  <c:v>710</c:v>
                </c:pt>
                <c:pt idx="15">
                  <c:v>496</c:v>
                </c:pt>
                <c:pt idx="16">
                  <c:v>658</c:v>
                </c:pt>
                <c:pt idx="17">
                  <c:v>543</c:v>
                </c:pt>
                <c:pt idx="18">
                  <c:v>388</c:v>
                </c:pt>
                <c:pt idx="19">
                  <c:v>545</c:v>
                </c:pt>
                <c:pt idx="20">
                  <c:v>651</c:v>
                </c:pt>
                <c:pt idx="21">
                  <c:v>1208</c:v>
                </c:pt>
                <c:pt idx="22">
                  <c:v>707</c:v>
                </c:pt>
                <c:pt idx="23">
                  <c:v>683</c:v>
                </c:pt>
                <c:pt idx="24">
                  <c:v>568</c:v>
                </c:pt>
                <c:pt idx="25">
                  <c:v>501</c:v>
                </c:pt>
                <c:pt idx="26">
                  <c:v>804</c:v>
                </c:pt>
                <c:pt idx="27">
                  <c:v>475</c:v>
                </c:pt>
                <c:pt idx="28">
                  <c:v>401</c:v>
                </c:pt>
                <c:pt idx="29">
                  <c:v>312</c:v>
                </c:pt>
                <c:pt idx="30">
                  <c:v>472</c:v>
                </c:pt>
                <c:pt idx="31">
                  <c:v>355</c:v>
                </c:pt>
                <c:pt idx="32">
                  <c:v>351</c:v>
                </c:pt>
                <c:pt idx="33">
                  <c:v>509</c:v>
                </c:pt>
                <c:pt idx="34">
                  <c:v>284</c:v>
                </c:pt>
                <c:pt idx="35">
                  <c:v>406</c:v>
                </c:pt>
                <c:pt idx="36">
                  <c:v>283</c:v>
                </c:pt>
                <c:pt idx="37">
                  <c:v>189</c:v>
                </c:pt>
                <c:pt idx="38">
                  <c:v>496</c:v>
                </c:pt>
                <c:pt idx="39">
                  <c:v>248</c:v>
                </c:pt>
                <c:pt idx="40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97F-0547-A303-E8C684B52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66635887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997F-0547-A303-E8C684B52E71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997F-0547-A303-E8C684B52E71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997F-0547-A303-E8C684B52E71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997F-0547-A303-E8C684B52E71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997F-0547-A303-E8C684B52E71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997F-0547-A303-E8C684B52E71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997F-0547-A303-E8C684B52E71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997F-0547-A303-E8C684B52E71}"/>
              </c:ext>
            </c:extLst>
          </c:dPt>
          <c:dPt>
            <c:idx val="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997F-0547-A303-E8C684B52E71}"/>
              </c:ext>
            </c:extLst>
          </c:dPt>
          <c:dPt>
            <c:idx val="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997F-0547-A303-E8C684B52E71}"/>
              </c:ext>
            </c:extLst>
          </c:dPt>
          <c:dPt>
            <c:idx val="1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997F-0547-A303-E8C684B52E71}"/>
              </c:ext>
            </c:extLst>
          </c:dPt>
          <c:dPt>
            <c:idx val="1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997F-0547-A303-E8C684B52E71}"/>
              </c:ext>
            </c:extLst>
          </c:dPt>
          <c:dPt>
            <c:idx val="1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D-997F-0547-A303-E8C684B52E71}"/>
              </c:ext>
            </c:extLst>
          </c:dPt>
          <c:dPt>
            <c:idx val="1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E-997F-0547-A303-E8C684B52E71}"/>
              </c:ext>
            </c:extLst>
          </c:dPt>
          <c:dPt>
            <c:idx val="1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F-997F-0547-A303-E8C684B52E71}"/>
              </c:ext>
            </c:extLst>
          </c:dPt>
          <c:dPt>
            <c:idx val="1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0-997F-0547-A303-E8C684B52E71}"/>
              </c:ext>
            </c:extLst>
          </c:dPt>
          <c:dPt>
            <c:idx val="1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1-997F-0547-A303-E8C684B52E71}"/>
              </c:ext>
            </c:extLst>
          </c:dPt>
          <c:dPt>
            <c:idx val="1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2-997F-0547-A303-E8C684B52E71}"/>
              </c:ext>
            </c:extLst>
          </c:dPt>
          <c:dPt>
            <c:idx val="1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3-997F-0547-A303-E8C684B52E71}"/>
              </c:ext>
            </c:extLst>
          </c:dPt>
          <c:dPt>
            <c:idx val="1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4-997F-0547-A303-E8C684B52E71}"/>
              </c:ext>
            </c:extLst>
          </c:dPt>
          <c:dPt>
            <c:idx val="2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5-997F-0547-A303-E8C684B52E71}"/>
              </c:ext>
            </c:extLst>
          </c:dPt>
          <c:dPt>
            <c:idx val="2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6-997F-0547-A303-E8C684B52E71}"/>
              </c:ext>
            </c:extLst>
          </c:dPt>
          <c:dPt>
            <c:idx val="2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7-997F-0547-A303-E8C684B52E71}"/>
              </c:ext>
            </c:extLst>
          </c:dPt>
          <c:dPt>
            <c:idx val="2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8-997F-0547-A303-E8C684B52E71}"/>
              </c:ext>
            </c:extLst>
          </c:dPt>
          <c:dPt>
            <c:idx val="2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9-997F-0547-A303-E8C684B52E71}"/>
              </c:ext>
            </c:extLst>
          </c:dPt>
          <c:dPt>
            <c:idx val="2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A-997F-0547-A303-E8C684B52E71}"/>
              </c:ext>
            </c:extLst>
          </c:dPt>
          <c:dPt>
            <c:idx val="2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B-997F-0547-A303-E8C684B52E71}"/>
              </c:ext>
            </c:extLst>
          </c:dPt>
          <c:dPt>
            <c:idx val="2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C-997F-0547-A303-E8C684B52E71}"/>
              </c:ext>
            </c:extLst>
          </c:dPt>
          <c:dPt>
            <c:idx val="2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D-997F-0547-A303-E8C684B52E71}"/>
              </c:ext>
            </c:extLst>
          </c:dPt>
          <c:dPt>
            <c:idx val="2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E-997F-0547-A303-E8C684B52E71}"/>
              </c:ext>
            </c:extLst>
          </c:dPt>
          <c:dPt>
            <c:idx val="3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F-997F-0547-A303-E8C684B52E71}"/>
              </c:ext>
            </c:extLst>
          </c:dPt>
          <c:dPt>
            <c:idx val="3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0-997F-0547-A303-E8C684B52E71}"/>
              </c:ext>
            </c:extLst>
          </c:dPt>
          <c:dPt>
            <c:idx val="3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1-997F-0547-A303-E8C684B52E71}"/>
              </c:ext>
            </c:extLst>
          </c:dPt>
          <c:dPt>
            <c:idx val="3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2-997F-0547-A303-E8C684B52E71}"/>
              </c:ext>
            </c:extLst>
          </c:dPt>
          <c:dPt>
            <c:idx val="3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3-997F-0547-A303-E8C684B52E71}"/>
              </c:ext>
            </c:extLst>
          </c:dPt>
          <c:dPt>
            <c:idx val="3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4-997F-0547-A303-E8C684B52E71}"/>
              </c:ext>
            </c:extLst>
          </c:dPt>
          <c:dPt>
            <c:idx val="3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5-997F-0547-A303-E8C684B52E71}"/>
              </c:ext>
            </c:extLst>
          </c:dPt>
          <c:dPt>
            <c:idx val="3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6-997F-0547-A303-E8C684B52E71}"/>
              </c:ext>
            </c:extLst>
          </c:dPt>
          <c:dPt>
            <c:idx val="3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7-997F-0547-A303-E8C684B52E71}"/>
              </c:ext>
            </c:extLst>
          </c:dPt>
          <c:dPt>
            <c:idx val="3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8-997F-0547-A303-E8C684B52E71}"/>
              </c:ext>
            </c:extLst>
          </c:dPt>
          <c:dPt>
            <c:idx val="4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9-997F-0547-A303-E8C684B52E71}"/>
              </c:ext>
            </c:extLst>
          </c:dPt>
          <c:val>
            <c:numRef>
              <c:f>Sheet1!$A$2:$AO$2</c:f>
              <c:numCache>
                <c:formatCode>General</c:formatCode>
                <c:ptCount val="41"/>
                <c:pt idx="0">
                  <c:v>47.191011000000003</c:v>
                </c:pt>
                <c:pt idx="1">
                  <c:v>32.631578949999998</c:v>
                </c:pt>
                <c:pt idx="2">
                  <c:v>50.427350429999997</c:v>
                </c:pt>
                <c:pt idx="3">
                  <c:v>100</c:v>
                </c:pt>
                <c:pt idx="4">
                  <c:v>80.55556</c:v>
                </c:pt>
                <c:pt idx="5">
                  <c:v>56.896549999999998</c:v>
                </c:pt>
                <c:pt idx="6">
                  <c:v>52.564100000000003</c:v>
                </c:pt>
                <c:pt idx="7">
                  <c:v>46.956519999999998</c:v>
                </c:pt>
                <c:pt idx="8">
                  <c:v>37.36842</c:v>
                </c:pt>
                <c:pt idx="9">
                  <c:v>53.260869999999997</c:v>
                </c:pt>
                <c:pt idx="10">
                  <c:v>65.151520000000005</c:v>
                </c:pt>
                <c:pt idx="11">
                  <c:v>44.047620000000002</c:v>
                </c:pt>
                <c:pt idx="12">
                  <c:v>51.612900000000003</c:v>
                </c:pt>
                <c:pt idx="13">
                  <c:v>56.151420000000002</c:v>
                </c:pt>
                <c:pt idx="14">
                  <c:v>49.15493</c:v>
                </c:pt>
                <c:pt idx="15">
                  <c:v>55.24194</c:v>
                </c:pt>
                <c:pt idx="16">
                  <c:v>48.632219999999997</c:v>
                </c:pt>
                <c:pt idx="17">
                  <c:v>46.408839999999998</c:v>
                </c:pt>
                <c:pt idx="18">
                  <c:v>44.845359999999999</c:v>
                </c:pt>
                <c:pt idx="19">
                  <c:v>50.091740000000001</c:v>
                </c:pt>
                <c:pt idx="20">
                  <c:v>52.380949999999999</c:v>
                </c:pt>
                <c:pt idx="21">
                  <c:v>55.46358</c:v>
                </c:pt>
                <c:pt idx="22">
                  <c:v>49.929279999999999</c:v>
                </c:pt>
                <c:pt idx="23">
                  <c:v>49.780380000000001</c:v>
                </c:pt>
                <c:pt idx="24">
                  <c:v>42.077460000000002</c:v>
                </c:pt>
                <c:pt idx="25">
                  <c:v>45.309379999999997</c:v>
                </c:pt>
                <c:pt idx="26">
                  <c:v>44.900500000000001</c:v>
                </c:pt>
                <c:pt idx="27">
                  <c:v>48.421050000000001</c:v>
                </c:pt>
                <c:pt idx="28">
                  <c:v>53.11721</c:v>
                </c:pt>
                <c:pt idx="29">
                  <c:v>52.243589999999998</c:v>
                </c:pt>
                <c:pt idx="30">
                  <c:v>43.22034</c:v>
                </c:pt>
                <c:pt idx="31">
                  <c:v>50.14085</c:v>
                </c:pt>
                <c:pt idx="32">
                  <c:v>37.037039999999998</c:v>
                </c:pt>
                <c:pt idx="33">
                  <c:v>40.864440000000002</c:v>
                </c:pt>
                <c:pt idx="34">
                  <c:v>42.605629999999998</c:v>
                </c:pt>
                <c:pt idx="35">
                  <c:v>45.3202</c:v>
                </c:pt>
                <c:pt idx="36">
                  <c:v>44.876330000000003</c:v>
                </c:pt>
                <c:pt idx="37">
                  <c:v>42.857140000000001</c:v>
                </c:pt>
                <c:pt idx="38">
                  <c:v>44.959679999999999</c:v>
                </c:pt>
                <c:pt idx="39">
                  <c:v>49.596769999999999</c:v>
                </c:pt>
                <c:pt idx="40">
                  <c:v>51.9084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3A-997F-0547-A303-E8C684B52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4666358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466635887"/>
        <c:crosses val="min"/>
        <c:crossBetween val="between"/>
        <c:majorUnit val="10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1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54564315352697"/>
          <c:y val="5.1144010767160158E-2"/>
          <c:w val="0.69657676348547715"/>
          <c:h val="0.897263346792283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-0.69067487999999999</c:v>
                </c:pt>
                <c:pt idx="1">
                  <c:v>-0.38121448099999999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05-1F41-993C-5532C60D09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44005855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2505-1F41-993C-5532C60D099B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2505-1F41-993C-5532C60D099B}"/>
              </c:ext>
            </c:extLst>
          </c:dPt>
          <c:val>
            <c:numRef>
              <c:f>Sheet1!$A$2:$B$2</c:f>
              <c:numCache>
                <c:formatCode>General</c:formatCode>
                <c:ptCount val="2"/>
                <c:pt idx="0">
                  <c:v>47.598201609999997</c:v>
                </c:pt>
                <c:pt idx="1">
                  <c:v>49.12922906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2505-1F41-993C-5532C60D09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64400585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"/>
          <c:min val="-3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644005855"/>
        <c:crosses val="min"/>
        <c:crossBetween val="between"/>
        <c:majorUnit val="0.5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762536873156341"/>
          <c:y val="5.1144010767160158E-2"/>
          <c:w val="0.78429203539823011"/>
          <c:h val="0.897263346792283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6B5-8748-8023-BD67B326C99C}"/>
              </c:ext>
            </c:extLst>
          </c:dPt>
          <c:val>
            <c:numRef>
              <c:f>Sheet1!$A$1:$G$1</c:f>
              <c:numCache>
                <c:formatCode>General</c:formatCode>
                <c:ptCount val="7"/>
                <c:pt idx="0">
                  <c:v>1.1622741000000001</c:v>
                </c:pt>
                <c:pt idx="1">
                  <c:v>-0.58365752900000001</c:v>
                </c:pt>
                <c:pt idx="2">
                  <c:v>-0.26377859100000001</c:v>
                </c:pt>
                <c:pt idx="3">
                  <c:v>-0.38218000000000002</c:v>
                </c:pt>
                <c:pt idx="4">
                  <c:v>-1.246</c:v>
                </c:pt>
                <c:pt idx="5">
                  <c:v>-2.19713</c:v>
                </c:pt>
                <c:pt idx="6">
                  <c:v>-0.83218000000000003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B5-8748-8023-BD67B326C9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96095055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6B5-8748-8023-BD67B326C99C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96B5-8748-8023-BD67B326C99C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96B5-8748-8023-BD67B326C99C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96B5-8748-8023-BD67B326C99C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96B5-8748-8023-BD67B326C99C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96B5-8748-8023-BD67B326C99C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96B5-8748-8023-BD67B326C99C}"/>
              </c:ext>
            </c:extLst>
          </c:dPt>
          <c:val>
            <c:numRef>
              <c:f>Sheet1!$A$2:$G$2</c:f>
              <c:numCache>
                <c:formatCode>General</c:formatCode>
                <c:ptCount val="7"/>
                <c:pt idx="0">
                  <c:v>51.975372</c:v>
                </c:pt>
                <c:pt idx="1">
                  <c:v>47.27715242</c:v>
                </c:pt>
                <c:pt idx="2">
                  <c:v>49.006197909999997</c:v>
                </c:pt>
                <c:pt idx="3">
                  <c:v>48.315300000000001</c:v>
                </c:pt>
                <c:pt idx="4">
                  <c:v>47.738689999999998</c:v>
                </c:pt>
                <c:pt idx="5">
                  <c:v>42.892159999999997</c:v>
                </c:pt>
                <c:pt idx="6">
                  <c:v>47.439810000000001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96B5-8748-8023-BD67B326C9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79609505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"/>
          <c:min val="-3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796095055"/>
        <c:crosses val="min"/>
        <c:crossBetween val="between"/>
        <c:majorUnit val="0.5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593762337149625"/>
          <c:y val="5.1144010767160158E-2"/>
          <c:w val="0.76904855902092384"/>
          <c:h val="0.897263346792283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DD9-4A46-8C9E-8CF9379A7DD4}"/>
              </c:ext>
            </c:extLst>
          </c:dPt>
          <c:dPt>
            <c:idx val="2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DD9-4A46-8C9E-8CF9379A7DD4}"/>
              </c:ext>
            </c:extLst>
          </c:dPt>
          <c:val>
            <c:numRef>
              <c:f>Sheet1!$A$1:$D$1</c:f>
              <c:numCache>
                <c:formatCode>General</c:formatCode>
                <c:ptCount val="4"/>
                <c:pt idx="0">
                  <c:v>-0.49945448799999997</c:v>
                </c:pt>
                <c:pt idx="1">
                  <c:v>0.30842551600000001</c:v>
                </c:pt>
                <c:pt idx="2">
                  <c:v>0.118956847</c:v>
                </c:pt>
                <c:pt idx="3">
                  <c:v>-1.73603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D9-4A46-8C9E-8CF9379A7D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86690351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2DD9-4A46-8C9E-8CF9379A7DD4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2DD9-4A46-8C9E-8CF9379A7DD4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2DD9-4A46-8C9E-8CF9379A7DD4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2DD9-4A46-8C9E-8CF9379A7DD4}"/>
              </c:ext>
            </c:extLst>
          </c:dPt>
          <c:val>
            <c:numRef>
              <c:f>Sheet1!$A$2:$D$2</c:f>
              <c:numCache>
                <c:formatCode>General</c:formatCode>
                <c:ptCount val="4"/>
                <c:pt idx="0">
                  <c:v>48.400908209999997</c:v>
                </c:pt>
                <c:pt idx="1">
                  <c:v>51.067961169999997</c:v>
                </c:pt>
                <c:pt idx="2">
                  <c:v>48.496732029999997</c:v>
                </c:pt>
                <c:pt idx="3">
                  <c:v>46.446080000000002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2DD9-4A46-8C9E-8CF9379A7D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2866903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"/>
          <c:min val="-3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86690351"/>
        <c:crosses val="min"/>
        <c:crossBetween val="between"/>
        <c:majorUnit val="0.5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957886867680041E-2"/>
          <c:y val="5.2269601100412656E-2"/>
          <c:w val="0.92075753800149518"/>
          <c:h val="0.895002292526364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F6D-0643-A1BC-DD3C77F68CEB}"/>
              </c:ext>
            </c:extLst>
          </c:dPt>
          <c:dPt>
            <c:idx val="3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F6D-0643-A1BC-DD3C77F68CEB}"/>
              </c:ext>
            </c:extLst>
          </c:dPt>
          <c:dPt>
            <c:idx val="5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8F6D-0643-A1BC-DD3C77F68CEB}"/>
              </c:ext>
            </c:extLst>
          </c:dPt>
          <c:val>
            <c:numRef>
              <c:f>Sheet1!$A$1:$I$1</c:f>
              <c:numCache>
                <c:formatCode>General</c:formatCode>
                <c:ptCount val="9"/>
                <c:pt idx="0">
                  <c:v>-0.65468272400000005</c:v>
                </c:pt>
                <c:pt idx="1">
                  <c:v>-1.0101159989999999</c:v>
                </c:pt>
                <c:pt idx="2">
                  <c:v>0.40547585000000003</c:v>
                </c:pt>
                <c:pt idx="3">
                  <c:v>1.1620740000000001</c:v>
                </c:pt>
                <c:pt idx="4">
                  <c:v>-0.36492000000000002</c:v>
                </c:pt>
                <c:pt idx="5">
                  <c:v>1.379621</c:v>
                </c:pt>
                <c:pt idx="6">
                  <c:v>-0.37828000000000001</c:v>
                </c:pt>
                <c:pt idx="7">
                  <c:v>-1.36181</c:v>
                </c:pt>
                <c:pt idx="8">
                  <c:v>-1.76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6D-0643-A1BC-DD3C77F68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18501343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8F6D-0643-A1BC-DD3C77F68CEB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8F6D-0643-A1BC-DD3C77F68CEB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8F6D-0643-A1BC-DD3C77F68CEB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8F6D-0643-A1BC-DD3C77F68CEB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8F6D-0643-A1BC-DD3C77F68CEB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8F6D-0643-A1BC-DD3C77F68CEB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8F6D-0643-A1BC-DD3C77F68CEB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8F6D-0643-A1BC-DD3C77F68CEB}"/>
              </c:ext>
            </c:extLst>
          </c:dPt>
          <c:dPt>
            <c:idx val="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8F6D-0643-A1BC-DD3C77F68CEB}"/>
              </c:ext>
            </c:extLst>
          </c:dPt>
          <c:val>
            <c:numRef>
              <c:f>Sheet1!$A$2:$I$2</c:f>
              <c:numCache>
                <c:formatCode>General</c:formatCode>
                <c:ptCount val="9"/>
                <c:pt idx="0">
                  <c:v>48.311491940000003</c:v>
                </c:pt>
                <c:pt idx="1">
                  <c:v>47.259684360000001</c:v>
                </c:pt>
                <c:pt idx="2">
                  <c:v>51.298701299999998</c:v>
                </c:pt>
                <c:pt idx="3">
                  <c:v>53.53669</c:v>
                </c:pt>
                <c:pt idx="4">
                  <c:v>48.788049999999998</c:v>
                </c:pt>
                <c:pt idx="5">
                  <c:v>53.239440000000002</c:v>
                </c:pt>
                <c:pt idx="6">
                  <c:v>48.714179999999999</c:v>
                </c:pt>
                <c:pt idx="7">
                  <c:v>44.205190000000002</c:v>
                </c:pt>
                <c:pt idx="8">
                  <c:v>45.324480000000001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D-8F6D-0643-A1BC-DD3C77F68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9185013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.4000000000000004"/>
          <c:min val="-2.393047272727272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918501343"/>
        <c:crosses val="min"/>
        <c:crossBetween val="between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853211009174313E-2"/>
          <c:y val="5.1144010767160158E-2"/>
          <c:w val="0.85412844036697244"/>
          <c:h val="0.897263346792283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A8D9A8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0.376650439</c:v>
                </c:pt>
                <c:pt idx="1">
                  <c:v>0.37162819499999999</c:v>
                </c:pt>
                <c:pt idx="2">
                  <c:v>1.9437741369999999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31-984E-8E6D-C035297AC2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43167439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5E31-984E-8E6D-C035297AC2E9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5E31-984E-8E6D-C035297AC2E9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E31-984E-8E6D-C035297AC2E9}"/>
              </c:ext>
            </c:extLst>
          </c:dPt>
          <c:val>
            <c:numRef>
              <c:f>Sheet1!$A$2:$C$2</c:f>
              <c:numCache>
                <c:formatCode>General</c:formatCode>
                <c:ptCount val="3"/>
                <c:pt idx="0">
                  <c:v>50.46052632</c:v>
                </c:pt>
                <c:pt idx="1">
                  <c:v>51.25994695</c:v>
                </c:pt>
                <c:pt idx="2">
                  <c:v>56.37583893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5E31-984E-8E6D-C035297AC2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6431674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.4000000000000004"/>
          <c:min val="-2.388008342022940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643167439"/>
        <c:crosses val="min"/>
        <c:crossBetween val="between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859315589353604E-3"/>
          <c:y val="5.0065876152832672E-2"/>
          <c:w val="0.93954372623574145"/>
          <c:h val="0.8994290733421168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519-2D47-98E8-040B3FA687C8}"/>
              </c:ext>
            </c:extLst>
          </c:dPt>
          <c:dPt>
            <c:idx val="6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519-2D47-98E8-040B3FA687C8}"/>
              </c:ext>
            </c:extLst>
          </c:dPt>
          <c:dPt>
            <c:idx val="7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519-2D47-98E8-040B3FA687C8}"/>
              </c:ext>
            </c:extLst>
          </c:dPt>
          <c:val>
            <c:numRef>
              <c:f>Sheet1!$A$1:$J$1</c:f>
              <c:numCache>
                <c:formatCode>General</c:formatCode>
                <c:ptCount val="10"/>
                <c:pt idx="0">
                  <c:v>-1.4953000000000001</c:v>
                </c:pt>
                <c:pt idx="1">
                  <c:v>-1.3224</c:v>
                </c:pt>
                <c:pt idx="2">
                  <c:v>-0.72699999999999998</c:v>
                </c:pt>
                <c:pt idx="3">
                  <c:v>-0.52429999999999999</c:v>
                </c:pt>
                <c:pt idx="4">
                  <c:v>-0.24729999999999999</c:v>
                </c:pt>
                <c:pt idx="5">
                  <c:v>0.33639999999999998</c:v>
                </c:pt>
                <c:pt idx="6">
                  <c:v>0.4385</c:v>
                </c:pt>
                <c:pt idx="7">
                  <c:v>0.62960000000000005</c:v>
                </c:pt>
                <c:pt idx="8">
                  <c:v>-0.76300000000000001</c:v>
                </c:pt>
                <c:pt idx="9">
                  <c:v>-1.951515462868769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19-2D47-98E8-040B3FA687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04042063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519-2D47-98E8-040B3FA687C8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519-2D47-98E8-040B3FA687C8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519-2D47-98E8-040B3FA687C8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519-2D47-98E8-040B3FA687C8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F519-2D47-98E8-040B3FA687C8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F519-2D47-98E8-040B3FA687C8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F519-2D47-98E8-040B3FA687C8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F519-2D47-98E8-040B3FA687C8}"/>
              </c:ext>
            </c:extLst>
          </c:dPt>
          <c:dPt>
            <c:idx val="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F519-2D47-98E8-040B3FA687C8}"/>
              </c:ext>
            </c:extLst>
          </c:dPt>
          <c:dPt>
            <c:idx val="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F519-2D47-98E8-040B3FA687C8}"/>
              </c:ext>
            </c:extLst>
          </c:dPt>
          <c:val>
            <c:numRef>
              <c:f>Sheet1!$A$2:$J$2</c:f>
              <c:numCache>
                <c:formatCode>General</c:formatCode>
                <c:ptCount val="10"/>
                <c:pt idx="0">
                  <c:v>45.913800000000002</c:v>
                </c:pt>
                <c:pt idx="1">
                  <c:v>46.403500000000001</c:v>
                </c:pt>
                <c:pt idx="2">
                  <c:v>47.4634</c:v>
                </c:pt>
                <c:pt idx="3">
                  <c:v>48.023400000000002</c:v>
                </c:pt>
                <c:pt idx="4">
                  <c:v>49.090899999999998</c:v>
                </c:pt>
                <c:pt idx="5">
                  <c:v>51.873199999999997</c:v>
                </c:pt>
                <c:pt idx="6">
                  <c:v>51.627899999999997</c:v>
                </c:pt>
                <c:pt idx="7">
                  <c:v>51.485100000000003</c:v>
                </c:pt>
                <c:pt idx="8">
                  <c:v>50</c:v>
                </c:pt>
                <c:pt idx="9">
                  <c:v>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F519-2D47-98E8-040B3FA687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6040420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.4000000000000004"/>
          <c:min val="-2.38321546286876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604042063"/>
        <c:crosses val="min"/>
        <c:crossBetween val="between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C9A4EA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01-DD42-C143-8FE2-2526470CC518}"/>
              </c:ext>
            </c:extLst>
          </c:dPt>
          <c:dPt>
            <c:idx val="1"/>
            <c:invertIfNegative val="1"/>
            <c:bubble3D val="0"/>
            <c:spPr>
              <a:solidFill>
                <a:srgbClr val="142057"/>
              </a:solidFill>
            </c:spPr>
            <c:extLst>
              <c:ext xmlns:c16="http://schemas.microsoft.com/office/drawing/2014/chart" uri="{C3380CC4-5D6E-409C-BE32-E72D297353CC}">
                <c16:uniqueId val="{00000003-DD42-C143-8FE2-2526470CC518}"/>
              </c:ext>
            </c:extLst>
          </c:dPt>
          <c:dPt>
            <c:idx val="2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05-DD42-C143-8FE2-2526470CC518}"/>
              </c:ext>
            </c:extLst>
          </c:dPt>
          <c:dPt>
            <c:idx val="3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07-DD42-C143-8FE2-2526470CC518}"/>
              </c:ext>
            </c:extLst>
          </c:dPt>
          <c:dPt>
            <c:idx val="4"/>
            <c:invertIfNegative val="1"/>
            <c:bubble3D val="0"/>
            <c:spPr>
              <a:solidFill>
                <a:srgbClr val="BCD8FF"/>
              </a:solidFill>
            </c:spPr>
            <c:extLst>
              <c:ext xmlns:c16="http://schemas.microsoft.com/office/drawing/2014/chart" uri="{C3380CC4-5D6E-409C-BE32-E72D297353CC}">
                <c16:uniqueId val="{00000009-DD42-C143-8FE2-2526470CC518}"/>
              </c:ext>
            </c:extLst>
          </c:dPt>
          <c:dPt>
            <c:idx val="5"/>
            <c:invertIfNegative val="1"/>
            <c:bubble3D val="0"/>
            <c:spPr>
              <a:solidFill>
                <a:srgbClr val="BCD8FF"/>
              </a:solidFill>
            </c:spPr>
            <c:extLst>
              <c:ext xmlns:c16="http://schemas.microsoft.com/office/drawing/2014/chart" uri="{C3380CC4-5D6E-409C-BE32-E72D297353CC}">
                <c16:uniqueId val="{0000000B-DD42-C143-8FE2-2526470CC518}"/>
              </c:ext>
            </c:extLst>
          </c:dPt>
          <c:dPt>
            <c:idx val="6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0D-DD42-C143-8FE2-2526470CC518}"/>
              </c:ext>
            </c:extLst>
          </c:dPt>
          <c:dPt>
            <c:idx val="7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0F-DD42-C143-8FE2-2526470CC518}"/>
              </c:ext>
            </c:extLst>
          </c:dPt>
          <c:dPt>
            <c:idx val="8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11-DD42-C143-8FE2-2526470CC518}"/>
              </c:ext>
            </c:extLst>
          </c:dPt>
          <c:dPt>
            <c:idx val="9"/>
            <c:invertIfNegative val="1"/>
            <c:bubble3D val="0"/>
            <c:spPr>
              <a:solidFill>
                <a:srgbClr val="5A9EFF"/>
              </a:solidFill>
            </c:spPr>
            <c:extLst>
              <c:ext xmlns:c16="http://schemas.microsoft.com/office/drawing/2014/chart" uri="{C3380CC4-5D6E-409C-BE32-E72D297353CC}">
                <c16:uniqueId val="{00000013-DD42-C143-8FE2-2526470CC518}"/>
              </c:ext>
            </c:extLst>
          </c:dPt>
          <c:cat>
            <c:strRef>
              <c:f>Sheet1!$A$2:$A$11</c:f>
              <c:strCache>
                <c:ptCount val="10"/>
                <c:pt idx="0">
                  <c:v>Member of Finance &amp; Housing committee</c:v>
                </c:pt>
                <c:pt idx="1">
                  <c:v>Other politicians selling same stock (30d)</c:v>
                </c:pt>
                <c:pt idx="2">
                  <c:v>Tier-2 committee–industry overlap</c:v>
                </c:pt>
                <c:pt idx="3">
                  <c:v>Member of Energy &amp; Environment committee</c:v>
                </c:pt>
                <c:pt idx="4">
                  <c:v>Politician's past avg. return (realized)</c:v>
                </c:pt>
                <c:pt idx="5">
                  <c:v>House vs Senate</c:v>
                </c:pt>
                <c:pt idx="6">
                  <c:v>Tier-1 committee–industry overlap</c:v>
                </c:pt>
                <c:pt idx="7">
                  <c:v>Member of Oversight committee</c:v>
                </c:pt>
                <c:pt idx="8">
                  <c:v>Tier-3 committee–industry overlap</c:v>
                </c:pt>
                <c:pt idx="9">
                  <c:v>Company had active lobbying (90d)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3.0760383233428001E-2</c:v>
                </c:pt>
                <c:pt idx="1">
                  <c:v>3.0806133523583412E-2</c:v>
                </c:pt>
                <c:pt idx="2">
                  <c:v>3.1199920922517776E-2</c:v>
                </c:pt>
                <c:pt idx="3">
                  <c:v>3.122120164334774E-2</c:v>
                </c:pt>
                <c:pt idx="4">
                  <c:v>3.1226268038153648E-2</c:v>
                </c:pt>
                <c:pt idx="5">
                  <c:v>3.1334266066551208E-2</c:v>
                </c:pt>
                <c:pt idx="6">
                  <c:v>3.2110989093780518E-2</c:v>
                </c:pt>
                <c:pt idx="7">
                  <c:v>3.7880789488554001E-2</c:v>
                </c:pt>
                <c:pt idx="8">
                  <c:v>4.1656684130430222E-2</c:v>
                </c:pt>
                <c:pt idx="9">
                  <c:v>5.0378464162349701E-2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4-DD42-C143-8FE2-2526470CC5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spPr>
        <a:noFill/>
        <a:ln>
          <a:solidFill>
            <a:schemeClr val="tx1">
              <a:lumMod val="75000"/>
              <a:lumOff val="25000"/>
            </a:schemeClr>
          </a:solidFill>
        </a:ln>
      </c:spPr>
    </c:plotArea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4B4D0-048F-1C4A-B833-37700CAFA7EA}" type="datetimeFigureOut">
              <a:rPr lang="en-IT" smtClean="0"/>
              <a:t>25/03/26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FA227-CFFD-C94E-8259-04E51093CF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25990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18D6-C9B0-44D9-F30A-F9171683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A1705-EAD3-722D-CA41-A1D73EB58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2CCA6-F4ED-A2CE-F826-0F9D8553E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F878A-7602-FA5B-37FA-AF9509E72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FA227-CFFD-C94E-8259-04E51093CF3A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27629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C27D-AB49-2327-D308-8BF8EE19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75543-9772-A007-AE72-E38B6EF02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D365A-BA59-5E53-2624-21B7770A9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45EEB-8348-8C20-1006-3FC96E90E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FA227-CFFD-C94E-8259-04E51093CF3A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86251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machine learning filter recovers a subset of trades with positive risk-adjusted returns, suggesting that informed selection — not blind replication — is where the edge lies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FA227-CFFD-C94E-8259-04E51093CF3A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10264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FA227-CFFD-C94E-8259-04E51093CF3A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9515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80484D9-AACD-1FF9-5A2E-1DAB734697C2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0136537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9" Type="http://schemas.openxmlformats.org/officeDocument/2006/relationships/tags" Target="../tags/tag41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42" Type="http://schemas.openxmlformats.org/officeDocument/2006/relationships/slideLayout" Target="../slideLayouts/slideLayout7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9" Type="http://schemas.openxmlformats.org/officeDocument/2006/relationships/tags" Target="../tags/tag31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40" Type="http://schemas.openxmlformats.org/officeDocument/2006/relationships/tags" Target="../tags/tag42.xml"/><Relationship Id="rId45" Type="http://schemas.openxmlformats.org/officeDocument/2006/relationships/chart" Target="../charts/chart1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31" Type="http://schemas.openxmlformats.org/officeDocument/2006/relationships/tags" Target="../tags/tag33.xml"/><Relationship Id="rId44" Type="http://schemas.openxmlformats.org/officeDocument/2006/relationships/image" Target="../media/image3.emf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43" Type="http://schemas.openxmlformats.org/officeDocument/2006/relationships/oleObject" Target="../embeddings/oleObject2.bin"/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chart" Target="../charts/chart2.xml"/><Relationship Id="rId20" Type="http://schemas.openxmlformats.org/officeDocument/2006/relationships/tags" Target="../tags/tag22.xml"/><Relationship Id="rId41" Type="http://schemas.openxmlformats.org/officeDocument/2006/relationships/tags" Target="../tags/tag43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69.xml"/><Relationship Id="rId21" Type="http://schemas.openxmlformats.org/officeDocument/2006/relationships/tags" Target="../tags/tag64.xml"/><Relationship Id="rId42" Type="http://schemas.openxmlformats.org/officeDocument/2006/relationships/tags" Target="../tags/tag85.xml"/><Relationship Id="rId47" Type="http://schemas.openxmlformats.org/officeDocument/2006/relationships/tags" Target="../tags/tag90.xml"/><Relationship Id="rId63" Type="http://schemas.openxmlformats.org/officeDocument/2006/relationships/tags" Target="../tags/tag106.xml"/><Relationship Id="rId68" Type="http://schemas.openxmlformats.org/officeDocument/2006/relationships/tags" Target="../tags/tag111.xml"/><Relationship Id="rId16" Type="http://schemas.openxmlformats.org/officeDocument/2006/relationships/tags" Target="../tags/tag59.xml"/><Relationship Id="rId11" Type="http://schemas.openxmlformats.org/officeDocument/2006/relationships/tags" Target="../tags/tag54.xml"/><Relationship Id="rId24" Type="http://schemas.openxmlformats.org/officeDocument/2006/relationships/tags" Target="../tags/tag67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40" Type="http://schemas.openxmlformats.org/officeDocument/2006/relationships/tags" Target="../tags/tag83.xml"/><Relationship Id="rId45" Type="http://schemas.openxmlformats.org/officeDocument/2006/relationships/tags" Target="../tags/tag88.xml"/><Relationship Id="rId53" Type="http://schemas.openxmlformats.org/officeDocument/2006/relationships/tags" Target="../tags/tag96.xml"/><Relationship Id="rId58" Type="http://schemas.openxmlformats.org/officeDocument/2006/relationships/tags" Target="../tags/tag101.xml"/><Relationship Id="rId66" Type="http://schemas.openxmlformats.org/officeDocument/2006/relationships/tags" Target="../tags/tag109.xml"/><Relationship Id="rId74" Type="http://schemas.openxmlformats.org/officeDocument/2006/relationships/tags" Target="../tags/tag117.xml"/><Relationship Id="rId79" Type="http://schemas.openxmlformats.org/officeDocument/2006/relationships/chart" Target="../charts/chart3.xml"/><Relationship Id="rId5" Type="http://schemas.openxmlformats.org/officeDocument/2006/relationships/tags" Target="../tags/tag48.xml"/><Relationship Id="rId61" Type="http://schemas.openxmlformats.org/officeDocument/2006/relationships/tags" Target="../tags/tag104.xml"/><Relationship Id="rId19" Type="http://schemas.openxmlformats.org/officeDocument/2006/relationships/tags" Target="../tags/tag6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43" Type="http://schemas.openxmlformats.org/officeDocument/2006/relationships/tags" Target="../tags/tag86.xml"/><Relationship Id="rId48" Type="http://schemas.openxmlformats.org/officeDocument/2006/relationships/tags" Target="../tags/tag91.xml"/><Relationship Id="rId56" Type="http://schemas.openxmlformats.org/officeDocument/2006/relationships/tags" Target="../tags/tag99.xml"/><Relationship Id="rId64" Type="http://schemas.openxmlformats.org/officeDocument/2006/relationships/tags" Target="../tags/tag107.xml"/><Relationship Id="rId69" Type="http://schemas.openxmlformats.org/officeDocument/2006/relationships/tags" Target="../tags/tag112.xml"/><Relationship Id="rId77" Type="http://schemas.openxmlformats.org/officeDocument/2006/relationships/oleObject" Target="../embeddings/oleObject3.bin"/><Relationship Id="rId8" Type="http://schemas.openxmlformats.org/officeDocument/2006/relationships/tags" Target="../tags/tag51.xml"/><Relationship Id="rId51" Type="http://schemas.openxmlformats.org/officeDocument/2006/relationships/tags" Target="../tags/tag94.xml"/><Relationship Id="rId72" Type="http://schemas.openxmlformats.org/officeDocument/2006/relationships/tags" Target="../tags/tag115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Relationship Id="rId46" Type="http://schemas.openxmlformats.org/officeDocument/2006/relationships/tags" Target="../tags/tag89.xml"/><Relationship Id="rId59" Type="http://schemas.openxmlformats.org/officeDocument/2006/relationships/tags" Target="../tags/tag102.xml"/><Relationship Id="rId67" Type="http://schemas.openxmlformats.org/officeDocument/2006/relationships/tags" Target="../tags/tag110.xml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54" Type="http://schemas.openxmlformats.org/officeDocument/2006/relationships/tags" Target="../tags/tag97.xml"/><Relationship Id="rId62" Type="http://schemas.openxmlformats.org/officeDocument/2006/relationships/tags" Target="../tags/tag105.xml"/><Relationship Id="rId70" Type="http://schemas.openxmlformats.org/officeDocument/2006/relationships/tags" Target="../tags/tag113.xml"/><Relationship Id="rId75" Type="http://schemas.openxmlformats.org/officeDocument/2006/relationships/slideLayout" Target="../slideLayouts/slideLayout7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49" Type="http://schemas.openxmlformats.org/officeDocument/2006/relationships/tags" Target="../tags/tag92.xml"/><Relationship Id="rId57" Type="http://schemas.openxmlformats.org/officeDocument/2006/relationships/tags" Target="../tags/tag100.xml"/><Relationship Id="rId10" Type="http://schemas.openxmlformats.org/officeDocument/2006/relationships/tags" Target="../tags/tag53.xml"/><Relationship Id="rId31" Type="http://schemas.openxmlformats.org/officeDocument/2006/relationships/tags" Target="../tags/tag74.xml"/><Relationship Id="rId44" Type="http://schemas.openxmlformats.org/officeDocument/2006/relationships/tags" Target="../tags/tag87.xml"/><Relationship Id="rId52" Type="http://schemas.openxmlformats.org/officeDocument/2006/relationships/tags" Target="../tags/tag95.xml"/><Relationship Id="rId60" Type="http://schemas.openxmlformats.org/officeDocument/2006/relationships/tags" Target="../tags/tag103.xml"/><Relationship Id="rId65" Type="http://schemas.openxmlformats.org/officeDocument/2006/relationships/tags" Target="../tags/tag108.xml"/><Relationship Id="rId73" Type="http://schemas.openxmlformats.org/officeDocument/2006/relationships/tags" Target="../tags/tag116.xml"/><Relationship Id="rId78" Type="http://schemas.openxmlformats.org/officeDocument/2006/relationships/image" Target="../media/image4.emf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9" Type="http://schemas.openxmlformats.org/officeDocument/2006/relationships/tags" Target="../tags/tag82.xml"/><Relationship Id="rId34" Type="http://schemas.openxmlformats.org/officeDocument/2006/relationships/tags" Target="../tags/tag77.xml"/><Relationship Id="rId50" Type="http://schemas.openxmlformats.org/officeDocument/2006/relationships/tags" Target="../tags/tag93.xml"/><Relationship Id="rId55" Type="http://schemas.openxmlformats.org/officeDocument/2006/relationships/tags" Target="../tags/tag98.xml"/><Relationship Id="rId76" Type="http://schemas.openxmlformats.org/officeDocument/2006/relationships/notesSlide" Target="../notesSlides/notesSlide1.xml"/><Relationship Id="rId7" Type="http://schemas.openxmlformats.org/officeDocument/2006/relationships/tags" Target="../tags/tag50.xml"/><Relationship Id="rId71" Type="http://schemas.openxmlformats.org/officeDocument/2006/relationships/tags" Target="../tags/tag114.xml"/><Relationship Id="rId2" Type="http://schemas.openxmlformats.org/officeDocument/2006/relationships/tags" Target="../tags/tag45.xml"/><Relationship Id="rId29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26" Type="http://schemas.openxmlformats.org/officeDocument/2006/relationships/image" Target="../media/image5.emf"/><Relationship Id="rId3" Type="http://schemas.openxmlformats.org/officeDocument/2006/relationships/tags" Target="../tags/tag120.xml"/><Relationship Id="rId21" Type="http://schemas.openxmlformats.org/officeDocument/2006/relationships/tags" Target="../tags/tag138.xml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17" Type="http://schemas.openxmlformats.org/officeDocument/2006/relationships/tags" Target="../tags/tag134.xml"/><Relationship Id="rId25" Type="http://schemas.openxmlformats.org/officeDocument/2006/relationships/oleObject" Target="../embeddings/oleObject4.bin"/><Relationship Id="rId2" Type="http://schemas.openxmlformats.org/officeDocument/2006/relationships/tags" Target="../tags/tag119.xml"/><Relationship Id="rId16" Type="http://schemas.openxmlformats.org/officeDocument/2006/relationships/tags" Target="../tags/tag133.xml"/><Relationship Id="rId20" Type="http://schemas.openxmlformats.org/officeDocument/2006/relationships/tags" Target="../tags/tag137.xml"/><Relationship Id="rId29" Type="http://schemas.openxmlformats.org/officeDocument/2006/relationships/chart" Target="../charts/chart6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24" Type="http://schemas.openxmlformats.org/officeDocument/2006/relationships/notesSlide" Target="../notesSlides/notesSlide2.xml"/><Relationship Id="rId5" Type="http://schemas.openxmlformats.org/officeDocument/2006/relationships/tags" Target="../tags/tag122.xml"/><Relationship Id="rId15" Type="http://schemas.openxmlformats.org/officeDocument/2006/relationships/tags" Target="../tags/tag132.xml"/><Relationship Id="rId23" Type="http://schemas.openxmlformats.org/officeDocument/2006/relationships/slideLayout" Target="../slideLayouts/slideLayout7.xml"/><Relationship Id="rId28" Type="http://schemas.openxmlformats.org/officeDocument/2006/relationships/chart" Target="../charts/chart5.xml"/><Relationship Id="rId10" Type="http://schemas.openxmlformats.org/officeDocument/2006/relationships/tags" Target="../tags/tag127.xml"/><Relationship Id="rId19" Type="http://schemas.openxmlformats.org/officeDocument/2006/relationships/tags" Target="../tags/tag136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tags" Target="../tags/tag131.xml"/><Relationship Id="rId22" Type="http://schemas.openxmlformats.org/officeDocument/2006/relationships/tags" Target="../tags/tag139.xml"/><Relationship Id="rId27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165.xml"/><Relationship Id="rId21" Type="http://schemas.openxmlformats.org/officeDocument/2006/relationships/tags" Target="../tags/tag160.xml"/><Relationship Id="rId34" Type="http://schemas.openxmlformats.org/officeDocument/2006/relationships/tags" Target="../tags/tag173.xml"/><Relationship Id="rId42" Type="http://schemas.openxmlformats.org/officeDocument/2006/relationships/tags" Target="../tags/tag181.xml"/><Relationship Id="rId47" Type="http://schemas.openxmlformats.org/officeDocument/2006/relationships/tags" Target="../tags/tag186.xml"/><Relationship Id="rId50" Type="http://schemas.openxmlformats.org/officeDocument/2006/relationships/tags" Target="../tags/tag189.xml"/><Relationship Id="rId55" Type="http://schemas.openxmlformats.org/officeDocument/2006/relationships/tags" Target="../tags/tag194.xml"/><Relationship Id="rId63" Type="http://schemas.openxmlformats.org/officeDocument/2006/relationships/slideLayout" Target="../slideLayouts/slideLayout7.xml"/><Relationship Id="rId7" Type="http://schemas.openxmlformats.org/officeDocument/2006/relationships/tags" Target="../tags/tag14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9" Type="http://schemas.openxmlformats.org/officeDocument/2006/relationships/tags" Target="../tags/tag168.xml"/><Relationship Id="rId11" Type="http://schemas.openxmlformats.org/officeDocument/2006/relationships/tags" Target="../tags/tag150.xml"/><Relationship Id="rId24" Type="http://schemas.openxmlformats.org/officeDocument/2006/relationships/tags" Target="../tags/tag163.xml"/><Relationship Id="rId32" Type="http://schemas.openxmlformats.org/officeDocument/2006/relationships/tags" Target="../tags/tag171.xml"/><Relationship Id="rId37" Type="http://schemas.openxmlformats.org/officeDocument/2006/relationships/tags" Target="../tags/tag176.xml"/><Relationship Id="rId40" Type="http://schemas.openxmlformats.org/officeDocument/2006/relationships/tags" Target="../tags/tag179.xml"/><Relationship Id="rId45" Type="http://schemas.openxmlformats.org/officeDocument/2006/relationships/tags" Target="../tags/tag184.xml"/><Relationship Id="rId53" Type="http://schemas.openxmlformats.org/officeDocument/2006/relationships/tags" Target="../tags/tag192.xml"/><Relationship Id="rId58" Type="http://schemas.openxmlformats.org/officeDocument/2006/relationships/tags" Target="../tags/tag197.xml"/><Relationship Id="rId66" Type="http://schemas.openxmlformats.org/officeDocument/2006/relationships/chart" Target="../charts/chart7.xml"/><Relationship Id="rId5" Type="http://schemas.openxmlformats.org/officeDocument/2006/relationships/tags" Target="../tags/tag144.xml"/><Relationship Id="rId61" Type="http://schemas.openxmlformats.org/officeDocument/2006/relationships/tags" Target="../tags/tag200.xml"/><Relationship Id="rId19" Type="http://schemas.openxmlformats.org/officeDocument/2006/relationships/tags" Target="../tags/tag158.xml"/><Relationship Id="rId14" Type="http://schemas.openxmlformats.org/officeDocument/2006/relationships/tags" Target="../tags/tag153.xml"/><Relationship Id="rId22" Type="http://schemas.openxmlformats.org/officeDocument/2006/relationships/tags" Target="../tags/tag161.xml"/><Relationship Id="rId27" Type="http://schemas.openxmlformats.org/officeDocument/2006/relationships/tags" Target="../tags/tag166.xml"/><Relationship Id="rId30" Type="http://schemas.openxmlformats.org/officeDocument/2006/relationships/tags" Target="../tags/tag169.xml"/><Relationship Id="rId35" Type="http://schemas.openxmlformats.org/officeDocument/2006/relationships/tags" Target="../tags/tag174.xml"/><Relationship Id="rId43" Type="http://schemas.openxmlformats.org/officeDocument/2006/relationships/tags" Target="../tags/tag182.xml"/><Relationship Id="rId48" Type="http://schemas.openxmlformats.org/officeDocument/2006/relationships/tags" Target="../tags/tag187.xml"/><Relationship Id="rId56" Type="http://schemas.openxmlformats.org/officeDocument/2006/relationships/tags" Target="../tags/tag195.xml"/><Relationship Id="rId64" Type="http://schemas.openxmlformats.org/officeDocument/2006/relationships/oleObject" Target="../embeddings/oleObject5.bin"/><Relationship Id="rId8" Type="http://schemas.openxmlformats.org/officeDocument/2006/relationships/tags" Target="../tags/tag147.xml"/><Relationship Id="rId51" Type="http://schemas.openxmlformats.org/officeDocument/2006/relationships/tags" Target="../tags/tag190.xml"/><Relationship Id="rId3" Type="http://schemas.openxmlformats.org/officeDocument/2006/relationships/tags" Target="../tags/tag142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5" Type="http://schemas.openxmlformats.org/officeDocument/2006/relationships/tags" Target="../tags/tag164.xml"/><Relationship Id="rId33" Type="http://schemas.openxmlformats.org/officeDocument/2006/relationships/tags" Target="../tags/tag172.xml"/><Relationship Id="rId38" Type="http://schemas.openxmlformats.org/officeDocument/2006/relationships/tags" Target="../tags/tag177.xml"/><Relationship Id="rId46" Type="http://schemas.openxmlformats.org/officeDocument/2006/relationships/tags" Target="../tags/tag185.xml"/><Relationship Id="rId59" Type="http://schemas.openxmlformats.org/officeDocument/2006/relationships/tags" Target="../tags/tag198.xml"/><Relationship Id="rId67" Type="http://schemas.openxmlformats.org/officeDocument/2006/relationships/chart" Target="../charts/chart8.xml"/><Relationship Id="rId20" Type="http://schemas.openxmlformats.org/officeDocument/2006/relationships/tags" Target="../tags/tag159.xml"/><Relationship Id="rId41" Type="http://schemas.openxmlformats.org/officeDocument/2006/relationships/tags" Target="../tags/tag180.xml"/><Relationship Id="rId54" Type="http://schemas.openxmlformats.org/officeDocument/2006/relationships/tags" Target="../tags/tag193.xml"/><Relationship Id="rId62" Type="http://schemas.openxmlformats.org/officeDocument/2006/relationships/tags" Target="../tags/tag20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5" Type="http://schemas.openxmlformats.org/officeDocument/2006/relationships/tags" Target="../tags/tag154.xml"/><Relationship Id="rId23" Type="http://schemas.openxmlformats.org/officeDocument/2006/relationships/tags" Target="../tags/tag162.xml"/><Relationship Id="rId28" Type="http://schemas.openxmlformats.org/officeDocument/2006/relationships/tags" Target="../tags/tag167.xml"/><Relationship Id="rId36" Type="http://schemas.openxmlformats.org/officeDocument/2006/relationships/tags" Target="../tags/tag175.xml"/><Relationship Id="rId49" Type="http://schemas.openxmlformats.org/officeDocument/2006/relationships/tags" Target="../tags/tag188.xml"/><Relationship Id="rId57" Type="http://schemas.openxmlformats.org/officeDocument/2006/relationships/tags" Target="../tags/tag196.xml"/><Relationship Id="rId10" Type="http://schemas.openxmlformats.org/officeDocument/2006/relationships/tags" Target="../tags/tag149.xml"/><Relationship Id="rId31" Type="http://schemas.openxmlformats.org/officeDocument/2006/relationships/tags" Target="../tags/tag170.xml"/><Relationship Id="rId44" Type="http://schemas.openxmlformats.org/officeDocument/2006/relationships/tags" Target="../tags/tag183.xml"/><Relationship Id="rId52" Type="http://schemas.openxmlformats.org/officeDocument/2006/relationships/tags" Target="../tags/tag191.xml"/><Relationship Id="rId60" Type="http://schemas.openxmlformats.org/officeDocument/2006/relationships/tags" Target="../tags/tag199.xml"/><Relationship Id="rId65" Type="http://schemas.openxmlformats.org/officeDocument/2006/relationships/image" Target="../media/image6.emf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9" Type="http://schemas.openxmlformats.org/officeDocument/2006/relationships/tags" Target="../tags/tag178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214.xml"/><Relationship Id="rId18" Type="http://schemas.openxmlformats.org/officeDocument/2006/relationships/tags" Target="../tags/tag219.xml"/><Relationship Id="rId26" Type="http://schemas.openxmlformats.org/officeDocument/2006/relationships/tags" Target="../tags/tag227.xml"/><Relationship Id="rId39" Type="http://schemas.openxmlformats.org/officeDocument/2006/relationships/tags" Target="../tags/tag240.xml"/><Relationship Id="rId21" Type="http://schemas.openxmlformats.org/officeDocument/2006/relationships/tags" Target="../tags/tag222.xml"/><Relationship Id="rId34" Type="http://schemas.openxmlformats.org/officeDocument/2006/relationships/tags" Target="../tags/tag235.xml"/><Relationship Id="rId42" Type="http://schemas.openxmlformats.org/officeDocument/2006/relationships/tags" Target="../tags/tag243.xml"/><Relationship Id="rId47" Type="http://schemas.openxmlformats.org/officeDocument/2006/relationships/slideLayout" Target="../slideLayouts/slideLayout7.xml"/><Relationship Id="rId50" Type="http://schemas.openxmlformats.org/officeDocument/2006/relationships/image" Target="../media/image7.emf"/><Relationship Id="rId7" Type="http://schemas.openxmlformats.org/officeDocument/2006/relationships/tags" Target="../tags/tag208.xml"/><Relationship Id="rId2" Type="http://schemas.openxmlformats.org/officeDocument/2006/relationships/tags" Target="../tags/tag203.xml"/><Relationship Id="rId16" Type="http://schemas.openxmlformats.org/officeDocument/2006/relationships/tags" Target="../tags/tag217.xml"/><Relationship Id="rId29" Type="http://schemas.openxmlformats.org/officeDocument/2006/relationships/tags" Target="../tags/tag230.xml"/><Relationship Id="rId11" Type="http://schemas.openxmlformats.org/officeDocument/2006/relationships/tags" Target="../tags/tag212.xml"/><Relationship Id="rId24" Type="http://schemas.openxmlformats.org/officeDocument/2006/relationships/tags" Target="../tags/tag225.xml"/><Relationship Id="rId32" Type="http://schemas.openxmlformats.org/officeDocument/2006/relationships/tags" Target="../tags/tag233.xml"/><Relationship Id="rId37" Type="http://schemas.openxmlformats.org/officeDocument/2006/relationships/tags" Target="../tags/tag238.xml"/><Relationship Id="rId40" Type="http://schemas.openxmlformats.org/officeDocument/2006/relationships/tags" Target="../tags/tag241.xml"/><Relationship Id="rId45" Type="http://schemas.openxmlformats.org/officeDocument/2006/relationships/tags" Target="../tags/tag246.xml"/><Relationship Id="rId5" Type="http://schemas.openxmlformats.org/officeDocument/2006/relationships/tags" Target="../tags/tag206.xml"/><Relationship Id="rId15" Type="http://schemas.openxmlformats.org/officeDocument/2006/relationships/tags" Target="../tags/tag216.xml"/><Relationship Id="rId23" Type="http://schemas.openxmlformats.org/officeDocument/2006/relationships/tags" Target="../tags/tag224.xml"/><Relationship Id="rId28" Type="http://schemas.openxmlformats.org/officeDocument/2006/relationships/tags" Target="../tags/tag229.xml"/><Relationship Id="rId36" Type="http://schemas.openxmlformats.org/officeDocument/2006/relationships/tags" Target="../tags/tag237.xml"/><Relationship Id="rId49" Type="http://schemas.openxmlformats.org/officeDocument/2006/relationships/oleObject" Target="../embeddings/oleObject6.bin"/><Relationship Id="rId10" Type="http://schemas.openxmlformats.org/officeDocument/2006/relationships/tags" Target="../tags/tag211.xml"/><Relationship Id="rId19" Type="http://schemas.openxmlformats.org/officeDocument/2006/relationships/tags" Target="../tags/tag220.xml"/><Relationship Id="rId31" Type="http://schemas.openxmlformats.org/officeDocument/2006/relationships/tags" Target="../tags/tag232.xml"/><Relationship Id="rId44" Type="http://schemas.openxmlformats.org/officeDocument/2006/relationships/tags" Target="../tags/tag245.xml"/><Relationship Id="rId4" Type="http://schemas.openxmlformats.org/officeDocument/2006/relationships/tags" Target="../tags/tag205.xml"/><Relationship Id="rId9" Type="http://schemas.openxmlformats.org/officeDocument/2006/relationships/tags" Target="../tags/tag210.xml"/><Relationship Id="rId14" Type="http://schemas.openxmlformats.org/officeDocument/2006/relationships/tags" Target="../tags/tag215.xml"/><Relationship Id="rId22" Type="http://schemas.openxmlformats.org/officeDocument/2006/relationships/tags" Target="../tags/tag223.xml"/><Relationship Id="rId27" Type="http://schemas.openxmlformats.org/officeDocument/2006/relationships/tags" Target="../tags/tag228.xml"/><Relationship Id="rId30" Type="http://schemas.openxmlformats.org/officeDocument/2006/relationships/tags" Target="../tags/tag231.xml"/><Relationship Id="rId35" Type="http://schemas.openxmlformats.org/officeDocument/2006/relationships/tags" Target="../tags/tag236.xml"/><Relationship Id="rId43" Type="http://schemas.openxmlformats.org/officeDocument/2006/relationships/tags" Target="../tags/tag244.xml"/><Relationship Id="rId48" Type="http://schemas.openxmlformats.org/officeDocument/2006/relationships/notesSlide" Target="../notesSlides/notesSlide3.xml"/><Relationship Id="rId8" Type="http://schemas.openxmlformats.org/officeDocument/2006/relationships/tags" Target="../tags/tag209.xml"/><Relationship Id="rId51" Type="http://schemas.openxmlformats.org/officeDocument/2006/relationships/chart" Target="../charts/chart9.xml"/><Relationship Id="rId3" Type="http://schemas.openxmlformats.org/officeDocument/2006/relationships/tags" Target="../tags/tag204.xml"/><Relationship Id="rId12" Type="http://schemas.openxmlformats.org/officeDocument/2006/relationships/tags" Target="../tags/tag213.xml"/><Relationship Id="rId17" Type="http://schemas.openxmlformats.org/officeDocument/2006/relationships/tags" Target="../tags/tag218.xml"/><Relationship Id="rId25" Type="http://schemas.openxmlformats.org/officeDocument/2006/relationships/tags" Target="../tags/tag226.xml"/><Relationship Id="rId33" Type="http://schemas.openxmlformats.org/officeDocument/2006/relationships/tags" Target="../tags/tag234.xml"/><Relationship Id="rId38" Type="http://schemas.openxmlformats.org/officeDocument/2006/relationships/tags" Target="../tags/tag239.xml"/><Relationship Id="rId46" Type="http://schemas.openxmlformats.org/officeDocument/2006/relationships/tags" Target="../tags/tag247.xml"/><Relationship Id="rId20" Type="http://schemas.openxmlformats.org/officeDocument/2006/relationships/tags" Target="../tags/tag221.xml"/><Relationship Id="rId41" Type="http://schemas.openxmlformats.org/officeDocument/2006/relationships/tags" Target="../tags/tag242.xml"/><Relationship Id="rId1" Type="http://schemas.openxmlformats.org/officeDocument/2006/relationships/tags" Target="../tags/tag202.xml"/><Relationship Id="rId6" Type="http://schemas.openxmlformats.org/officeDocument/2006/relationships/tags" Target="../tags/tag20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unitedstates/congress-legislators" TargetMode="External"/><Relationship Id="rId3" Type="http://schemas.openxmlformats.org/officeDocument/2006/relationships/notesSlide" Target="../notesSlides/notesSlide4.xml"/><Relationship Id="rId7" Type="http://schemas.openxmlformats.org/officeDocument/2006/relationships/hyperlink" Target="https://api.quiverquant.com/beta/bulk/congresstrading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8.xml"/><Relationship Id="rId6" Type="http://schemas.openxmlformats.org/officeDocument/2006/relationships/chart" Target="../charts/chart1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E6EDF3"/>
                </a:solidFill>
              </a:rPr>
              <a:t>Congressional Stock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388BFD"/>
                </a:solidFill>
              </a:rPr>
              <a:t>Do Congress Members Beat the Market?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576072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7D8590"/>
                </a:solidFill>
              </a:rPr>
              <a:t>Machine Learning on STOCK Act Disclosures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99160-ED45-435A-3FAD-60177E879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8DA982-5629-CD10-2303-E7321472794A}"/>
              </a:ext>
            </a:extLst>
          </p:cNvPr>
          <p:cNvSpPr txBox="1"/>
          <p:nvPr/>
        </p:nvSpPr>
        <p:spPr>
          <a:xfrm>
            <a:off x="411480" y="164592"/>
            <a:ext cx="98731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Most Congressional Purchases Underperform the Market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2D18BD-1A8A-0245-F021-ECBFC678A2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4" b="-218"/>
          <a:stretch>
            <a:fillRect/>
          </a:stretch>
        </p:blipFill>
        <p:spPr>
          <a:xfrm>
            <a:off x="411480" y="2201672"/>
            <a:ext cx="8708858" cy="43454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24D8ED-4A34-E9BC-DEA0-85C9456BB5F5}"/>
              </a:ext>
            </a:extLst>
          </p:cNvPr>
          <p:cNvSpPr/>
          <p:nvPr/>
        </p:nvSpPr>
        <p:spPr>
          <a:xfrm>
            <a:off x="9245600" y="2440153"/>
            <a:ext cx="2504440" cy="1081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98B95-6E81-BF60-C82C-2CFC5564330F}"/>
              </a:ext>
            </a:extLst>
          </p:cNvPr>
          <p:cNvSpPr/>
          <p:nvPr/>
        </p:nvSpPr>
        <p:spPr>
          <a:xfrm>
            <a:off x="9245600" y="3792702"/>
            <a:ext cx="2504440" cy="1081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A9078-3C7E-7A88-66F9-90823B27833B}"/>
              </a:ext>
            </a:extLst>
          </p:cNvPr>
          <p:cNvSpPr/>
          <p:nvPr/>
        </p:nvSpPr>
        <p:spPr>
          <a:xfrm>
            <a:off x="9245600" y="5104612"/>
            <a:ext cx="2504440" cy="1081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032E6A-B73D-D661-BF78-A2D0D9B041BA}"/>
              </a:ext>
            </a:extLst>
          </p:cNvPr>
          <p:cNvSpPr txBox="1"/>
          <p:nvPr/>
        </p:nvSpPr>
        <p:spPr>
          <a:xfrm>
            <a:off x="9415247" y="2710709"/>
            <a:ext cx="2165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		15k </a:t>
            </a:r>
          </a:p>
          <a:p>
            <a:r>
              <a:rPr lang="en-GB" dirty="0"/>
              <a:t>T</a:t>
            </a:r>
            <a:r>
              <a:rPr lang="en-IT" dirty="0"/>
              <a:t>otal modeled trades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EAD90-8242-F36B-7675-E899C92165E7}"/>
              </a:ext>
            </a:extLst>
          </p:cNvPr>
          <p:cNvSpPr txBox="1"/>
          <p:nvPr/>
        </p:nvSpPr>
        <p:spPr>
          <a:xfrm>
            <a:off x="9828404" y="4010073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-0,5%</a:t>
            </a:r>
          </a:p>
          <a:p>
            <a:pPr algn="ctr"/>
            <a:r>
              <a:rPr lang="en-GB" dirty="0"/>
              <a:t>Median CAR</a:t>
            </a:r>
            <a:endParaRPr lang="en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D6A921-9F38-27A9-95EF-A140C07908D6}"/>
              </a:ext>
            </a:extLst>
          </p:cNvPr>
          <p:cNvSpPr txBox="1"/>
          <p:nvPr/>
        </p:nvSpPr>
        <p:spPr>
          <a:xfrm>
            <a:off x="10002204" y="5362623"/>
            <a:ext cx="991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48.5%</a:t>
            </a:r>
          </a:p>
          <a:p>
            <a:pPr algn="ctr"/>
            <a:r>
              <a:rPr lang="en-GB" dirty="0"/>
              <a:t>Win rate</a:t>
            </a:r>
            <a:endParaRPr lang="en-I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50EF16-8CEE-8596-9606-7158F33B8FA0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3ED771-76EF-3158-540E-0E7D176B504C}"/>
              </a:ext>
            </a:extLst>
          </p:cNvPr>
          <p:cNvSpPr txBox="1"/>
          <p:nvPr/>
        </p:nvSpPr>
        <p:spPr>
          <a:xfrm>
            <a:off x="608432" y="1127922"/>
            <a:ext cx="111416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solidFill>
                  <a:srgbClr val="000000"/>
                </a:solidFill>
                <a:effectLst/>
              </a:rPr>
              <a:t>Blindly copying congressional trades</a:t>
            </a:r>
            <a:r>
              <a:rPr lang="en-GB" dirty="0">
                <a:solidFill>
                  <a:srgbClr val="000000"/>
                </a:solidFill>
                <a:effectLst/>
              </a:rPr>
              <a:t> based on public disclosure dates </a:t>
            </a:r>
            <a:r>
              <a:rPr lang="en-GB" b="1" dirty="0">
                <a:solidFill>
                  <a:srgbClr val="000000"/>
                </a:solidFill>
                <a:effectLst/>
              </a:rPr>
              <a:t>does not generate alpha</a:t>
            </a:r>
            <a:r>
              <a:rPr lang="en-GB" dirty="0">
                <a:solidFill>
                  <a:srgbClr val="000000"/>
                </a:solidFill>
                <a:effectLst/>
              </a:rPr>
              <a:t>, the average politician underperforms their own risk-adjusted benchmark, making indiscriminate trade replication an inefficient strategy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C06DC2-7DF7-30C6-0887-26DC1AD17B43}"/>
              </a:ext>
            </a:extLst>
          </p:cNvPr>
          <p:cNvSpPr txBox="1"/>
          <p:nvPr/>
        </p:nvSpPr>
        <p:spPr>
          <a:xfrm>
            <a:off x="8317252" y="6562603"/>
            <a:ext cx="3871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H</a:t>
            </a:r>
            <a:r>
              <a:rPr lang="en-IT" sz="1100" dirty="0"/>
              <a:t>olding period is calculated based on disclosed buy and sell date</a:t>
            </a:r>
          </a:p>
        </p:txBody>
      </p:sp>
    </p:spTree>
    <p:extLst>
      <p:ext uri="{BB962C8B-B14F-4D97-AF65-F5344CB8AC3E}">
        <p14:creationId xmlns:p14="http://schemas.microsoft.com/office/powerpoint/2010/main" val="1947129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BCD33-8469-0377-DD41-86D1CC77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B40665-9B33-C68C-A6E6-14B31F27B64C}"/>
              </a:ext>
            </a:extLst>
          </p:cNvPr>
          <p:cNvSpPr txBox="1"/>
          <p:nvPr/>
        </p:nvSpPr>
        <p:spPr>
          <a:xfrm>
            <a:off x="411480" y="164592"/>
            <a:ext cx="117186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How We Measure Performance: Cumulative Abnormal Return (CAR)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297CD7-F00D-3446-93AF-D690DE79C36D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92F614-9AFD-4614-94CE-0C792AD4CE71}"/>
              </a:ext>
            </a:extLst>
          </p:cNvPr>
          <p:cNvSpPr/>
          <p:nvPr/>
        </p:nvSpPr>
        <p:spPr>
          <a:xfrm>
            <a:off x="2552700" y="2175917"/>
            <a:ext cx="3289300" cy="1863304"/>
          </a:xfrm>
          <a:prstGeom prst="rect">
            <a:avLst/>
          </a:prstGeom>
          <a:solidFill>
            <a:srgbClr val="A8D9A8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B34A5B-7CDF-057F-F503-2A3AD3D2621E}"/>
              </a:ext>
            </a:extLst>
          </p:cNvPr>
          <p:cNvSpPr/>
          <p:nvPr/>
        </p:nvSpPr>
        <p:spPr>
          <a:xfrm>
            <a:off x="5853112" y="2175917"/>
            <a:ext cx="3289300" cy="1863304"/>
          </a:xfrm>
          <a:prstGeom prst="rect">
            <a:avLst/>
          </a:prstGeom>
          <a:solidFill>
            <a:srgbClr val="F5A6A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DB3DEE-2AAF-B569-A9E7-78CF64BF9880}"/>
              </a:ext>
            </a:extLst>
          </p:cNvPr>
          <p:cNvSpPr txBox="1"/>
          <p:nvPr/>
        </p:nvSpPr>
        <p:spPr>
          <a:xfrm>
            <a:off x="2541588" y="2532627"/>
            <a:ext cx="3311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2400" dirty="0"/>
              <a:t>Positive CAR (+)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84E3E-BD95-6580-9E0C-7D5A4B4719C1}"/>
              </a:ext>
            </a:extLst>
          </p:cNvPr>
          <p:cNvSpPr txBox="1"/>
          <p:nvPr/>
        </p:nvSpPr>
        <p:spPr>
          <a:xfrm>
            <a:off x="5864224" y="2532627"/>
            <a:ext cx="327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2400" dirty="0"/>
              <a:t>Negative CAR (-)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0A0C68-318F-A99B-FA00-9A311C2BD3B4}"/>
              </a:ext>
            </a:extLst>
          </p:cNvPr>
          <p:cNvSpPr txBox="1"/>
          <p:nvPr/>
        </p:nvSpPr>
        <p:spPr>
          <a:xfrm>
            <a:off x="2552700" y="1714252"/>
            <a:ext cx="658971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T" sz="2400" dirty="0"/>
              <a:t>Cumulative Abnormal Return (CAR)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3D7DB9-FACB-7471-4C5D-3652231C7E5C}"/>
              </a:ext>
            </a:extLst>
          </p:cNvPr>
          <p:cNvSpPr txBox="1"/>
          <p:nvPr/>
        </p:nvSpPr>
        <p:spPr>
          <a:xfrm>
            <a:off x="2952458" y="3097256"/>
            <a:ext cx="24897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Helvetica" pitchFamily="2" charset="0"/>
              </a:rPr>
              <a:t>Compensated MORE for </a:t>
            </a:r>
            <a:br>
              <a:rPr lang="en-GB" sz="1600" dirty="0">
                <a:latin typeface="Helvetica" pitchFamily="2" charset="0"/>
              </a:rPr>
            </a:br>
            <a:r>
              <a:rPr lang="en-GB" sz="1600" dirty="0">
                <a:latin typeface="Helvetica" pitchFamily="2" charset="0"/>
              </a:rPr>
              <a:t>risk than CAPM predicts </a:t>
            </a:r>
          </a:p>
          <a:p>
            <a:pPr algn="ctr"/>
            <a:endParaRPr lang="en-IT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DED9A8-0090-A372-5814-EC968EAF5BB1}"/>
              </a:ext>
            </a:extLst>
          </p:cNvPr>
          <p:cNvSpPr txBox="1"/>
          <p:nvPr/>
        </p:nvSpPr>
        <p:spPr>
          <a:xfrm>
            <a:off x="6035664" y="3097256"/>
            <a:ext cx="29241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Helvetica" pitchFamily="2" charset="0"/>
              </a:rPr>
              <a:t>Compensated LESS, paid </a:t>
            </a:r>
            <a:br>
              <a:rPr lang="en-GB" sz="1600" dirty="0">
                <a:latin typeface="Helvetica" pitchFamily="2" charset="0"/>
              </a:rPr>
            </a:br>
            <a:r>
              <a:rPr lang="en-GB" sz="1600" dirty="0">
                <a:latin typeface="Helvetica" pitchFamily="2" charset="0"/>
              </a:rPr>
              <a:t>for risk that did not materialize</a:t>
            </a:r>
          </a:p>
          <a:p>
            <a:pPr algn="ctr"/>
            <a:endParaRPr lang="en-IT" sz="16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E1D6B8-90EB-3F41-6885-66063AF7BCE0}"/>
              </a:ext>
            </a:extLst>
          </p:cNvPr>
          <p:cNvCxnSpPr>
            <a:cxnSpLocks/>
          </p:cNvCxnSpPr>
          <p:nvPr/>
        </p:nvCxnSpPr>
        <p:spPr>
          <a:xfrm>
            <a:off x="411480" y="5364019"/>
            <a:ext cx="112344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8A03973-ADAC-F1DE-52F9-138F7A5CEBB8}"/>
              </a:ext>
            </a:extLst>
          </p:cNvPr>
          <p:cNvSpPr txBox="1"/>
          <p:nvPr/>
        </p:nvSpPr>
        <p:spPr>
          <a:xfrm>
            <a:off x="447057" y="5597330"/>
            <a:ext cx="3138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Excess</a:t>
            </a:r>
            <a:r>
              <a:rPr lang="it-IT" b="1" dirty="0"/>
              <a:t> </a:t>
            </a:r>
            <a:r>
              <a:rPr lang="it-IT" b="1" dirty="0" err="1"/>
              <a:t>return</a:t>
            </a:r>
            <a:r>
              <a:rPr lang="it-IT" b="1" dirty="0"/>
              <a:t> </a:t>
            </a:r>
            <a:br>
              <a:rPr lang="it-IT" dirty="0"/>
            </a:br>
            <a:r>
              <a:rPr lang="it-IT" dirty="0" err="1"/>
              <a:t>actual</a:t>
            </a:r>
            <a:r>
              <a:rPr lang="it-IT" dirty="0"/>
              <a:t> log </a:t>
            </a:r>
            <a:r>
              <a:rPr lang="it-IT" dirty="0" err="1"/>
              <a:t>return</a:t>
            </a:r>
            <a:r>
              <a:rPr lang="it-IT" dirty="0"/>
              <a:t> – </a:t>
            </a:r>
            <a:br>
              <a:rPr lang="it-IT" dirty="0"/>
            </a:br>
            <a:r>
              <a:rPr lang="it-IT" dirty="0"/>
              <a:t>CAPM-</a:t>
            </a:r>
            <a:r>
              <a:rPr lang="it-IT" dirty="0" err="1"/>
              <a:t>expected</a:t>
            </a:r>
            <a:r>
              <a:rPr lang="it-IT" dirty="0"/>
              <a:t> log </a:t>
            </a:r>
            <a:r>
              <a:rPr lang="it-IT" dirty="0" err="1"/>
              <a:t>return</a:t>
            </a:r>
            <a:endParaRPr lang="en-IT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DF8A45-93AC-4298-5C55-EA18F226665F}"/>
              </a:ext>
            </a:extLst>
          </p:cNvPr>
          <p:cNvSpPr txBox="1"/>
          <p:nvPr/>
        </p:nvSpPr>
        <p:spPr>
          <a:xfrm>
            <a:off x="1636554" y="4372389"/>
            <a:ext cx="8888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For each day, calculate the excess return relative to the stock's expected risk-adjusted return, then accumulate those daily excesses over the window.</a:t>
            </a:r>
            <a:r>
              <a:rPr lang="en-GB" dirty="0"/>
              <a:t>          </a:t>
            </a:r>
          </a:p>
          <a:p>
            <a:pPr algn="ctr"/>
            <a:endParaRPr lang="en-IT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54C19E-5F9E-2976-E43B-92E9C3B2D687}"/>
              </a:ext>
            </a:extLst>
          </p:cNvPr>
          <p:cNvSpPr txBox="1"/>
          <p:nvPr/>
        </p:nvSpPr>
        <p:spPr>
          <a:xfrm>
            <a:off x="8098083" y="5383348"/>
            <a:ext cx="36519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W</a:t>
            </a:r>
            <a:r>
              <a:rPr lang="en-IT" b="1" dirty="0"/>
              <a:t>indow</a:t>
            </a:r>
          </a:p>
          <a:p>
            <a:pPr algn="ctr"/>
            <a:r>
              <a:rPr lang="en-GB" dirty="0"/>
              <a:t>Measured buy-to-sell (if &lt;12 months) or a fixed 12-month window.</a:t>
            </a:r>
          </a:p>
          <a:p>
            <a:pPr algn="ctr"/>
            <a:r>
              <a:rPr lang="en-GB" dirty="0"/>
              <a:t>The clock starts the day AFTER the public filing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AED1A-C223-FE97-682D-833E33D7BBED}"/>
              </a:ext>
            </a:extLst>
          </p:cNvPr>
          <p:cNvSpPr txBox="1"/>
          <p:nvPr/>
        </p:nvSpPr>
        <p:spPr>
          <a:xfrm>
            <a:off x="3965125" y="5406742"/>
            <a:ext cx="36018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CAPM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E[R] = R, + B x (Rm - R,)</a:t>
            </a:r>
          </a:p>
          <a:p>
            <a:pPr algn="ctr"/>
            <a:r>
              <a:rPr lang="en-GB" dirty="0"/>
              <a:t>Beta (B) estimated from 756 trading </a:t>
            </a:r>
            <a:br>
              <a:rPr lang="en-GB" dirty="0"/>
            </a:br>
            <a:r>
              <a:rPr lang="en-GB" dirty="0"/>
              <a:t>days of close prices (min 60 days).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917495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8814-6478-6915-1162-F040E73D6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D9B8E6E0-FDC6-A582-FB90-DF808A7D957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329004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3" imgW="7772400" imgH="10058400" progId="TCLayout.ActiveDocument.1">
                  <p:embed/>
                </p:oleObj>
              </mc:Choice>
              <mc:Fallback>
                <p:oleObj name="think-cell Slide" r:id="rId4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F4D6F0-23D5-5FE0-EC56-7AFC8641FF34}"/>
              </a:ext>
            </a:extLst>
          </p:cNvPr>
          <p:cNvSpPr txBox="1"/>
          <p:nvPr/>
        </p:nvSpPr>
        <p:spPr>
          <a:xfrm>
            <a:off x="411480" y="164592"/>
            <a:ext cx="95285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ysClr val="windowText" lastClr="000000"/>
                </a:solidFill>
              </a:rPr>
              <a:t>Who Consistently Beats — and Loses to — the Market?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8BE01F-02D3-32A3-AFA1-D83706388D00}"/>
              </a:ext>
            </a:extLst>
          </p:cNvPr>
          <p:cNvSpPr txBox="1"/>
          <p:nvPr/>
        </p:nvSpPr>
        <p:spPr>
          <a:xfrm>
            <a:off x="228600" y="6258660"/>
            <a:ext cx="11430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7D8590"/>
                </a:solidFill>
              </a:rPr>
              <a:t>▸  Based on 101 politicians with ≥ 20 disclosed purchases</a:t>
            </a:r>
            <a:endParaRPr lang="it-IT" sz="1200" dirty="0">
              <a:solidFill>
                <a:srgbClr val="7D8590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1200" dirty="0">
                <a:solidFill>
                  <a:srgbClr val="7D8590"/>
                </a:solidFill>
              </a:rPr>
              <a:t>▸  evaluated based on CAR performance, amount of $ traded was not considered</a:t>
            </a:r>
          </a:p>
          <a:p>
            <a:pPr>
              <a:spcBef>
                <a:spcPts val="600"/>
              </a:spcBef>
            </a:pPr>
            <a:endParaRPr sz="1200" dirty="0">
              <a:solidFill>
                <a:srgbClr val="7D8590"/>
              </a:solidFill>
            </a:endParaRPr>
          </a:p>
        </p:txBody>
      </p:sp>
      <p:graphicFrame>
        <p:nvGraphicFramePr>
          <p:cNvPr id="643" name="Chart 642">
            <a:extLst>
              <a:ext uri="{FF2B5EF4-FFF2-40B4-BE49-F238E27FC236}">
                <a16:creationId xmlns:a16="http://schemas.microsoft.com/office/drawing/2014/main" id="{5A0566F3-BB66-65A5-93F9-041EE328735D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048173"/>
              </p:ext>
            </p:extLst>
          </p:nvPr>
        </p:nvGraphicFramePr>
        <p:xfrm>
          <a:off x="296863" y="1403350"/>
          <a:ext cx="5940425" cy="3267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sp>
        <p:nvSpPr>
          <p:cNvPr id="168" name="Text Placeholder 2">
            <a:extLst>
              <a:ext uri="{FF2B5EF4-FFF2-40B4-BE49-F238E27FC236}">
                <a16:creationId xmlns:a16="http://schemas.microsoft.com/office/drawing/2014/main" id="{76D56413-6AED-F0FF-6EB6-A8298FC9C12A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93763" y="4406900"/>
            <a:ext cx="152400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CD917F6A-9B94-4579-A131-076FB87C0AF1}" type="datetime'''J''o''''hn ''F. ''''''R''''ee''''d '''''''' (n=6''''3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John F. Reed  (n=63)</a:t>
            </a:fld>
            <a:endParaRPr lang="en-GB" sz="1000" dirty="0"/>
          </a:p>
        </p:txBody>
      </p:sp>
      <p:sp>
        <p:nvSpPr>
          <p:cNvPr id="170" name="Text Placeholder 2">
            <a:extLst>
              <a:ext uri="{FF2B5EF4-FFF2-40B4-BE49-F238E27FC236}">
                <a16:creationId xmlns:a16="http://schemas.microsoft.com/office/drawing/2014/main" id="{2EA9852C-470D-F890-3B15-E2B76BA0C1B4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395413" y="4406900"/>
            <a:ext cx="152400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50F2983-6F2A-4114-A522-945378DC1E0E}" type="datetime'Bra''dley ''S''''. Sch''''n''e''id''''''e''''r  (n''=''22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Bradley S. Schneider  (n=22)</a:t>
            </a:fld>
            <a:endParaRPr lang="en-GB" sz="1000" dirty="0"/>
          </a:p>
        </p:txBody>
      </p:sp>
      <p:sp>
        <p:nvSpPr>
          <p:cNvPr id="171" name="Text Placeholder 2">
            <a:extLst>
              <a:ext uri="{FF2B5EF4-FFF2-40B4-BE49-F238E27FC236}">
                <a16:creationId xmlns:a16="http://schemas.microsoft.com/office/drawing/2014/main" id="{C5C761C2-C68C-20DC-A95C-9A6B20F4F43D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1897063" y="4406900"/>
            <a:ext cx="1524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A65B294-A1C4-4221-982D-53C14773610F}" type="datetime'Suz''''''an'' K''.'''''''''' Del''b''''''ene  ''(''n''''=21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Suzan K. Delbene  (n=21)</a:t>
            </a:fld>
            <a:endParaRPr lang="en-GB" sz="1000" dirty="0"/>
          </a:p>
        </p:txBody>
      </p:sp>
      <p:sp>
        <p:nvSpPr>
          <p:cNvPr id="187" name="Text Placeholder 2">
            <a:extLst>
              <a:ext uri="{FF2B5EF4-FFF2-40B4-BE49-F238E27FC236}">
                <a16:creationId xmlns:a16="http://schemas.microsoft.com/office/drawing/2014/main" id="{DD33ECF5-7BC4-6461-77B2-30498F4336A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398713" y="4406900"/>
            <a:ext cx="152400" cy="112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62E4998-5C9E-4A8C-8A67-A6A278BB5046}" type="datetime'''''D''''''''''a''vi''d P. ''''Joyce'' '''''' ''''(n''=51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David P. Joyce  (n=51)</a:t>
            </a:fld>
            <a:endParaRPr lang="en-GB" sz="1000" dirty="0"/>
          </a:p>
        </p:txBody>
      </p:sp>
      <p:sp>
        <p:nvSpPr>
          <p:cNvPr id="188" name="Text Placeholder 2">
            <a:extLst>
              <a:ext uri="{FF2B5EF4-FFF2-40B4-BE49-F238E27FC236}">
                <a16:creationId xmlns:a16="http://schemas.microsoft.com/office/drawing/2014/main" id="{96C0008B-E9EE-7083-C154-8C0BFB47F42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900363" y="4406900"/>
            <a:ext cx="152400" cy="114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86E7BB6B-7F07-4FDE-B22A-7B9F577DF85C}" type="datetime'Jo''''h''''n'' ''''Boo''''''z''man'' '''''''' (n''=45'')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John Boozman  (n=45)</a:t>
            </a:fld>
            <a:endParaRPr lang="en-GB" sz="1000" dirty="0"/>
          </a:p>
        </p:txBody>
      </p:sp>
      <p:sp>
        <p:nvSpPr>
          <p:cNvPr id="189" name="Text Placeholder 2">
            <a:extLst>
              <a:ext uri="{FF2B5EF4-FFF2-40B4-BE49-F238E27FC236}">
                <a16:creationId xmlns:a16="http://schemas.microsoft.com/office/drawing/2014/main" id="{8B132E03-265B-3151-C376-66EDD56580FE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3403600" y="4406900"/>
            <a:ext cx="15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C786F809-AE8C-4C92-B9B5-B14BEF3A98B3}" type="datetime'''Vic''t''''o''ri''''a Spar''tz'''' '' (n''=2''0'''')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Victoria Spartz  (n=20)</a:t>
            </a:fld>
            <a:endParaRPr lang="en-GB" sz="1000" dirty="0"/>
          </a:p>
        </p:txBody>
      </p:sp>
      <p:sp>
        <p:nvSpPr>
          <p:cNvPr id="190" name="Text Placeholder 2">
            <a:extLst>
              <a:ext uri="{FF2B5EF4-FFF2-40B4-BE49-F238E27FC236}">
                <a16:creationId xmlns:a16="http://schemas.microsoft.com/office/drawing/2014/main" id="{94F1D7BA-5268-1B38-9593-08A459C90E3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3905250" y="4406900"/>
            <a:ext cx="152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E2B4B7C-DAD2-488A-A310-A7BD93C5DC5B}" type="datetime'''''''Don''ald ''Stern''''off ''''Beye''r Jr  ''(n''=299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Donald Sternoff Beyer Jr  (n=299)</a:t>
            </a:fld>
            <a:endParaRPr lang="en-GB" sz="1000" dirty="0"/>
          </a:p>
        </p:txBody>
      </p:sp>
      <p:sp>
        <p:nvSpPr>
          <p:cNvPr id="191" name="Text Placeholder 2">
            <a:extLst>
              <a:ext uri="{FF2B5EF4-FFF2-40B4-BE49-F238E27FC236}">
                <a16:creationId xmlns:a16="http://schemas.microsoft.com/office/drawing/2014/main" id="{35577342-70D4-EDB7-1641-2138AED57FFD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4406900" y="4406900"/>
            <a:ext cx="1524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C7D21CF-B621-4564-B29D-223C4E5D475A}" type="datetime'''Mo B''''roo''''ks''''''''  (n''=2''4'''''''''')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Mo Brooks  (n=24)</a:t>
            </a:fld>
            <a:endParaRPr lang="en-GB" sz="1000" dirty="0"/>
          </a:p>
        </p:txBody>
      </p:sp>
      <p:sp>
        <p:nvSpPr>
          <p:cNvPr id="192" name="Text Placeholder 2">
            <a:extLst>
              <a:ext uri="{FF2B5EF4-FFF2-40B4-BE49-F238E27FC236}">
                <a16:creationId xmlns:a16="http://schemas.microsoft.com/office/drawing/2014/main" id="{2A713FF5-7623-F219-29F6-8F729E61240D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4908550" y="4406900"/>
            <a:ext cx="152400" cy="102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3F38F2D3-34C9-406B-8648-F6EB35A4D6BC}" type="datetime'''D''a''n'' S''u''''''''''l''livan  ''(n''''''''''=35''''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Dan Sullivan  (n=35)</a:t>
            </a:fld>
            <a:endParaRPr lang="en-GB" sz="1000" dirty="0"/>
          </a:p>
        </p:txBody>
      </p:sp>
      <p:sp>
        <p:nvSpPr>
          <p:cNvPr id="193" name="Text Placeholder 2">
            <a:extLst>
              <a:ext uri="{FF2B5EF4-FFF2-40B4-BE49-F238E27FC236}">
                <a16:creationId xmlns:a16="http://schemas.microsoft.com/office/drawing/2014/main" id="{FAAFB460-C918-1858-AC8B-C7F9E1C8D7D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5410200" y="4406900"/>
            <a:ext cx="152400" cy="179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A6F66A65-1E35-466A-A88E-AF994D5A996C}" type="datetime'Debbie'' Wasser''ma''''''n Sc''hu''ltz  (n=''20''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Debbie Wasserman Schultz  (n=20)</a:t>
            </a:fld>
            <a:endParaRPr lang="en-GB" sz="1000" dirty="0"/>
          </a:p>
        </p:txBody>
      </p:sp>
      <p:sp useBgFill="1">
        <p:nvSpPr>
          <p:cNvPr id="636" name="Text Placeholder 2">
            <a:extLst>
              <a:ext uri="{FF2B5EF4-FFF2-40B4-BE49-F238E27FC236}">
                <a16:creationId xmlns:a16="http://schemas.microsoft.com/office/drawing/2014/main" id="{C97FC16F-F198-88CE-5B9C-22F3F7DBCCE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900113" y="3970338"/>
            <a:ext cx="1412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FCFDD52-6445-49A0-AB3F-D9022ADE2C49}" type="datetime'''''''''''''''''''''''''''''''''''''''''''''2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n-GB" sz="1400" dirty="0"/>
          </a:p>
        </p:txBody>
      </p:sp>
      <p:sp useBgFill="1">
        <p:nvSpPr>
          <p:cNvPr id="638" name="Text Placeholder 2">
            <a:extLst>
              <a:ext uri="{FF2B5EF4-FFF2-40B4-BE49-F238E27FC236}">
                <a16:creationId xmlns:a16="http://schemas.microsoft.com/office/drawing/2014/main" id="{0BBB1787-4004-1E40-DF9E-03EDC96169C5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1401763" y="3924300"/>
            <a:ext cx="1412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B7B6170-CFB6-4993-8ED6-C7B3CAA1D81C}" type="datetime'''''''''''''''''''2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n-GB" sz="1400" dirty="0"/>
          </a:p>
        </p:txBody>
      </p:sp>
      <p:sp useBgFill="1">
        <p:nvSpPr>
          <p:cNvPr id="639" name="Text Placeholder 2">
            <a:extLst>
              <a:ext uri="{FF2B5EF4-FFF2-40B4-BE49-F238E27FC236}">
                <a16:creationId xmlns:a16="http://schemas.microsoft.com/office/drawing/2014/main" id="{85962246-A930-9A93-9078-55FBB9A5F58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3409950" y="3754438"/>
            <a:ext cx="1412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C1521F1-06E0-40A2-96B3-05797A0500DF}" type="datetime'''''''''''''''''''''''''''''''''''''''''4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en-GB" sz="1400" dirty="0"/>
          </a:p>
        </p:txBody>
      </p:sp>
      <p:sp useBgFill="1">
        <p:nvSpPr>
          <p:cNvPr id="640" name="Text Placeholder 2">
            <a:extLst>
              <a:ext uri="{FF2B5EF4-FFF2-40B4-BE49-F238E27FC236}">
                <a16:creationId xmlns:a16="http://schemas.microsoft.com/office/drawing/2014/main" id="{FBE55901-1626-4C5F-729F-14CAE0F9C4A1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3911600" y="3717925"/>
            <a:ext cx="1412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3620C12-694C-4828-B11E-E0D51FE874B7}" type="datetime'''''''''''''''''''''5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endParaRPr lang="en-GB" sz="1400" dirty="0"/>
          </a:p>
        </p:txBody>
      </p:sp>
      <p:sp useBgFill="1">
        <p:nvSpPr>
          <p:cNvPr id="641" name="Text Placeholder 2">
            <a:extLst>
              <a:ext uri="{FF2B5EF4-FFF2-40B4-BE49-F238E27FC236}">
                <a16:creationId xmlns:a16="http://schemas.microsoft.com/office/drawing/2014/main" id="{6B3D08E5-CDC8-94AE-D862-D2ED8F9F7919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4413250" y="3708400"/>
            <a:ext cx="1412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636E93A-1355-45BA-B940-D50247F8FA92}" type="datetime'''''''5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endParaRPr lang="en-GB" sz="1400" dirty="0"/>
          </a:p>
        </p:txBody>
      </p:sp>
      <p:sp useBgFill="1">
        <p:nvSpPr>
          <p:cNvPr id="642" name="Text Placeholder 2">
            <a:extLst>
              <a:ext uri="{FF2B5EF4-FFF2-40B4-BE49-F238E27FC236}">
                <a16:creationId xmlns:a16="http://schemas.microsoft.com/office/drawing/2014/main" id="{29EA5259-33B5-0AC0-240E-1D91640C150C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5370513" y="1544638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42519C1-0AE9-469E-9517-251D36346F69}" type="datetime'''''''''2''''9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29</a:t>
            </a:fld>
            <a:endParaRPr lang="en-GB" sz="140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EEDE09FF-B611-2754-E36F-F4B380F5BA08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36100" y="6456363"/>
            <a:ext cx="250825" cy="187325"/>
          </a:xfrm>
          <a:prstGeom prst="rect">
            <a:avLst/>
          </a:prstGeom>
          <a:solidFill>
            <a:srgbClr val="A8D9A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5184A13A-2A9F-F069-24AD-11619C32F6FD}"/>
              </a:ext>
            </a:extLst>
          </p:cNvPr>
          <p:cNvCxnSpPr/>
          <p:nvPr>
            <p:custDataLst>
              <p:tags r:id="rId20"/>
            </p:custDataLst>
          </p:nvPr>
        </p:nvCxnSpPr>
        <p:spPr bwMode="gray">
          <a:xfrm>
            <a:off x="10687050" y="6550025"/>
            <a:ext cx="330200" cy="0"/>
          </a:xfrm>
          <a:prstGeom prst="line">
            <a:avLst/>
          </a:prstGeom>
          <a:ln w="19050" cap="rnd" cmpd="sng" algn="ctr">
            <a:solidFill>
              <a:srgbClr val="F088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4" name="Oval 403">
            <a:extLst>
              <a:ext uri="{FF2B5EF4-FFF2-40B4-BE49-F238E27FC236}">
                <a16:creationId xmlns:a16="http://schemas.microsoft.com/office/drawing/2014/main" id="{7E97B68C-A29F-3995-AA93-7FAB38F46C8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10807700" y="6505575"/>
            <a:ext cx="88900" cy="88900"/>
          </a:xfrm>
          <a:prstGeom prst="ellipse">
            <a:avLst/>
          </a:prstGeom>
          <a:solidFill>
            <a:srgbClr val="BF504D"/>
          </a:solidFill>
          <a:ln w="9525" cap="flat" cmpd="sng" algn="ctr">
            <a:solidFill>
              <a:srgbClr val="BF50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Text Placeholder 2">
            <a:extLst>
              <a:ext uri="{FF2B5EF4-FFF2-40B4-BE49-F238E27FC236}">
                <a16:creationId xmlns:a16="http://schemas.microsoft.com/office/drawing/2014/main" id="{2D32C2A1-1A69-BDED-63D5-2C0D86231C6F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9737725" y="6451600"/>
            <a:ext cx="838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Median Car</a:t>
            </a:r>
            <a:endParaRPr lang="en-GB" sz="1400" dirty="0"/>
          </a:p>
        </p:txBody>
      </p:sp>
      <p:sp>
        <p:nvSpPr>
          <p:cNvPr id="173" name="Text Placeholder 2">
            <a:extLst>
              <a:ext uri="{FF2B5EF4-FFF2-40B4-BE49-F238E27FC236}">
                <a16:creationId xmlns:a16="http://schemas.microsoft.com/office/drawing/2014/main" id="{41AC2A51-6B1A-47AA-C62F-A74C93D0447D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11077575" y="6451600"/>
            <a:ext cx="5810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Hit Rate</a:t>
            </a:r>
            <a:endParaRPr lang="en-GB" sz="1400" dirty="0"/>
          </a:p>
        </p:txBody>
      </p: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81CDCB65-3523-1ECB-26B4-596FF2F98763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6657975" y="4376738"/>
            <a:ext cx="50006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DC8D9EEA-99EF-29D5-158B-5DF3FFB1C8C9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657975" y="3049588"/>
            <a:ext cx="50006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58" name="Chart 657">
            <a:extLst>
              <a:ext uri="{FF2B5EF4-FFF2-40B4-BE49-F238E27FC236}">
                <a16:creationId xmlns:a16="http://schemas.microsoft.com/office/drawing/2014/main" id="{001E0933-2AB4-2720-CBC1-BE66CA6032C6}"/>
              </a:ext>
            </a:extLst>
          </p:cNvPr>
          <p:cNvGraphicFramePr/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733375119"/>
              </p:ext>
            </p:extLst>
          </p:nvPr>
        </p:nvGraphicFramePr>
        <p:xfrm>
          <a:off x="6189663" y="1416050"/>
          <a:ext cx="5969000" cy="3267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6"/>
          </a:graphicData>
        </a:graphic>
      </p:graphicFrame>
      <p:sp>
        <p:nvSpPr>
          <p:cNvPr id="532" name="Text Placeholder 2">
            <a:extLst>
              <a:ext uri="{FF2B5EF4-FFF2-40B4-BE49-F238E27FC236}">
                <a16:creationId xmlns:a16="http://schemas.microsoft.com/office/drawing/2014/main" id="{305D6289-848B-E053-03A4-F76845C55347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6831013" y="4521200"/>
            <a:ext cx="152400" cy="101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1945A425-4C7B-4B0C-83B8-A347A6436351}" type="datetime'A''us''''ti''''n ''S''''''''''c''o''t''t''  (''''n=''35''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Austin Scott  (n=35)</a:t>
            </a:fld>
            <a:endParaRPr lang="en-GB" sz="1000" dirty="0"/>
          </a:p>
        </p:txBody>
      </p:sp>
      <p:sp>
        <p:nvSpPr>
          <p:cNvPr id="533" name="Text Placeholder 2">
            <a:extLst>
              <a:ext uri="{FF2B5EF4-FFF2-40B4-BE49-F238E27FC236}">
                <a16:creationId xmlns:a16="http://schemas.microsoft.com/office/drawing/2014/main" id="{B11A9CC8-1A44-47FF-922D-47EF56AA5A75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7331075" y="4521200"/>
            <a:ext cx="152400" cy="185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9DD51E81-CE77-4880-8803-5B654B7F6300}" type="datetime'Mr''s''''.'' Marjor''i''e T''''''aylor Gree''ne  (n''''=22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Mrs. Marjorie Taylor Greene  (n=22)</a:t>
            </a:fld>
            <a:endParaRPr lang="en-GB" sz="1000" dirty="0"/>
          </a:p>
        </p:txBody>
      </p:sp>
      <p:sp>
        <p:nvSpPr>
          <p:cNvPr id="534" name="Text Placeholder 2">
            <a:extLst>
              <a:ext uri="{FF2B5EF4-FFF2-40B4-BE49-F238E27FC236}">
                <a16:creationId xmlns:a16="http://schemas.microsoft.com/office/drawing/2014/main" id="{A08F074D-940E-C081-1DE3-2B59989DBD0A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7831138" y="4521200"/>
            <a:ext cx="152400" cy="130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32041E73-6637-4DBF-AE30-EEC9975B0524}" type="datetime'''To''m ''Mali''n''ow''sk''i '''' ''(''n=''''10''4''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Tom Malinowski  (n=104)</a:t>
            </a:fld>
            <a:endParaRPr lang="en-GB" sz="1000" dirty="0"/>
          </a:p>
        </p:txBody>
      </p:sp>
      <p:sp>
        <p:nvSpPr>
          <p:cNvPr id="535" name="Text Placeholder 2">
            <a:extLst>
              <a:ext uri="{FF2B5EF4-FFF2-40B4-BE49-F238E27FC236}">
                <a16:creationId xmlns:a16="http://schemas.microsoft.com/office/drawing/2014/main" id="{D0AD7394-AEDE-77C3-26B0-E20473E1CFBE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8331200" y="4521200"/>
            <a:ext cx="152400" cy="122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E4414BB-8357-48D3-9ADF-5AD13E366BA1}" type="datetime'''''C''''''''''''''.'' Sco''tt Fr''a''nkli''n '' ''''(n=26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C. Scott Franklin  (n=26)</a:t>
            </a:fld>
            <a:endParaRPr lang="en-GB" sz="1000" dirty="0"/>
          </a:p>
        </p:txBody>
      </p:sp>
      <p:sp>
        <p:nvSpPr>
          <p:cNvPr id="536" name="Text Placeholder 2">
            <a:extLst>
              <a:ext uri="{FF2B5EF4-FFF2-40B4-BE49-F238E27FC236}">
                <a16:creationId xmlns:a16="http://schemas.microsoft.com/office/drawing/2014/main" id="{8C354CDF-1965-76A7-CC61-1442E6F1F2F8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8831263" y="4521200"/>
            <a:ext cx="15240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35986D65-2A8D-4DF5-97B5-DE41DFC4EDB2}" type="datetime'''J''a''''''mes'' C''om''''e''r  ''''''(n=''''''''2''''7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James Comer  (n=27)</a:t>
            </a:fld>
            <a:endParaRPr lang="en-GB" sz="1000" dirty="0"/>
          </a:p>
        </p:txBody>
      </p:sp>
      <p:sp>
        <p:nvSpPr>
          <p:cNvPr id="537" name="Text Placeholder 2">
            <a:extLst>
              <a:ext uri="{FF2B5EF4-FFF2-40B4-BE49-F238E27FC236}">
                <a16:creationId xmlns:a16="http://schemas.microsoft.com/office/drawing/2014/main" id="{1C4841CF-F0F4-4A62-6871-4D07B6622D14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9331325" y="4521200"/>
            <a:ext cx="1524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BB84590A-7790-4023-B8FF-FC54D8C49329}" type="datetime'''Mi''''cha''e''l'' Patric''''k'''''''' G''ue''st''  (n''=43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Michael Patrick Guest  (n=43)</a:t>
            </a:fld>
            <a:endParaRPr lang="en-GB" sz="1000" dirty="0"/>
          </a:p>
        </p:txBody>
      </p:sp>
      <p:sp>
        <p:nvSpPr>
          <p:cNvPr id="538" name="Text Placeholder 2">
            <a:extLst>
              <a:ext uri="{FF2B5EF4-FFF2-40B4-BE49-F238E27FC236}">
                <a16:creationId xmlns:a16="http://schemas.microsoft.com/office/drawing/2014/main" id="{06CEC13F-09EC-4F7F-0589-3AF4F193226F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9831388" y="4521200"/>
            <a:ext cx="152400" cy="137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2A83AFC-E0B1-45C2-8303-A1B5D1065954}" type="datetime'C''ar''o''''l ''D''''ev''''i''ne M''i''ll''er '' (''''n=55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Carol Devine Miller  (n=55)</a:t>
            </a:fld>
            <a:endParaRPr lang="en-GB" sz="1000" dirty="0"/>
          </a:p>
        </p:txBody>
      </p:sp>
      <p:sp>
        <p:nvSpPr>
          <p:cNvPr id="539" name="Text Placeholder 2">
            <a:extLst>
              <a:ext uri="{FF2B5EF4-FFF2-40B4-BE49-F238E27FC236}">
                <a16:creationId xmlns:a16="http://schemas.microsoft.com/office/drawing/2014/main" id="{E8F38BAD-0343-DE8D-6268-949A3C169808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10331450" y="4521200"/>
            <a:ext cx="1524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AAD301EE-B733-4930-97D7-EA1E24B35166}" type="datetime'Da''nie''''''l'''' G''o''l''dman'' '''''' (''n=''3''''07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Daniel Goldman  (n=307)</a:t>
            </a:fld>
            <a:endParaRPr lang="en-GB" sz="1000" dirty="0"/>
          </a:p>
        </p:txBody>
      </p:sp>
      <p:sp>
        <p:nvSpPr>
          <p:cNvPr id="540" name="Text Placeholder 2">
            <a:extLst>
              <a:ext uri="{FF2B5EF4-FFF2-40B4-BE49-F238E27FC236}">
                <a16:creationId xmlns:a16="http://schemas.microsoft.com/office/drawing/2014/main" id="{9F4D8218-AA45-6044-0549-119531778047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auto">
          <a:xfrm>
            <a:off x="10831513" y="4521200"/>
            <a:ext cx="15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93FEA627-6BD2-45BC-9CAC-6306B4E6027C}" type="datetime'Da''''niel Me''u''''''s''e''''''r''  (n=''''''26''''''''''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Daniel Meuser  (n=26)</a:t>
            </a:fld>
            <a:endParaRPr lang="en-GB" sz="1000" dirty="0"/>
          </a:p>
        </p:txBody>
      </p:sp>
      <p:sp>
        <p:nvSpPr>
          <p:cNvPr id="541" name="Text Placeholder 2">
            <a:extLst>
              <a:ext uri="{FF2B5EF4-FFF2-40B4-BE49-F238E27FC236}">
                <a16:creationId xmlns:a16="http://schemas.microsoft.com/office/drawing/2014/main" id="{B3734F14-CD30-41C7-1A68-87E2CCB97226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11331575" y="4521200"/>
            <a:ext cx="152400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21D9A0A-62CC-4EFA-9F79-13C5E99B2610}" type="datetime'''''Pa''tri''ck'''' ''''Fall''o''n '' ''(n''=5''7'')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Patrick Fallon  (n=57)</a:t>
            </a:fld>
            <a:endParaRPr lang="en-GB" sz="1000" dirty="0"/>
          </a:p>
        </p:txBody>
      </p:sp>
      <p:sp useBgFill="1">
        <p:nvSpPr>
          <p:cNvPr id="644" name="Text Placeholder 2">
            <a:extLst>
              <a:ext uri="{FF2B5EF4-FFF2-40B4-BE49-F238E27FC236}">
                <a16:creationId xmlns:a16="http://schemas.microsoft.com/office/drawing/2014/main" id="{7CBD3462-0A7C-759D-E09F-09F4A0D055DA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6764338" y="4265613"/>
            <a:ext cx="28575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F0AE8A9-DF60-4683-8C75-A8D50BC13407}" type="datetime'-''''''1''''9''''''''''''''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-19</a:t>
            </a:fld>
            <a:endParaRPr lang="en-GB" sz="1400" dirty="0"/>
          </a:p>
        </p:txBody>
      </p:sp>
      <p:sp useBgFill="1">
        <p:nvSpPr>
          <p:cNvPr id="647" name="Text Placeholder 2">
            <a:extLst>
              <a:ext uri="{FF2B5EF4-FFF2-40B4-BE49-F238E27FC236}">
                <a16:creationId xmlns:a16="http://schemas.microsoft.com/office/drawing/2014/main" id="{06B75F25-A627-D1D7-184D-7A68F9F577CD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9310688" y="2595563"/>
            <a:ext cx="195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06AAE85-7252-4569-B193-DD84C9A84D7F}" type="datetime'-''''''''''''''''''''''''''''''''6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-6</a:t>
            </a:fld>
            <a:endParaRPr lang="en-GB" sz="1400" dirty="0"/>
          </a:p>
        </p:txBody>
      </p:sp>
      <p:sp useBgFill="1">
        <p:nvSpPr>
          <p:cNvPr id="649" name="Text Placeholder 2">
            <a:extLst>
              <a:ext uri="{FF2B5EF4-FFF2-40B4-BE49-F238E27FC236}">
                <a16:creationId xmlns:a16="http://schemas.microsoft.com/office/drawing/2014/main" id="{13E963F4-2EC1-747A-149D-CA818AEDDA37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10310813" y="2444750"/>
            <a:ext cx="195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259ACF3-84FE-44FB-88D9-9BAD6BB4100E}" type="datetime'''''''-5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-5</a:t>
            </a:fld>
            <a:endParaRPr lang="en-GB" sz="1400" dirty="0"/>
          </a:p>
        </p:txBody>
      </p:sp>
      <p:sp useBgFill="1">
        <p:nvSpPr>
          <p:cNvPr id="650" name="Text Placeholder 2">
            <a:extLst>
              <a:ext uri="{FF2B5EF4-FFF2-40B4-BE49-F238E27FC236}">
                <a16:creationId xmlns:a16="http://schemas.microsoft.com/office/drawing/2014/main" id="{D733F7ED-9BA9-293B-1970-EFA6DEEB0316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10810875" y="2122488"/>
            <a:ext cx="195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DFA4397-7B44-4B8D-958D-9C8D88DFE30D}" type="datetime'''''-''''''''''''''''''''''''''3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-3</a:t>
            </a:fld>
            <a:endParaRPr lang="en-GB" sz="1400" dirty="0"/>
          </a:p>
        </p:txBody>
      </p:sp>
      <p:sp useBgFill="1">
        <p:nvSpPr>
          <p:cNvPr id="651" name="Text Placeholder 2">
            <a:extLst>
              <a:ext uri="{FF2B5EF4-FFF2-40B4-BE49-F238E27FC236}">
                <a16:creationId xmlns:a16="http://schemas.microsoft.com/office/drawing/2014/main" id="{4703A27B-6C2A-FECD-147A-0AE63FB31EED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11310938" y="1911350"/>
            <a:ext cx="195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010DDCC-78E3-4C69-B0AC-241FFBA6DF70}" type="datetime'''-''''''''''''''''''''''''1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</a:t>
            </a:fld>
            <a:endParaRPr lang="en-GB" sz="140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D38478A8-3FB5-A1C9-3D14-E1923C3CC338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D16E9B3F-0781-B3C3-DBC1-4F5B93356A6E}"/>
              </a:ext>
            </a:extLst>
          </p:cNvPr>
          <p:cNvSpPr txBox="1"/>
          <p:nvPr/>
        </p:nvSpPr>
        <p:spPr>
          <a:xfrm>
            <a:off x="677334" y="1253027"/>
            <a:ext cx="509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Top 10 winners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FAC3AC97-1D00-DA4A-1C0E-40612E1EEC16}"/>
              </a:ext>
            </a:extLst>
          </p:cNvPr>
          <p:cNvSpPr txBox="1"/>
          <p:nvPr/>
        </p:nvSpPr>
        <p:spPr>
          <a:xfrm>
            <a:off x="6657975" y="1253027"/>
            <a:ext cx="5000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Worst 10 performers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1CE1AEA3-AA0C-3A94-AA29-18383BD777B5}"/>
              </a:ext>
            </a:extLst>
          </p:cNvPr>
          <p:cNvSpPr txBox="1"/>
          <p:nvPr/>
        </p:nvSpPr>
        <p:spPr>
          <a:xfrm>
            <a:off x="200563" y="4423717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662" name="TextBox 661">
            <a:extLst>
              <a:ext uri="{FF2B5EF4-FFF2-40B4-BE49-F238E27FC236}">
                <a16:creationId xmlns:a16="http://schemas.microsoft.com/office/drawing/2014/main" id="{574F42AC-AEEA-4847-E417-94400968C922}"/>
              </a:ext>
            </a:extLst>
          </p:cNvPr>
          <p:cNvSpPr txBox="1"/>
          <p:nvPr/>
        </p:nvSpPr>
        <p:spPr>
          <a:xfrm>
            <a:off x="6110988" y="4423717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663" name="TextBox 662">
            <a:extLst>
              <a:ext uri="{FF2B5EF4-FFF2-40B4-BE49-F238E27FC236}">
                <a16:creationId xmlns:a16="http://schemas.microsoft.com/office/drawing/2014/main" id="{CFC01DED-F5E8-CDB2-E2B4-22E5057525A8}"/>
              </a:ext>
            </a:extLst>
          </p:cNvPr>
          <p:cNvSpPr txBox="1"/>
          <p:nvPr/>
        </p:nvSpPr>
        <p:spPr>
          <a:xfrm>
            <a:off x="5703134" y="4423717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4B664522-F24B-2DDA-3573-A25DA329D9EB}"/>
              </a:ext>
            </a:extLst>
          </p:cNvPr>
          <p:cNvSpPr txBox="1"/>
          <p:nvPr/>
        </p:nvSpPr>
        <p:spPr>
          <a:xfrm>
            <a:off x="11647427" y="4423717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</p:spTree>
    <p:extLst>
      <p:ext uri="{BB962C8B-B14F-4D97-AF65-F5344CB8AC3E}">
        <p14:creationId xmlns:p14="http://schemas.microsoft.com/office/powerpoint/2010/main" val="3272205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7BBED-612B-893B-9A05-8312E9FF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30C34FA-BC85-C526-915D-CD3612F9BCE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026594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7" imgW="7772400" imgH="10058400" progId="TCLayout.ActiveDocument.1">
                  <p:embed/>
                </p:oleObj>
              </mc:Choice>
              <mc:Fallback>
                <p:oleObj name="think-cell Slide" r:id="rId77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33A62E-DB0A-2F14-605A-0E1B8EAF31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988F2CA-BE19-0217-2BAE-1D4B53272BB4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7D603-6E0A-39D2-B303-9D3E7617D1EF}"/>
              </a:ext>
            </a:extLst>
          </p:cNvPr>
          <p:cNvSpPr txBox="1"/>
          <p:nvPr/>
        </p:nvSpPr>
        <p:spPr>
          <a:xfrm>
            <a:off x="411480" y="539496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2020 Q2–Q3: surge in positive rate — COVID recovery bounce lifted most purchases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2022: sharp drop aligned with rate-hike drawdown across the market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Volume spikes suggest increased trading activity around election cycles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Positive rate rarely exceeds 60% — even in the best macro environments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0EA76-A3ED-0A35-4400-34B3A15CEE2D}"/>
              </a:ext>
            </a:extLst>
          </p:cNvPr>
          <p:cNvSpPr txBox="1"/>
          <p:nvPr/>
        </p:nvSpPr>
        <p:spPr>
          <a:xfrm>
            <a:off x="411480" y="164592"/>
            <a:ext cx="101823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Performance Over Time: Macro Events Drive Positive Rates</a:t>
            </a:r>
          </a:p>
        </p:txBody>
      </p:sp>
      <p:graphicFrame>
        <p:nvGraphicFramePr>
          <p:cNvPr id="171" name="Chart 170">
            <a:extLst>
              <a:ext uri="{FF2B5EF4-FFF2-40B4-BE49-F238E27FC236}">
                <a16:creationId xmlns:a16="http://schemas.microsoft.com/office/drawing/2014/main" id="{2524AA53-C524-FA0B-86DE-0173820BC57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9153490"/>
              </p:ext>
            </p:extLst>
          </p:nvPr>
        </p:nvGraphicFramePr>
        <p:xfrm>
          <a:off x="296863" y="1328738"/>
          <a:ext cx="11166475" cy="360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9"/>
          </a:graphicData>
        </a:graphic>
      </p:graphicFrame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96EDCB9-F57C-8921-33AC-32A992032EE7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5202238" y="3022600"/>
            <a:ext cx="0" cy="4286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0DA0B8D5-C5CA-D3F8-1331-DA1784934F51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29322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34353A8-0B2C-4720-9781-A297135FF59E}" type="datetime'''''''''''''''''2''''0''2''''''''''''''''''''''3Q3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2023Q3</a:t>
            </a:fld>
            <a:endParaRPr lang="en-GB" sz="10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5BFE498-7E09-85D8-0F49-E22979295E57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9588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8DFD07AD-98C5-4A74-863E-03698BB673DF}" type="datetime'20''''''''1''''''''''''''''''''''''''''''''''5''Q''''''1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2015Q1</a:t>
            </a:fld>
            <a:endParaRPr lang="en-GB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3775F26-8696-112A-1CF1-E0AA05DDB26F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93992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74609C3-9278-46C5-BAD1-79391DCB4924}" type="datetime'2''''''''''''''0''''''''1''6''''''''''Q''1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2016Q1</a:t>
            </a:fld>
            <a:endParaRPr lang="en-GB" sz="10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05420E3-7C58-E437-4465-F13BA98F8818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18440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479AE01-F6FC-44AA-9B4E-D15DA88EE1F8}" type="datetime'2''''''''''''0''''1''''''6''''''''''''''''''''Q''''''''2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2016Q2</a:t>
            </a:fld>
            <a:endParaRPr lang="en-GB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2479A42-1324-AE35-11CD-2A199033CBE1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42887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A5ABF4D8-990D-4835-A04E-E0B674B84EC2}" type="datetime'''''''''2''''''01''6''''''''''Q''''3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2016Q3</a:t>
            </a:fld>
            <a:endParaRPr lang="en-GB" sz="10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2EBDAA2-96D9-719D-68D9-C83358FAEEA8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67493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C7A0143-988F-4969-BE85-CC948F395386}" type="datetime'2''0''''''''''''''''16''''''''Q''''''''''''''''''4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2016Q4</a:t>
            </a:fld>
            <a:endParaRPr lang="en-GB" sz="10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F7C6C8E-1ADE-71BF-379D-8792284D939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291941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5B3D711-8819-4AAF-A591-A8331DBC9653}" type="datetime'''''2''''0''''''''''''''''''1''''''''7''''''Q''1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2017Q1</a:t>
            </a:fld>
            <a:endParaRPr lang="en-GB" sz="1000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132DA01-73C1-D952-4513-3A81A3C4C686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316547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967C6C9C-4FE0-4C33-A705-ECA2338BBD9B}" type="datetime'''''''''''2''''''0''''''''''17''''''''''''Q''''''2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2017Q2</a:t>
            </a:fld>
            <a:endParaRPr lang="en-GB" sz="100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818C6B1-B9E3-D974-D0D5-B480A1C05FD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34099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9AFD4CD-18B9-43C4-A2AE-5FB0CFC7BA04}" type="datetime'''''''''''2''''0''''''''17''Q''3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2017Q3</a:t>
            </a:fld>
            <a:endParaRPr lang="en-GB" sz="1000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E369B8-2438-D3DD-6217-A6A0C5353E5E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365601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1D6EBA1-BA5F-49C8-9DEC-178B00A470CC}" type="datetime'''''''''''''''''201''7''''Q''''''''''''''4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2017Q4</a:t>
            </a:fld>
            <a:endParaRPr lang="en-GB" sz="1000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B74EAB2-6E6E-9DFA-75E8-24CFE48E8F8B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390048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0D17206-DBFD-4755-ABC9-48BE0C7E3A49}" type="datetime'''''2''''''''0''1''''''''8''''''''''''''''''''''''''''''Q1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2018Q1</a:t>
            </a:fld>
            <a:endParaRPr lang="en-GB" sz="1000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5D5DE1C-72B5-230C-278D-E5E9723C624D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414496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1BD1941D-62C8-4954-B9D1-23B0EA2E6AA6}" type="datetime'20''''''''1''''''''''8''''''''''''''''''''''''''''Q''''2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2018Q2</a:t>
            </a:fld>
            <a:endParaRPr lang="en-GB" sz="1000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6733470-61DC-F13D-851C-59D95694FDCD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439102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BC6C78B0-FFC0-4EAD-85C1-04BCC1BB753C}" type="datetime'''''''''''''''''''''''''20''''''''''''18''Q''''''''''3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2018Q3</a:t>
            </a:fld>
            <a:endParaRPr lang="en-GB" sz="10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D147CA83-EB3F-B5F2-B266-244744F01467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463550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0AAE61B-3B6B-4793-B214-AEBF699A94CD}" type="datetime'''''''''''''''''2''''''''''''0''''''18''''''''Q4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2018Q4</a:t>
            </a:fld>
            <a:endParaRPr lang="en-GB" sz="100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E03FF312-935F-94EA-0FC7-36B9EB83FD48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488156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9D0353C9-5A40-4547-897A-7759869B086D}" type="datetime'''''''2''0''''''1''''9''''''''''''''''''''''''''''''Q1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2019Q1</a:t>
            </a:fld>
            <a:endParaRPr lang="en-GB" sz="1000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8851E22-4015-8108-1EE4-FA5C0AD24540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auto">
          <a:xfrm>
            <a:off x="512603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DD8B0A4-1530-4569-ACFB-C062B0528D88}" type="datetime'''2''''''''''''''0''''''1''''''''''''''''9''''''''''''''Q2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2019Q2</a:t>
            </a:fld>
            <a:endParaRPr lang="en-GB" sz="1000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3E3B604-0965-6E62-5D7B-AA4DAD264C99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537051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270D9D1-EAC7-4284-875C-6941B2D0AE30}" type="datetime'''''''2''''''01''9''''Q''''''''''''3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2019Q3</a:t>
            </a:fld>
            <a:endParaRPr lang="en-GB" sz="1000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4549F3-39F6-541D-D435-4DBCA30DE8EE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561657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709D0563-CED6-464C-B896-E9AFED1520E2}" type="datetime'2''0''1''''''''''''9''''''''''''''Q''''''''4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2019Q4</a:t>
            </a:fld>
            <a:endParaRPr lang="en-GB" sz="1000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0064E91C-DA86-4765-82A2-A2836B920A07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58610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64B3ABE-006D-4618-B475-2DC376A05894}" type="datetime'''''20''''''''''''''20''''''''''''''''Q''''''''''''''''''1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2020Q1</a:t>
            </a:fld>
            <a:endParaRPr lang="en-GB" sz="1000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71E8EF89-2553-BE95-623D-15BD07342571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610711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7F6CE3FE-9EAD-420B-82AE-4E05A426ABA9}" type="datetime'''''''''''2''''''''0''2''''''''''''''''''0''''''''''Q''2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2020Q2</a:t>
            </a:fld>
            <a:endParaRPr lang="en-GB" sz="1000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FCA4C47-57AD-A6DD-C7BA-87070B24BD9F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635158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81C57E1D-2CE1-4357-ABAE-AE150E8C56EA}" type="datetime'''2''''''''''''''02''''''''''0''''Q''''''''''''3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2020Q3</a:t>
            </a:fld>
            <a:endParaRPr lang="en-GB" sz="1000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3D8AA19-54FD-7AEE-8AAE-5ABCF90F281D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65976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EE52452-D246-46FD-9086-D1EE60EC79E6}" type="datetime'''''''2''0''2''''''''''''''''''''''''''''''''0''''''Q''''''4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2020Q4</a:t>
            </a:fld>
            <a:endParaRPr lang="en-GB" sz="1000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AD91EB8-631D-F9D4-FFE3-FA9D4204253E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684212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54873BB-4F45-497F-991D-7DEA4D3D7544}" type="datetime'''''2''''''02''''''''''''''''''''''1''Q''''''1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2021Q1</a:t>
            </a:fld>
            <a:endParaRPr lang="en-GB" sz="1000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5A2113AB-C085-020B-C061-AFA30C5E53D5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708660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8A23EDD-AE3B-42D5-88CE-99E15CF1A36F}" type="datetime'2''''''''0''''21''''''''Q''2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2021Q2</a:t>
            </a:fld>
            <a:endParaRPr lang="en-GB" sz="1000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2F151EB-A335-FD3D-7430-14FD9E2D04DD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733266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D6E39F4-A143-43A1-89E9-13D7C2FF2C38}" type="datetime'''''''''''''''''2''''''''''0''''''''''''21''''''''Q3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2021Q3</a:t>
            </a:fld>
            <a:endParaRPr lang="en-GB" sz="1000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257C545-22DF-E300-0FC6-06AE7B2565F8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757713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CA11A0E2-A590-4CF4-BEC7-13325FEA13FE}" type="datetime'2''''''''''''''''''''0''''''''''''''''2''''1''''''''''Q4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2021Q4</a:t>
            </a:fld>
            <a:endParaRPr lang="en-GB" sz="1000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12C24C61-CFB0-A98C-EEA2-6CD0099F638E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782320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B8D615EA-C991-4C42-8A07-C12B0B27E940}" type="datetime'''2''0''2''''2''''''''''''Q''''''''1''''''''''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2022Q1</a:t>
            </a:fld>
            <a:endParaRPr lang="en-GB" sz="1000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C184D658-6B8A-FBC8-615A-4A6922063D18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806767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7FBE8307-7EF6-448E-BD1D-FB105431DF9A}" type="datetime'''''''''''''2''0''''''''22''''''Q''''''''''''''2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2022Q2</a:t>
            </a:fld>
            <a:endParaRPr lang="en-GB" sz="1000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74880A1D-B287-AF2C-28EF-37B9FA94B985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83121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BF8A906D-1234-4AC0-8AC0-7992454101CB}" type="datetime'''''20''''''''2''''''''''''''''''2''''Q''''''''''''''''3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2022Q3</a:t>
            </a:fld>
            <a:endParaRPr lang="en-GB" sz="1000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927E4B9-8691-562A-2EE2-24476CC14CE9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855821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A7B2BB1-B0F4-42B9-91F3-8C411CE5C9CE}" type="datetime'20''''''''''''''''''''2''''2Q''4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2022Q4</a:t>
            </a:fld>
            <a:endParaRPr lang="en-GB" sz="1000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0606CC6D-91C3-8172-9A59-D4C58687B541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880268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E21FF2E-819A-4C5D-99D1-FC2BE67DE886}" type="datetime'''''''2''''''''''''0''''''2''3Q''''''1''''''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2023Q1</a:t>
            </a:fld>
            <a:endParaRPr lang="en-GB" sz="1000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B94BD7AF-6A0D-5C50-C857-36267264F645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auto">
          <a:xfrm>
            <a:off x="90487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CE1831AE-3858-495C-888A-68EE9FD04F55}" type="datetime'''''''2''0''''2''''''''''''''''''''3''''''''''Q2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2023Q2</a:t>
            </a:fld>
            <a:endParaRPr lang="en-GB" sz="10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B6859F0-719A-A875-4B97-0D2890D5369D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144938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F7C4F61-120F-4555-ADB6-96B326EA21BE}" type="datetime'''''''''''''''''2''''''''''''0''''''''''1''5''Q''''''3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2015Q3</a:t>
            </a:fld>
            <a:endParaRPr lang="en-GB" sz="1000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74F8F39-B45F-1975-2C36-7B3040638506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auto">
          <a:xfrm>
            <a:off x="953928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6A86A54-5949-49CC-A593-1E182AB85E40}" type="datetime'''''''''''''20''2''''''3''''''''Q''''''''''''''''4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2023Q4</a:t>
            </a:fld>
            <a:endParaRPr lang="en-GB" sz="1000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01E0A728-F3A3-E3C2-77DA-72BBBEAC380E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auto">
          <a:xfrm>
            <a:off x="978376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6242D76-C220-4C73-8C08-8E9ADF8803F1}" type="datetime'''''''''2''''''''''''024Q''''''1''''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2024Q1</a:t>
            </a:fld>
            <a:endParaRPr lang="en-GB" sz="1000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7DED00B-38DA-7C8B-6F4E-50E3BC300EC1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1002823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31C3A06-06AB-4C14-9FCD-CC9114EB66A2}" type="datetime'''''''''''''''20''''''''24''''''''''''''''''''''Q''2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2024Q2</a:t>
            </a:fld>
            <a:endParaRPr lang="en-GB" sz="1000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B0891019-F709-F228-902B-DA9E587C743F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auto">
          <a:xfrm>
            <a:off x="1027430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B2803D8-7DB4-4DAF-BFE0-0CFAF6B5062F}" type="datetime'''''''''''2''''''''''''''''02''''''''4''''''''Q''''3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2024Q3</a:t>
            </a:fld>
            <a:endParaRPr lang="en-GB" sz="1000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122CA80-613E-2DA1-555C-D7060DD5B02B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auto">
          <a:xfrm>
            <a:off x="1051877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B6BA1C6E-7A85-49D7-923D-245EBC85EB46}" type="datetime'''2''''0''''''''''''''2''''''4Q''''''''4''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2024Q4</a:t>
            </a:fld>
            <a:endParaRPr lang="en-GB" sz="1000" dirty="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1DD0DA3-8AAE-1009-55F0-0BD79605AA03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auto">
          <a:xfrm>
            <a:off x="1076483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FD461E0-6243-4517-9E93-823D7ACA75D7}" type="datetime'2''''''''''0''''2''''5''''''''''''''Q''1''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2025Q1</a:t>
            </a:fld>
            <a:endParaRPr lang="en-GB" sz="1000" dirty="0"/>
          </a:p>
        </p:txBody>
      </p:sp>
      <p:sp useBgFill="1">
        <p:nvSpPr>
          <p:cNvPr id="117" name="Text Placeholder 2">
            <a:extLst>
              <a:ext uri="{FF2B5EF4-FFF2-40B4-BE49-F238E27FC236}">
                <a16:creationId xmlns:a16="http://schemas.microsoft.com/office/drawing/2014/main" id="{BA1E2C18-45A2-4938-9C0F-748DD4AA7F3F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5311775" y="3022600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6EE40E1-843B-46E5-8FE7-802BC1BA0620}" type="datetime'5''''''''''''''''''''''''''''''''''45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545</a:t>
            </a:fld>
            <a:endParaRPr lang="en-GB" sz="1400" dirty="0"/>
          </a:p>
        </p:txBody>
      </p:sp>
      <p:sp useBgFill="1">
        <p:nvSpPr>
          <p:cNvPr id="100" name="Text Placeholder 2">
            <a:extLst>
              <a:ext uri="{FF2B5EF4-FFF2-40B4-BE49-F238E27FC236}">
                <a16:creationId xmlns:a16="http://schemas.microsoft.com/office/drawing/2014/main" id="{BE605083-5306-9AC4-30E0-9330839CCB3A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gray">
          <a:xfrm>
            <a:off x="6172200" y="2705100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080FA6B-B78B-47B4-A2CD-F8DA1EE78625}" type="datetime'70''''''''''''''''''''''''''''''''''7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707</a:t>
            </a:fld>
            <a:endParaRPr lang="en-GB" sz="1400" dirty="0"/>
          </a:p>
        </p:txBody>
      </p:sp>
      <p:sp useBgFill="1">
        <p:nvSpPr>
          <p:cNvPr id="101" name="Text Placeholder 2">
            <a:extLst>
              <a:ext uri="{FF2B5EF4-FFF2-40B4-BE49-F238E27FC236}">
                <a16:creationId xmlns:a16="http://schemas.microsoft.com/office/drawing/2014/main" id="{EDEE24DC-2979-1CF8-0CA9-3146BEB179DE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gray">
          <a:xfrm>
            <a:off x="6757988" y="3079750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D4AACDD-C390-44AD-852E-B6DD35602ABA}" type="datetime'''''''''''''''5''''''''''''''''''''''''''''''''''6''8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568</a:t>
            </a:fld>
            <a:endParaRPr lang="en-GB" sz="1400" dirty="0"/>
          </a:p>
        </p:txBody>
      </p:sp>
      <p:sp useBgFill="1">
        <p:nvSpPr>
          <p:cNvPr id="107" name="Text Placeholder 2">
            <a:extLst>
              <a:ext uri="{FF2B5EF4-FFF2-40B4-BE49-F238E27FC236}">
                <a16:creationId xmlns:a16="http://schemas.microsoft.com/office/drawing/2014/main" id="{4CE1283D-A5BF-7DC8-29D7-BA62E4565A9D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gray">
          <a:xfrm>
            <a:off x="7124700" y="30083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07260FA-8D00-4F81-8A5F-5795DC390066}" type="datetime'''''''''''''''5''''''''''''''''''0''''''''1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501</a:t>
            </a:fld>
            <a:endParaRPr lang="en-GB" sz="1400" dirty="0"/>
          </a:p>
        </p:txBody>
      </p:sp>
      <p:sp useBgFill="1">
        <p:nvSpPr>
          <p:cNvPr id="108" name="Text Placeholder 2">
            <a:extLst>
              <a:ext uri="{FF2B5EF4-FFF2-40B4-BE49-F238E27FC236}">
                <a16:creationId xmlns:a16="http://schemas.microsoft.com/office/drawing/2014/main" id="{474FB594-A792-7EF3-109B-04AA61D42AE6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gray">
          <a:xfrm>
            <a:off x="8351838" y="357028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9027E03-82DA-443D-B981-85960A2BFB79}" type="datetime'''3''''5''''''''''''''''''''''''''5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355</a:t>
            </a:fld>
            <a:endParaRPr lang="en-GB" sz="1400" dirty="0"/>
          </a:p>
        </p:txBody>
      </p:sp>
      <p:sp useBgFill="1">
        <p:nvSpPr>
          <p:cNvPr id="112" name="Text Placeholder 2">
            <a:extLst>
              <a:ext uri="{FF2B5EF4-FFF2-40B4-BE49-F238E27FC236}">
                <a16:creationId xmlns:a16="http://schemas.microsoft.com/office/drawing/2014/main" id="{6D767384-7B3F-033E-B3DA-1C8F66B54446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gray">
          <a:xfrm>
            <a:off x="10190163" y="301783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0FA3715-68FC-47ED-B131-EC0E7367CAC3}" type="datetime'''''4''9''6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496</a:t>
            </a:fld>
            <a:endParaRPr lang="en-GB" sz="1400" dirty="0"/>
          </a:p>
        </p:txBody>
      </p:sp>
      <p:sp useBgFill="1">
        <p:nvSpPr>
          <p:cNvPr id="150" name="Text Placeholder 2">
            <a:extLst>
              <a:ext uri="{FF2B5EF4-FFF2-40B4-BE49-F238E27FC236}">
                <a16:creationId xmlns:a16="http://schemas.microsoft.com/office/drawing/2014/main" id="{70491582-EC54-44D7-9DAA-BD187ABF46BE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919163" y="4181475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920FA93-2489-4159-8C7E-E6FC8A7C6BD1}" type="datetime'''''''''''''''8''''''''''''''''''''9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89</a:t>
            </a:fld>
            <a:endParaRPr lang="en-GB" sz="1400" dirty="0"/>
          </a:p>
        </p:txBody>
      </p:sp>
      <p:sp useBgFill="1">
        <p:nvSpPr>
          <p:cNvPr id="152" name="Text Placeholder 2">
            <a:extLst>
              <a:ext uri="{FF2B5EF4-FFF2-40B4-BE49-F238E27FC236}">
                <a16:creationId xmlns:a16="http://schemas.microsoft.com/office/drawing/2014/main" id="{A747BA14-2C3D-0A14-7956-A82CF1CA8912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gray">
          <a:xfrm>
            <a:off x="1195388" y="4167188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261693A-B915-43AC-8F40-5FDC7D709154}" type="datetime'''9''''''''''''''''''''''''''''''''5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95</a:t>
            </a:fld>
            <a:endParaRPr lang="en-GB" sz="1400" dirty="0"/>
          </a:p>
        </p:txBody>
      </p:sp>
      <p:sp useBgFill="1">
        <p:nvSpPr>
          <p:cNvPr id="153" name="Text Placeholder 2">
            <a:extLst>
              <a:ext uri="{FF2B5EF4-FFF2-40B4-BE49-F238E27FC236}">
                <a16:creationId xmlns:a16="http://schemas.microsoft.com/office/drawing/2014/main" id="{CFD7D1FF-35EF-50B7-2B9A-B5382CE54599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1855788" y="41386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44169E5-3CE6-4D1F-8B00-4285119DA00E}" type="datetime'''''''''''1''''''''''''''''''0''''''''8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108</a:t>
            </a:fld>
            <a:endParaRPr lang="en-GB" sz="1400" dirty="0"/>
          </a:p>
        </p:txBody>
      </p:sp>
      <p:sp useBgFill="1">
        <p:nvSpPr>
          <p:cNvPr id="154" name="Text Placeholder 2">
            <a:extLst>
              <a:ext uri="{FF2B5EF4-FFF2-40B4-BE49-F238E27FC236}">
                <a16:creationId xmlns:a16="http://schemas.microsoft.com/office/drawing/2014/main" id="{70C0667D-D962-67F4-2E25-B574FA7E01EC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gray">
          <a:xfrm>
            <a:off x="2222500" y="3994150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3A295C9-B37B-462A-9389-C7969FF7EB64}" type="datetime'''''''''''''1''''''''''''1''''''''''''''''''''''6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116</a:t>
            </a:fld>
            <a:endParaRPr lang="en-GB" sz="1400" dirty="0"/>
          </a:p>
        </p:txBody>
      </p:sp>
      <p:sp useBgFill="1">
        <p:nvSpPr>
          <p:cNvPr id="155" name="Text Placeholder 2">
            <a:extLst>
              <a:ext uri="{FF2B5EF4-FFF2-40B4-BE49-F238E27FC236}">
                <a16:creationId xmlns:a16="http://schemas.microsoft.com/office/drawing/2014/main" id="{AE7BC33C-EB95-49E7-DDBA-7039BB326B43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2389188" y="4206875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4BED346-B6D7-422D-B0C0-A83D15812CFA}" type="datetime'7''8''''''''''''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78</a:t>
            </a:fld>
            <a:endParaRPr lang="en-GB" sz="1400" dirty="0"/>
          </a:p>
        </p:txBody>
      </p:sp>
      <p:sp useBgFill="1">
        <p:nvSpPr>
          <p:cNvPr id="156" name="Text Placeholder 2">
            <a:extLst>
              <a:ext uri="{FF2B5EF4-FFF2-40B4-BE49-F238E27FC236}">
                <a16:creationId xmlns:a16="http://schemas.microsoft.com/office/drawing/2014/main" id="{CAE3ECFB-CC4C-1A96-53EC-CB6F63E9CB3D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2835275" y="390048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A96078A-544E-41C3-BE66-B59B67FF179D}" type="datetime'''''1''''''''''''''''''''9''''''0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190</a:t>
            </a:fld>
            <a:endParaRPr lang="en-GB" sz="1400" dirty="0"/>
          </a:p>
        </p:txBody>
      </p:sp>
      <p:sp useBgFill="1">
        <p:nvSpPr>
          <p:cNvPr id="157" name="Text Placeholder 2">
            <a:extLst>
              <a:ext uri="{FF2B5EF4-FFF2-40B4-BE49-F238E27FC236}">
                <a16:creationId xmlns:a16="http://schemas.microsoft.com/office/drawing/2014/main" id="{CDA8BD4C-CCA9-0491-D9F8-429C28FB6657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gray">
          <a:xfrm>
            <a:off x="3125788" y="4175125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C7CFBD3-A89C-427A-B799-2CAFE0B12FB0}" type="datetime'''''''''''''''''''''''''''9''2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92</a:t>
            </a:fld>
            <a:endParaRPr lang="en-GB" sz="1400" dirty="0"/>
          </a:p>
        </p:txBody>
      </p:sp>
      <p:sp useBgFill="1">
        <p:nvSpPr>
          <p:cNvPr id="158" name="Text Placeholder 2">
            <a:extLst>
              <a:ext uri="{FF2B5EF4-FFF2-40B4-BE49-F238E27FC236}">
                <a16:creationId xmlns:a16="http://schemas.microsoft.com/office/drawing/2014/main" id="{C96143A0-B38A-CA70-197B-7034F005DE77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3571875" y="3870325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85C7052-E48E-4061-9DE1-224EF317D756}" type="datetime'1''''''''''''''''''''6''''''''''''''''''''''8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168</a:t>
            </a:fld>
            <a:endParaRPr lang="en-GB" sz="1400" dirty="0"/>
          </a:p>
        </p:txBody>
      </p:sp>
      <p:sp useBgFill="1">
        <p:nvSpPr>
          <p:cNvPr id="159" name="Text Placeholder 2">
            <a:extLst>
              <a:ext uri="{FF2B5EF4-FFF2-40B4-BE49-F238E27FC236}">
                <a16:creationId xmlns:a16="http://schemas.microsoft.com/office/drawing/2014/main" id="{BB36EA0B-AC5B-CE91-DF81-D7D59B0B5388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gray">
          <a:xfrm>
            <a:off x="4060825" y="3657600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3B1C6F4-2AD2-4CD2-8638-B62FC606F733}" type="datetime'''''''''''''''''3''''''''''''''''''''''1''''''''7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317</a:t>
            </a:fld>
            <a:endParaRPr lang="en-GB" sz="1400" dirty="0"/>
          </a:p>
        </p:txBody>
      </p:sp>
      <p:sp useBgFill="1">
        <p:nvSpPr>
          <p:cNvPr id="160" name="Text Placeholder 2">
            <a:extLst>
              <a:ext uri="{FF2B5EF4-FFF2-40B4-BE49-F238E27FC236}">
                <a16:creationId xmlns:a16="http://schemas.microsoft.com/office/drawing/2014/main" id="{479FC983-8C31-B9BB-EF06-68A52A2149C9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4306888" y="27543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164A965-C08C-470A-832B-9BDA23788A9A}" type="datetime'''''''''''''''''''7''''''1''''''0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710</a:t>
            </a:fld>
            <a:endParaRPr lang="en-GB" sz="1400" dirty="0"/>
          </a:p>
        </p:txBody>
      </p:sp>
      <p:sp useBgFill="1">
        <p:nvSpPr>
          <p:cNvPr id="161" name="Text Placeholder 2">
            <a:extLst>
              <a:ext uri="{FF2B5EF4-FFF2-40B4-BE49-F238E27FC236}">
                <a16:creationId xmlns:a16="http://schemas.microsoft.com/office/drawing/2014/main" id="{96F5AB68-364D-4D75-AEEC-237DD4F8CBF4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4551363" y="324643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2FC3E91-9AB5-4794-9C4A-01844C0EFF6C}" type="datetime'''''''''''''''''''''''''''''496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496</a:t>
            </a:fld>
            <a:endParaRPr lang="en-GB" sz="1400" dirty="0"/>
          </a:p>
        </p:txBody>
      </p:sp>
      <p:sp useBgFill="1">
        <p:nvSpPr>
          <p:cNvPr id="162" name="Text Placeholder 2">
            <a:extLst>
              <a:ext uri="{FF2B5EF4-FFF2-40B4-BE49-F238E27FC236}">
                <a16:creationId xmlns:a16="http://schemas.microsoft.com/office/drawing/2014/main" id="{EF57906C-F790-C659-1186-796695EE610F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gray">
          <a:xfrm>
            <a:off x="4797425" y="2873375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F58FEF7-8B00-4E45-A61D-A2286B1EF8C0}" type="datetime'''''''''''''6''''5''''''''''''''''''''''''''''''''8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658</a:t>
            </a:fld>
            <a:endParaRPr lang="en-GB" sz="1400" dirty="0"/>
          </a:p>
        </p:txBody>
      </p:sp>
      <p:sp useBgFill="1">
        <p:nvSpPr>
          <p:cNvPr id="163" name="Text Placeholder 2">
            <a:extLst>
              <a:ext uri="{FF2B5EF4-FFF2-40B4-BE49-F238E27FC236}">
                <a16:creationId xmlns:a16="http://schemas.microsoft.com/office/drawing/2014/main" id="{892F36DC-E50A-2F7C-C26A-AD39E184F281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5776913" y="2797175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F3A953F-E96C-4E81-8D18-464D5E88EFB2}" type="datetime'6''''5''''''''''''''1''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651</a:t>
            </a:fld>
            <a:endParaRPr lang="en-GB" sz="1400" dirty="0"/>
          </a:p>
        </p:txBody>
      </p:sp>
      <p:sp useBgFill="1">
        <p:nvSpPr>
          <p:cNvPr id="164" name="Text Placeholder 2">
            <a:extLst>
              <a:ext uri="{FF2B5EF4-FFF2-40B4-BE49-F238E27FC236}">
                <a16:creationId xmlns:a16="http://schemas.microsoft.com/office/drawing/2014/main" id="{E893CDF4-ED58-F140-65B6-D5D46581834C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5954713" y="1608138"/>
            <a:ext cx="45720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D7829D4-7A50-46A6-923B-8496A7F18E9A}" type="datetime'1.''''''''''''''''''''''''2''''0''''''''''''''8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1.208</a:t>
            </a:fld>
            <a:endParaRPr lang="en-GB" sz="1400" dirty="0"/>
          </a:p>
        </p:txBody>
      </p:sp>
      <p:sp useBgFill="1">
        <p:nvSpPr>
          <p:cNvPr id="165" name="Text Placeholder 2">
            <a:extLst>
              <a:ext uri="{FF2B5EF4-FFF2-40B4-BE49-F238E27FC236}">
                <a16:creationId xmlns:a16="http://schemas.microsoft.com/office/drawing/2014/main" id="{15D063BF-F055-2477-60B4-7932C59451F8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7493000" y="324326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8FA75AD-0CD0-436D-BB4E-4B70D13EB488}" type="datetime'''''''4''''''''''''''7''''''''5''''''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475</a:t>
            </a:fld>
            <a:endParaRPr lang="en-GB" sz="1400" dirty="0"/>
          </a:p>
        </p:txBody>
      </p:sp>
      <p:sp useBgFill="1">
        <p:nvSpPr>
          <p:cNvPr id="166" name="Text Placeholder 2">
            <a:extLst>
              <a:ext uri="{FF2B5EF4-FFF2-40B4-BE49-F238E27FC236}">
                <a16:creationId xmlns:a16="http://schemas.microsoft.com/office/drawing/2014/main" id="{E261040A-AA68-B060-BB2F-2C449EECF496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7983538" y="36687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AC8A2FA-4421-4EAD-8A82-F212E4EFD2E5}" type="datetime'''''''''''''''''''''''''''''''3''''''''''''1''''''2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312</a:t>
            </a:fld>
            <a:endParaRPr lang="en-GB" sz="1400" dirty="0"/>
          </a:p>
        </p:txBody>
      </p:sp>
      <p:sp useBgFill="1">
        <p:nvSpPr>
          <p:cNvPr id="167" name="Text Placeholder 2">
            <a:extLst>
              <a:ext uri="{FF2B5EF4-FFF2-40B4-BE49-F238E27FC236}">
                <a16:creationId xmlns:a16="http://schemas.microsoft.com/office/drawing/2014/main" id="{FBD1C1A0-8EEB-6616-8870-41F030D006D5}"/>
              </a:ext>
            </a:extLst>
          </p:cNvPr>
          <p:cNvSpPr txBox="1">
            <a:spLocks/>
          </p:cNvSpPr>
          <p:nvPr>
            <p:custDataLst>
              <p:tags r:id="rId65"/>
            </p:custDataLst>
          </p:nvPr>
        </p:nvSpPr>
        <p:spPr bwMode="gray">
          <a:xfrm>
            <a:off x="8007350" y="324326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EB95EB6-2098-4C66-927F-1DD876728D9E}" type="datetime'''''''''''''''''''''''''''''''''''''''4''''''''''7''2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472</a:t>
            </a:fld>
            <a:endParaRPr lang="en-GB" sz="1400" dirty="0"/>
          </a:p>
        </p:txBody>
      </p:sp>
      <p:sp useBgFill="1">
        <p:nvSpPr>
          <p:cNvPr id="168" name="Text Placeholder 2">
            <a:extLst>
              <a:ext uri="{FF2B5EF4-FFF2-40B4-BE49-F238E27FC236}">
                <a16:creationId xmlns:a16="http://schemas.microsoft.com/office/drawing/2014/main" id="{57660C65-7B94-1B70-D23A-D7B6172DCBA2}"/>
              </a:ext>
            </a:extLst>
          </p:cNvPr>
          <p:cNvSpPr txBox="1">
            <a:spLocks/>
          </p:cNvSpPr>
          <p:nvPr>
            <p:custDataLst>
              <p:tags r:id="rId66"/>
            </p:custDataLst>
          </p:nvPr>
        </p:nvSpPr>
        <p:spPr bwMode="gray">
          <a:xfrm>
            <a:off x="8718550" y="35798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1BE97F3-12C8-4F00-B684-9802AFD912D5}" type="datetime'3''''''''''''''''5''''1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351</a:t>
            </a:fld>
            <a:endParaRPr lang="en-GB" sz="1400" dirty="0"/>
          </a:p>
        </p:txBody>
      </p:sp>
      <p:sp useBgFill="1">
        <p:nvSpPr>
          <p:cNvPr id="169" name="Text Placeholder 2">
            <a:extLst>
              <a:ext uri="{FF2B5EF4-FFF2-40B4-BE49-F238E27FC236}">
                <a16:creationId xmlns:a16="http://schemas.microsoft.com/office/drawing/2014/main" id="{669CD0EB-33E9-1D0F-A53B-1955FF684E96}"/>
              </a:ext>
            </a:extLst>
          </p:cNvPr>
          <p:cNvSpPr txBox="1">
            <a:spLocks/>
          </p:cNvSpPr>
          <p:nvPr>
            <p:custDataLst>
              <p:tags r:id="rId67"/>
            </p:custDataLst>
          </p:nvPr>
        </p:nvSpPr>
        <p:spPr bwMode="gray">
          <a:xfrm>
            <a:off x="9944100" y="395128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073B326-EF7C-4968-AE20-694B4617775E}" type="datetime'''''''''''''''''''1''8''''''''9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189</a:t>
            </a:fld>
            <a:endParaRPr lang="en-GB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F8766E-B181-2023-62E4-0E77E284A21B}"/>
              </a:ext>
            </a:extLst>
          </p:cNvPr>
          <p:cNvSpPr txBox="1">
            <a:spLocks/>
          </p:cNvSpPr>
          <p:nvPr>
            <p:custDataLst>
              <p:tags r:id="rId68"/>
            </p:custDataLst>
          </p:nvPr>
        </p:nvSpPr>
        <p:spPr bwMode="auto">
          <a:xfrm>
            <a:off x="120332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BFE8594-B260-4B68-9809-2450D3C78D99}" type="datetime'20''''1''''''5''''''''''''''Q''''''''''''2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2015Q2</a:t>
            </a:fld>
            <a:endParaRPr lang="en-GB" sz="10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244D5E1-F9D8-DD90-AF32-CE77AF4B5E11}"/>
              </a:ext>
            </a:extLst>
          </p:cNvPr>
          <p:cNvSpPr txBox="1">
            <a:spLocks/>
          </p:cNvSpPr>
          <p:nvPr>
            <p:custDataLst>
              <p:tags r:id="rId69"/>
            </p:custDataLst>
          </p:nvPr>
        </p:nvSpPr>
        <p:spPr bwMode="auto">
          <a:xfrm>
            <a:off x="169386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706506B1-B723-4574-9A2D-070621EC3232}" type="datetime'''2''''''''0''''''15''''''''''''''''''Q''''''''4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2015Q4</a:t>
            </a:fld>
            <a:endParaRPr lang="en-GB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53095A-39ED-D3EE-FE6E-B5D7C8411DC9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9591675" y="6332538"/>
            <a:ext cx="250825" cy="187325"/>
          </a:xfrm>
          <a:prstGeom prst="rect">
            <a:avLst/>
          </a:prstGeom>
          <a:solidFill>
            <a:srgbClr val="599E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C910F9-C90E-DF6A-F910-5071F1A3B1EC}"/>
              </a:ext>
            </a:extLst>
          </p:cNvPr>
          <p:cNvCxnSpPr/>
          <p:nvPr>
            <p:custDataLst>
              <p:tags r:id="rId71"/>
            </p:custDataLst>
          </p:nvPr>
        </p:nvCxnSpPr>
        <p:spPr bwMode="gray">
          <a:xfrm>
            <a:off x="10777538" y="6426200"/>
            <a:ext cx="330200" cy="0"/>
          </a:xfrm>
          <a:prstGeom prst="line">
            <a:avLst/>
          </a:prstGeom>
          <a:ln w="19050" cap="rnd" cmpd="sng" algn="ctr">
            <a:solidFill>
              <a:srgbClr val="F088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A65EF96-49F2-CD9D-5BC7-2AF7CEA7ED59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10898188" y="6381750"/>
            <a:ext cx="88900" cy="88900"/>
          </a:xfrm>
          <a:prstGeom prst="ellipse">
            <a:avLst/>
          </a:prstGeom>
          <a:solidFill>
            <a:srgbClr val="BF504D"/>
          </a:solidFill>
          <a:ln w="9525" cap="flat" cmpd="sng" algn="ctr">
            <a:solidFill>
              <a:srgbClr val="BF50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DF8C110-6676-75E8-CF24-5FE8C46E5BF3}"/>
              </a:ext>
            </a:extLst>
          </p:cNvPr>
          <p:cNvSpPr txBox="1">
            <a:spLocks/>
          </p:cNvSpPr>
          <p:nvPr>
            <p:custDataLst>
              <p:tags r:id="rId73"/>
            </p:custDataLst>
          </p:nvPr>
        </p:nvSpPr>
        <p:spPr bwMode="auto">
          <a:xfrm>
            <a:off x="9893300" y="6327775"/>
            <a:ext cx="773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/>
              <a:t># of trades</a:t>
            </a:r>
            <a:endParaRPr lang="en-GB" sz="1400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86ED3E9-109E-9C09-DDAD-7444056E1BB1}"/>
              </a:ext>
            </a:extLst>
          </p:cNvPr>
          <p:cNvSpPr txBox="1">
            <a:spLocks/>
          </p:cNvSpPr>
          <p:nvPr>
            <p:custDataLst>
              <p:tags r:id="rId74"/>
            </p:custDataLst>
          </p:nvPr>
        </p:nvSpPr>
        <p:spPr bwMode="auto">
          <a:xfrm>
            <a:off x="11168063" y="6327775"/>
            <a:ext cx="5810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/>
              <a:t>Hit Rate</a:t>
            </a:r>
            <a:endParaRPr lang="en-GB" sz="14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F7C7EFE-20D7-14EC-757A-678169D9F214}"/>
              </a:ext>
            </a:extLst>
          </p:cNvPr>
          <p:cNvSpPr txBox="1"/>
          <p:nvPr/>
        </p:nvSpPr>
        <p:spPr>
          <a:xfrm>
            <a:off x="919164" y="1253027"/>
            <a:ext cx="1001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Performance over the years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19689C3-DF14-D5C1-5836-B14CDBD6371E}"/>
              </a:ext>
            </a:extLst>
          </p:cNvPr>
          <p:cNvSpPr txBox="1"/>
          <p:nvPr/>
        </p:nvSpPr>
        <p:spPr>
          <a:xfrm>
            <a:off x="366024" y="4664004"/>
            <a:ext cx="5309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of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trades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D2A6C95-B1FE-BB4C-9D3C-D62D5C1837DB}"/>
              </a:ext>
            </a:extLst>
          </p:cNvPr>
          <p:cNvSpPr txBox="1"/>
          <p:nvPr/>
        </p:nvSpPr>
        <p:spPr>
          <a:xfrm>
            <a:off x="10985500" y="4671698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</p:spTree>
    <p:extLst>
      <p:ext uri="{BB962C8B-B14F-4D97-AF65-F5344CB8AC3E}">
        <p14:creationId xmlns:p14="http://schemas.microsoft.com/office/powerpoint/2010/main" val="4220379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A9B5-4F22-08C0-1A54-DB0CBFD9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134FB7B2-DAA2-C214-A486-1136AD281C2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798556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7772400" imgH="10058400" progId="TCLayout.ActiveDocument.1">
                  <p:embed/>
                </p:oleObj>
              </mc:Choice>
              <mc:Fallback>
                <p:oleObj name="think-cell Slide" r:id="rId2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7E39C09-FC60-E610-D45C-70783CF4A977}"/>
              </a:ext>
            </a:extLst>
          </p:cNvPr>
          <p:cNvSpPr txBox="1"/>
          <p:nvPr/>
        </p:nvSpPr>
        <p:spPr>
          <a:xfrm>
            <a:off x="411480" y="164592"/>
            <a:ext cx="85188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EDA: Median CAR Across Key Structural Variables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CFCDC-5575-44C4-EDE7-227B46463269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FBF0D-F2B7-60CF-CB24-D1006A97FDD2}"/>
              </a:ext>
            </a:extLst>
          </p:cNvPr>
          <p:cNvSpPr txBox="1"/>
          <p:nvPr/>
        </p:nvSpPr>
        <p:spPr>
          <a:xfrm>
            <a:off x="274320" y="5394960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7D8590"/>
                </a:solidFill>
              </a:rPr>
              <a:t>▸  Disclosure delay capped at 45 days by STOCK Act; 50d+ entries reflect late filers</a:t>
            </a:r>
          </a:p>
        </p:txBody>
      </p:sp>
      <p:graphicFrame>
        <p:nvGraphicFramePr>
          <p:cNvPr id="965" name="Chart 964">
            <a:extLst>
              <a:ext uri="{FF2B5EF4-FFF2-40B4-BE49-F238E27FC236}">
                <a16:creationId xmlns:a16="http://schemas.microsoft.com/office/drawing/2014/main" id="{85B375F9-2FD8-95A1-5DAF-972D91D6E53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43337603"/>
              </p:ext>
            </p:extLst>
          </p:nvPr>
        </p:nvGraphicFramePr>
        <p:xfrm>
          <a:off x="265113" y="1614488"/>
          <a:ext cx="3060700" cy="3538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C8FF920-2F38-C4D2-3A18-D6A7DC45F747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42988" y="5013325"/>
            <a:ext cx="5238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D370442-33FD-47F2-B700-CA02AB1E2B91}" type="datetime'D''''''''''''''e''m''''''o''''''''''''''c''r''''at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Democrat</a:t>
            </a:fld>
            <a:endParaRPr lang="en-GB" sz="10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EA2E15-CA82-27EB-3D79-BD68ECA79F7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2079625" y="5013325"/>
            <a:ext cx="5826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32EC272-D659-4B33-BFC4-5BFC4843C2A0}" type="datetime'''''''''''''''R''''''epu''b''''''''''li''''c''''a''''''''''n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Republican</a:t>
            </a:fld>
            <a:endParaRPr lang="en-GB" sz="1000" dirty="0"/>
          </a:p>
        </p:txBody>
      </p:sp>
      <p:graphicFrame>
        <p:nvGraphicFramePr>
          <p:cNvPr id="964" name="Chart 963">
            <a:extLst>
              <a:ext uri="{FF2B5EF4-FFF2-40B4-BE49-F238E27FC236}">
                <a16:creationId xmlns:a16="http://schemas.microsoft.com/office/drawing/2014/main" id="{5705D41C-1043-3546-0787-B32F528A5FC4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487816063"/>
              </p:ext>
            </p:extLst>
          </p:nvPr>
        </p:nvGraphicFramePr>
        <p:xfrm>
          <a:off x="3481388" y="1614488"/>
          <a:ext cx="4305300" cy="3538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66AF474-6328-2A3E-5B20-4EED90D34DC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071938" y="5013325"/>
            <a:ext cx="3127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33EC414-BF42-4C56-A0F4-5FE4E99F67C9}" type="datetime'''''''''''''''''''''''''0''''-''''1''''''''''''0''d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0-10d</a:t>
            </a:fld>
            <a:endParaRPr lang="en-GB" sz="1000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194A4E9-02E1-744B-4FAC-B88A38B3E50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521200" y="5013325"/>
            <a:ext cx="377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A3F866F-5E34-4203-87BD-528D96CB6D97}" type="datetime'''''''''''''''''''1''''0''''''''''-2''''''''''0d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10-20d</a:t>
            </a:fld>
            <a:endParaRPr lang="en-GB" sz="10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57C527A-3BCC-8355-C348-FBB57241A74C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5003800" y="5013325"/>
            <a:ext cx="377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A68285F-DE1D-4C71-9FB2-CEAF075C4C95}" type="datetime'2''''0''-3''''''''0d''''''''''''''''''''''''''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20-30d</a:t>
            </a:fld>
            <a:endParaRPr lang="en-GB" sz="100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76421E8D-2287-72A0-738C-65A0D856D1F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5486400" y="5013325"/>
            <a:ext cx="377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D882B36-2872-4933-B029-77501BE17C57}" type="datetime'''3''0''''''''''-''4''''''''''''''''''''''''0''''''d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30-40d</a:t>
            </a:fld>
            <a:endParaRPr lang="en-GB" sz="1000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2ECE996-8CEE-7FB8-FE59-5F715975A831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967413" y="5013325"/>
            <a:ext cx="377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D277D53-CC12-409D-AC52-821DDBB40DBB}" type="datetime'''''''4''0''-''''''4''''''''''''''''5''''d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40-45d</a:t>
            </a:fld>
            <a:endParaRPr lang="en-GB" sz="1000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4DB0985-B72E-47C7-92A9-6B04D9383E6C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6450013" y="5013325"/>
            <a:ext cx="377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330AECF-8C54-454B-B312-373CDCB2A6BC}" type="datetime'''''''''''''''''''''''''''''''4''''''''''''''5-50d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45-50d</a:t>
            </a:fld>
            <a:endParaRPr lang="en-GB" sz="1000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1EC2543-B771-3158-C839-DD8C2CB3DF6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985000" y="5013325"/>
            <a:ext cx="2730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EF4EB49-F1F8-4407-B986-F201FC8BDF92}" type="datetime'5''0''''''''''''''''''''''''''''''d+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50d+</a:t>
            </a:fld>
            <a:endParaRPr lang="en-GB" sz="1000" dirty="0"/>
          </a:p>
        </p:txBody>
      </p:sp>
      <p:graphicFrame>
        <p:nvGraphicFramePr>
          <p:cNvPr id="962" name="Chart 961">
            <a:extLst>
              <a:ext uri="{FF2B5EF4-FFF2-40B4-BE49-F238E27FC236}">
                <a16:creationId xmlns:a16="http://schemas.microsoft.com/office/drawing/2014/main" id="{FE8A39EC-9BF0-C5A2-05D2-3CB9193338B5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32064590"/>
              </p:ext>
            </p:extLst>
          </p:nvPr>
        </p:nvGraphicFramePr>
        <p:xfrm>
          <a:off x="7927975" y="1614488"/>
          <a:ext cx="4021138" cy="3538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EE54E153-59A2-880A-C8EE-E134DE15F547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8559800" y="5013325"/>
            <a:ext cx="5222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E86B6BA-6662-4B7B-82C2-6964EB10978D}" type="datetime'''''''''N''o'''' ''''''''''''Ma''''''''''''t''''''c''''''''h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No Match</a:t>
            </a:fld>
            <a:endParaRPr lang="en-GB" sz="1000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17038C38-F1AA-6D68-0AB6-C1397E90BEC4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9278938" y="5013325"/>
            <a:ext cx="6286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6D39519-11BD-47BF-8271-0DB27075A101}" type="datetime'Tie''r 1'' ''(''T''''angent''i''''''''''''''''''''a''l'''')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Tier 1 (Tangential)</a:t>
            </a:fld>
            <a:endParaRPr lang="en-GB" sz="1000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595587-D65E-9EE1-F7D5-3A047C5C5A94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10074275" y="5013325"/>
            <a:ext cx="585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A6D3BF6-169E-4F16-B749-CD994E8F6A53}" type="datetime'T''i''e''''''r'''''' ''''''''''2 (O''ver''sig''h''''''t)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Tier 2 (Oversight)</a:t>
            </a:fld>
            <a:endParaRPr lang="en-GB" sz="1000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B2C4EFC6-9A8A-31E4-A9E6-8D52182393F1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10779125" y="5013325"/>
            <a:ext cx="7207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E245D23-7605-4B0F-BB98-E1DF8B4CD08B}" type="datetime'''Ti''e''''r'''' 3'''''' ''''''''''(Dir''''e''c''t'''''')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Tier 3 (Direct)</a:t>
            </a:fld>
            <a:endParaRPr lang="en-GB" sz="10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6BCA75D-54B9-B013-65A4-96982085A39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9164638" y="6475413"/>
            <a:ext cx="250825" cy="187325"/>
          </a:xfrm>
          <a:prstGeom prst="rect">
            <a:avLst/>
          </a:prstGeom>
          <a:solidFill>
            <a:srgbClr val="F5A6A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7E0F651-3B97-D2B9-2AE4-018E781485E8}"/>
              </a:ext>
            </a:extLst>
          </p:cNvPr>
          <p:cNvCxnSpPr/>
          <p:nvPr>
            <p:custDataLst>
              <p:tags r:id="rId19"/>
            </p:custDataLst>
          </p:nvPr>
        </p:nvCxnSpPr>
        <p:spPr bwMode="gray">
          <a:xfrm>
            <a:off x="10467975" y="6569075"/>
            <a:ext cx="330200" cy="0"/>
          </a:xfrm>
          <a:prstGeom prst="line">
            <a:avLst/>
          </a:prstGeom>
          <a:ln w="19050" cap="rnd" cmpd="sng" algn="ctr">
            <a:solidFill>
              <a:srgbClr val="F088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02A3EB45-E196-8DF0-E798-843E01FBC75F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0588625" y="6524625"/>
            <a:ext cx="88900" cy="88900"/>
          </a:xfrm>
          <a:prstGeom prst="ellipse">
            <a:avLst/>
          </a:prstGeom>
          <a:solidFill>
            <a:srgbClr val="BF504D"/>
          </a:solidFill>
          <a:ln w="9525" cap="flat" cmpd="sng" algn="ctr">
            <a:solidFill>
              <a:srgbClr val="BF50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01F6F5C-F5AB-1C1A-6F0E-D913FDCBA249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9466262" y="6470650"/>
            <a:ext cx="890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/>
              <a:t>Median CAR</a:t>
            </a:r>
            <a:endParaRPr lang="en-GB" sz="1400" dirty="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DB1B9FE6-D2C7-1946-E0C2-3121014D40DB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10858500" y="6470650"/>
            <a:ext cx="5810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/>
              <a:t>Hit Rate</a:t>
            </a:r>
            <a:endParaRPr lang="en-GB" sz="1400" dirty="0"/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CA4122D8-1123-1FD4-33A6-FCF92C35A7BE}"/>
              </a:ext>
            </a:extLst>
          </p:cNvPr>
          <p:cNvSpPr txBox="1"/>
          <p:nvPr/>
        </p:nvSpPr>
        <p:spPr>
          <a:xfrm>
            <a:off x="217705" y="5064899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688E5984-44C8-F482-32BC-641792686B4C}"/>
              </a:ext>
            </a:extLst>
          </p:cNvPr>
          <p:cNvSpPr txBox="1"/>
          <p:nvPr/>
        </p:nvSpPr>
        <p:spPr>
          <a:xfrm>
            <a:off x="2898343" y="5072593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33CCB074-6E15-FAD3-73FE-941B48D4A677}"/>
              </a:ext>
            </a:extLst>
          </p:cNvPr>
          <p:cNvSpPr txBox="1"/>
          <p:nvPr/>
        </p:nvSpPr>
        <p:spPr>
          <a:xfrm>
            <a:off x="3446328" y="5064899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969" name="TextBox 968">
            <a:extLst>
              <a:ext uri="{FF2B5EF4-FFF2-40B4-BE49-F238E27FC236}">
                <a16:creationId xmlns:a16="http://schemas.microsoft.com/office/drawing/2014/main" id="{4EBDBB60-FAE0-E484-CFD8-A08192FE2CC7}"/>
              </a:ext>
            </a:extLst>
          </p:cNvPr>
          <p:cNvSpPr txBox="1"/>
          <p:nvPr/>
        </p:nvSpPr>
        <p:spPr>
          <a:xfrm>
            <a:off x="7379863" y="5072593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970" name="TextBox 969">
            <a:extLst>
              <a:ext uri="{FF2B5EF4-FFF2-40B4-BE49-F238E27FC236}">
                <a16:creationId xmlns:a16="http://schemas.microsoft.com/office/drawing/2014/main" id="{C4A73498-29EA-CB23-3DCD-144544486085}"/>
              </a:ext>
            </a:extLst>
          </p:cNvPr>
          <p:cNvSpPr txBox="1"/>
          <p:nvPr/>
        </p:nvSpPr>
        <p:spPr>
          <a:xfrm>
            <a:off x="7916728" y="5064899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971" name="TextBox 970">
            <a:extLst>
              <a:ext uri="{FF2B5EF4-FFF2-40B4-BE49-F238E27FC236}">
                <a16:creationId xmlns:a16="http://schemas.microsoft.com/office/drawing/2014/main" id="{211ECF81-70F8-27B4-D7E9-7ABE19C1F45B}"/>
              </a:ext>
            </a:extLst>
          </p:cNvPr>
          <p:cNvSpPr txBox="1"/>
          <p:nvPr/>
        </p:nvSpPr>
        <p:spPr>
          <a:xfrm>
            <a:off x="11522013" y="5072593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0BD359B5-9F61-49D8-C2ED-4D27D2287860}"/>
              </a:ext>
            </a:extLst>
          </p:cNvPr>
          <p:cNvSpPr txBox="1"/>
          <p:nvPr/>
        </p:nvSpPr>
        <p:spPr>
          <a:xfrm>
            <a:off x="756356" y="1412879"/>
            <a:ext cx="2141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Party Influence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B6FC4D74-7957-B05A-5FFF-75BE4689C833}"/>
              </a:ext>
            </a:extLst>
          </p:cNvPr>
          <p:cNvSpPr txBox="1"/>
          <p:nvPr/>
        </p:nvSpPr>
        <p:spPr>
          <a:xfrm>
            <a:off x="3974668" y="1412879"/>
            <a:ext cx="340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Disclosure delay (days)</a:t>
            </a:r>
          </a:p>
        </p:txBody>
      </p:sp>
      <p:sp>
        <p:nvSpPr>
          <p:cNvPr id="980" name="TextBox 979">
            <a:extLst>
              <a:ext uri="{FF2B5EF4-FFF2-40B4-BE49-F238E27FC236}">
                <a16:creationId xmlns:a16="http://schemas.microsoft.com/office/drawing/2014/main" id="{919898F4-8747-9CB1-A444-A888601F8E83}"/>
              </a:ext>
            </a:extLst>
          </p:cNvPr>
          <p:cNvSpPr txBox="1"/>
          <p:nvPr/>
        </p:nvSpPr>
        <p:spPr>
          <a:xfrm>
            <a:off x="8435543" y="1412879"/>
            <a:ext cx="3086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Committee influence</a:t>
            </a:r>
          </a:p>
        </p:txBody>
      </p:sp>
    </p:spTree>
    <p:extLst>
      <p:ext uri="{BB962C8B-B14F-4D97-AF65-F5344CB8AC3E}">
        <p14:creationId xmlns:p14="http://schemas.microsoft.com/office/powerpoint/2010/main" val="255632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242C-EEE6-456A-1F42-5EDA2B479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63B31E6C-1E42-10F2-0AC7-6CFBCB1C30C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69109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4" imgW="7772400" imgH="10058400" progId="TCLayout.ActiveDocument.1">
                  <p:embed/>
                </p:oleObj>
              </mc:Choice>
              <mc:Fallback>
                <p:oleObj name="think-cell Slide" r:id="rId6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B5FA508-B54D-F6ED-40BC-CE9CC7CBFA7E}"/>
              </a:ext>
            </a:extLst>
          </p:cNvPr>
          <p:cNvSpPr txBox="1"/>
          <p:nvPr/>
        </p:nvSpPr>
        <p:spPr>
          <a:xfrm>
            <a:off x="411480" y="164592"/>
            <a:ext cx="90554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Committee Membership Shows Selective Advantage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2CDD17-DBD8-E643-E034-FB005E61FD53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65A9F-8385-EEBD-186C-B266C18747CC}"/>
              </a:ext>
            </a:extLst>
          </p:cNvPr>
          <p:cNvSpPr txBox="1"/>
          <p:nvPr/>
        </p:nvSpPr>
        <p:spPr>
          <a:xfrm>
            <a:off x="217705" y="5726113"/>
            <a:ext cx="752453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Orange = flag=1 (on committee / in role / company lobbied)  ·  Blue = flag=0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All 9 committee categories shown — previously only 5 were displayed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Lobbied (90d): company had active lobbying disclosure in 90 days before filing date</a:t>
            </a:r>
          </a:p>
        </p:txBody>
      </p:sp>
      <p:graphicFrame>
        <p:nvGraphicFramePr>
          <p:cNvPr id="564" name="Chart 563">
            <a:extLst>
              <a:ext uri="{FF2B5EF4-FFF2-40B4-BE49-F238E27FC236}">
                <a16:creationId xmlns:a16="http://schemas.microsoft.com/office/drawing/2014/main" id="{03B60B16-9CD5-E166-C34C-1F62DBF57F9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35911491"/>
              </p:ext>
            </p:extLst>
          </p:nvPr>
        </p:nvGraphicFramePr>
        <p:xfrm>
          <a:off x="688975" y="1614488"/>
          <a:ext cx="6370638" cy="3462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6"/>
          </a:graphicData>
        </a:graphic>
      </p:graphicFrame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17A429DD-9997-9B8C-911E-7477E8758155}"/>
              </a:ext>
            </a:extLst>
          </p:cNvPr>
          <p:cNvCxnSpPr/>
          <p:nvPr>
            <p:custDataLst>
              <p:tags r:id="rId3"/>
            </p:custDataLst>
          </p:nvPr>
        </p:nvCxnSpPr>
        <p:spPr bwMode="gray">
          <a:xfrm>
            <a:off x="720725" y="237807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2" name="Straight Connector 491">
            <a:extLst>
              <a:ext uri="{FF2B5EF4-FFF2-40B4-BE49-F238E27FC236}">
                <a16:creationId xmlns:a16="http://schemas.microsoft.com/office/drawing/2014/main" id="{7E0D871C-A16B-BF84-AC36-2E8C01710423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720725" y="3024188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C177FDB5-F764-E53A-3E8E-AB47AB131ABD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720725" y="431641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FE8443D2-B564-7709-4215-90F92A519D62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720725" y="205422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9" name="Straight Connector 488">
            <a:extLst>
              <a:ext uri="{FF2B5EF4-FFF2-40B4-BE49-F238E27FC236}">
                <a16:creationId xmlns:a16="http://schemas.microsoft.com/office/drawing/2014/main" id="{801FCA96-039B-E313-F496-12FD2F6ECB9B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720725" y="399415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1F8F21A2-DED0-B61C-3618-D897AC54660E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720725" y="489426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3DD95CE8-62F4-D9DB-0659-5D5106B743D4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720725" y="367030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E932C7FF-B53F-725A-28C4-06138773CDB9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720725" y="2700338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5A261EDD-86EF-EEEE-472A-2B5AD863BB4D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720725" y="334645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Text Placeholder 2">
            <a:extLst>
              <a:ext uri="{FF2B5EF4-FFF2-40B4-BE49-F238E27FC236}">
                <a16:creationId xmlns:a16="http://schemas.microsoft.com/office/drawing/2014/main" id="{9106A774-0B22-844B-CEF3-548DF2DBA5E0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379413" y="4225925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8DC9C582-0474-47DE-B5E2-335A11D7414F}" type="datetime'''''-1'''''''''''''''''''',''''''''5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3" name="Text Placeholder 2">
            <a:extLst>
              <a:ext uri="{FF2B5EF4-FFF2-40B4-BE49-F238E27FC236}">
                <a16:creationId xmlns:a16="http://schemas.microsoft.com/office/drawing/2014/main" id="{3B9FCB05-5C2C-8F02-F1CF-8E6D019137FE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425450" y="2933700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8C454A3-4F05-4F45-82FA-797F75F3DDBC}" type="datetime'''''''0'''''',''''''''''''''''5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4" name="Text Placeholder 2">
            <a:extLst>
              <a:ext uri="{FF2B5EF4-FFF2-40B4-BE49-F238E27FC236}">
                <a16:creationId xmlns:a16="http://schemas.microsoft.com/office/drawing/2014/main" id="{637E14B4-D609-0C62-D758-25FF90554D6B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425450" y="2609850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7B00A10-4A52-4679-807C-F5003089F59D}" type="datetime'''''''''''''''1'''''''''''',''''0''''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2" name="Text Placeholder 2">
            <a:extLst>
              <a:ext uri="{FF2B5EF4-FFF2-40B4-BE49-F238E27FC236}">
                <a16:creationId xmlns:a16="http://schemas.microsoft.com/office/drawing/2014/main" id="{98DAB24B-74EE-534E-7FA5-4B3BD7DFAFB1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425450" y="3255963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A2804B70-A8B8-4DDF-9458-D62FB6E61F96}" type="datetime'''''''''''''0'''''''''''''''''''',''''''''''''''0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5" name="Text Placeholder 2">
            <a:extLst>
              <a:ext uri="{FF2B5EF4-FFF2-40B4-BE49-F238E27FC236}">
                <a16:creationId xmlns:a16="http://schemas.microsoft.com/office/drawing/2014/main" id="{AF417C1E-786C-4675-C36B-6C9560DC2A59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425450" y="2287588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76AA30FC-8D9C-425B-A913-9A1124D90A79}" type="datetime'''''''1'''''''''''''''''',''''''''''''''''''''''''''5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1" name="Text Placeholder 2">
            <a:extLst>
              <a:ext uri="{FF2B5EF4-FFF2-40B4-BE49-F238E27FC236}">
                <a16:creationId xmlns:a16="http://schemas.microsoft.com/office/drawing/2014/main" id="{0EBB7C55-BBB9-0EC0-415A-E72D3E57AB68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79413" y="3579813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76EDDF9-1393-42F5-A703-BC334F9D2001}" type="datetime'''''''''''''''-''''0'''''''''''''''''''''',''''5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6" name="Text Placeholder 2">
            <a:extLst>
              <a:ext uri="{FF2B5EF4-FFF2-40B4-BE49-F238E27FC236}">
                <a16:creationId xmlns:a16="http://schemas.microsoft.com/office/drawing/2014/main" id="{009AB052-BF57-9F4A-F309-1A60DF7727DA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425450" y="1963738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DB95C8D-81EE-47C6-A9CF-28478704C1F7}" type="datetime'2'',''''''''''''0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0" name="Text Placeholder 2">
            <a:extLst>
              <a:ext uri="{FF2B5EF4-FFF2-40B4-BE49-F238E27FC236}">
                <a16:creationId xmlns:a16="http://schemas.microsoft.com/office/drawing/2014/main" id="{B72648E8-96FF-3507-7D56-CF677B53FD8A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379413" y="3903663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3D70C31B-5DD8-43F7-BF27-E3DD08B443EB}" type="datetime'''''''''''''''''''-''1'''''''''',''''''''''''''''0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77" name="Text Placeholder 2">
            <a:extLst>
              <a:ext uri="{FF2B5EF4-FFF2-40B4-BE49-F238E27FC236}">
                <a16:creationId xmlns:a16="http://schemas.microsoft.com/office/drawing/2014/main" id="{69198624-6EA6-D6D1-C926-A6BF8E519935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379413" y="4803775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18571CD7-CDBD-4C2E-AA90-D0F0748057D6}" type="datetime'''''''''''-''''''4'',''''''0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-4,0</a:t>
            </a:fld>
            <a:endParaRPr lang="en-GB" sz="1200" dirty="0">
              <a:solidFill>
                <a:srgbClr val="A1A1A1"/>
              </a:solidFill>
            </a:endParaRPr>
          </a:p>
        </p:txBody>
      </p:sp>
      <p:sp useBgFill="1">
        <p:nvSpPr>
          <p:cNvPr id="538" name="Freeform 537">
            <a:extLst>
              <a:ext uri="{FF2B5EF4-FFF2-40B4-BE49-F238E27FC236}">
                <a16:creationId xmlns:a16="http://schemas.microsoft.com/office/drawing/2014/main" id="{A2CF7F02-0D64-1A88-FF64-3ABEB8E3B07A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698500" y="4502150"/>
            <a:ext cx="146051" cy="96839"/>
          </a:xfrm>
          <a:custGeom>
            <a:avLst/>
            <a:gdLst/>
            <a:ahLst/>
            <a:cxnLst/>
            <a:rect l="0" t="0" r="0" b="0"/>
            <a:pathLst>
              <a:path w="146051" h="96839">
                <a:moveTo>
                  <a:pt x="0" y="39688"/>
                </a:moveTo>
                <a:lnTo>
                  <a:pt x="146050" y="0"/>
                </a:lnTo>
                <a:lnTo>
                  <a:pt x="146050" y="57150"/>
                </a:lnTo>
                <a:lnTo>
                  <a:pt x="0" y="96838"/>
                </a:lnTo>
                <a:close/>
              </a:path>
            </a:pathLst>
          </a:cu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6" name="Freeform 535">
            <a:extLst>
              <a:ext uri="{FF2B5EF4-FFF2-40B4-BE49-F238E27FC236}">
                <a16:creationId xmlns:a16="http://schemas.microsoft.com/office/drawing/2014/main" id="{AC6BBB0B-2A54-0482-250D-1A070682312C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98500" y="4502150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7" name="Freeform 536">
            <a:extLst>
              <a:ext uri="{FF2B5EF4-FFF2-40B4-BE49-F238E27FC236}">
                <a16:creationId xmlns:a16="http://schemas.microsoft.com/office/drawing/2014/main" id="{4F28740A-1B3A-A9C6-D1C2-2EA70C3DCC5B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698500" y="4559300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A7B2159-C7F7-DE1E-E028-65C0E427D700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825500" y="4937125"/>
            <a:ext cx="5445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AA3C177-64F3-47F7-A6E6-5E557D62DEE1}" type="datetime'De''''''''fense'''''' &amp; ''''''''S''e''cu''ri''''t''y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Defense &amp; Security</a:t>
            </a:fld>
            <a:endParaRPr lang="en-GB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86B3403-DD39-2CA9-BB40-BE5ED3EF668E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1485900" y="4937125"/>
            <a:ext cx="527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4B234D9-438B-4F06-BB99-5A2C18C0D8F3}" type="datetime'F''''i''''''n''''''''an''ce ''''&amp;'''''' ''''H''ou''s''i''n''g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Finance &amp; Housing</a:t>
            </a:fld>
            <a:endParaRPr lang="en-GB" sz="100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E624209-06FB-7873-BC4A-DB72BA5D7693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2090738" y="4937125"/>
            <a:ext cx="6207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F3B8228-F5BC-4C4F-A9C5-FDC49F5B68CF}" type="datetime'F''''''isc''''''''''''a''''''''''l'' ''''P''''o''lic''''''y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Fiscal Policy</a:t>
            </a:fld>
            <a:endParaRPr lang="en-GB" sz="100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7AD0B8D-F48A-5DF5-0BC2-7412BE6F1980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2713038" y="4937125"/>
            <a:ext cx="6794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DD1FE23-3C5B-4AF7-AAD2-528009B8E356}" type="datetime'''En''erg''y'' &amp; ''''E''n''vir''on''''''''''m''e''''''nt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Energy &amp; Environment</a:t>
            </a:fld>
            <a:endParaRPr lang="en-GB" sz="1000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449022F-0AAA-18CF-032B-F93B5F6FCD99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3494088" y="4937125"/>
            <a:ext cx="4206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E8720BF-7292-43B5-88F3-BBAC0A3E0CD6}" type="datetime'H''eal''t''h'''''' ''&amp;'' ''''''''''''La''''b''or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Health &amp; Labor</a:t>
            </a:fld>
            <a:endParaRPr lang="en-GB" sz="1000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447E54A-E48A-5F7F-3F01-29D70B07094B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4068763" y="4937125"/>
            <a:ext cx="576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3035945-9585-4D16-AEFC-14DEF0ED1C41}" type="datetime'Com''''mer''''ce ''''''&amp;'''''''''' ''''''T''''''''ec''''''h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Commerce &amp; Tech</a:t>
            </a:fld>
            <a:endParaRPr lang="en-GB" sz="1000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C6360A-0F8C-9EFB-CA4C-CF67053ED00F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4714875" y="4937125"/>
            <a:ext cx="5857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248BA6D-0A97-466F-AACB-EA71C876E585}" type="datetime'''''''''''''''''''''A''''''''g''ri''c''ul''''t''ur''''''''''e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Agriculture</a:t>
            </a:fld>
            <a:endParaRPr lang="en-GB" sz="1000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5ECAF8B-BBD7-81E8-AF85-743EA9B7C17E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5295900" y="4937125"/>
            <a:ext cx="7286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529A75E-428D-4337-BB40-8777E4588BF7}" type="datetime'I''''''nf''''''r''''''a''s''tr''''''''''u''c''''''ture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Infrastructure</a:t>
            </a:fld>
            <a:endParaRPr lang="en-GB" sz="10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291BA49-C72F-826D-85EF-FCE42FDA5F08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6056313" y="4937125"/>
            <a:ext cx="5095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D0BE1A0-E840-43B4-924F-84EA0099109E}" type="datetime'''''''''O''''''''''''''''v''e''rsi''g''''''''''''h''t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Oversight</a:t>
            </a:fld>
            <a:endParaRPr lang="en-GB" sz="1000" dirty="0"/>
          </a:p>
        </p:txBody>
      </p:sp>
      <p:graphicFrame>
        <p:nvGraphicFramePr>
          <p:cNvPr id="552" name="Chart 551">
            <a:extLst>
              <a:ext uri="{FF2B5EF4-FFF2-40B4-BE49-F238E27FC236}">
                <a16:creationId xmlns:a16="http://schemas.microsoft.com/office/drawing/2014/main" id="{9A1E36A9-07CD-3989-7A8B-CDBD86DC9863}"/>
              </a:ext>
            </a:extLst>
          </p:cNvPr>
          <p:cNvGraphicFramePr/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1124285149"/>
              </p:ext>
            </p:extLst>
          </p:nvPr>
        </p:nvGraphicFramePr>
        <p:xfrm>
          <a:off x="7989888" y="1614488"/>
          <a:ext cx="3460750" cy="3538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7"/>
          </a:graphicData>
        </a:graphic>
      </p:graphicFrame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12FC2D60-6C9E-4B16-C54E-A0A8E554690C}"/>
              </a:ext>
            </a:extLst>
          </p:cNvPr>
          <p:cNvCxnSpPr/>
          <p:nvPr>
            <p:custDataLst>
              <p:tags r:id="rId34"/>
            </p:custDataLst>
          </p:nvPr>
        </p:nvCxnSpPr>
        <p:spPr bwMode="gray">
          <a:xfrm>
            <a:off x="8021638" y="3055938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FC5AD853-61D8-03EC-9F9D-BFC7285C0189}"/>
              </a:ext>
            </a:extLst>
          </p:cNvPr>
          <p:cNvCxnSpPr/>
          <p:nvPr>
            <p:custDataLst>
              <p:tags r:id="rId35"/>
            </p:custDataLst>
          </p:nvPr>
        </p:nvCxnSpPr>
        <p:spPr bwMode="gray">
          <a:xfrm>
            <a:off x="8021638" y="497046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73B86A51-00B6-1353-1DC6-4E38366FBEE4}"/>
              </a:ext>
            </a:extLst>
          </p:cNvPr>
          <p:cNvCxnSpPr/>
          <p:nvPr>
            <p:custDataLst>
              <p:tags r:id="rId36"/>
            </p:custDataLst>
          </p:nvPr>
        </p:nvCxnSpPr>
        <p:spPr bwMode="gray">
          <a:xfrm>
            <a:off x="8021638" y="206057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FB2E41E7-B80B-5369-FF2A-85B042D01C7F}"/>
              </a:ext>
            </a:extLst>
          </p:cNvPr>
          <p:cNvCxnSpPr/>
          <p:nvPr>
            <p:custDataLst>
              <p:tags r:id="rId37"/>
            </p:custDataLst>
          </p:nvPr>
        </p:nvCxnSpPr>
        <p:spPr bwMode="gray">
          <a:xfrm>
            <a:off x="8021638" y="438150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AFBC70E0-108C-B593-2513-F6F85999B36A}"/>
              </a:ext>
            </a:extLst>
          </p:cNvPr>
          <p:cNvCxnSpPr/>
          <p:nvPr>
            <p:custDataLst>
              <p:tags r:id="rId38"/>
            </p:custDataLst>
          </p:nvPr>
        </p:nvCxnSpPr>
        <p:spPr bwMode="gray">
          <a:xfrm>
            <a:off x="8021638" y="239236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CA6DBBFB-18A3-EC1D-5986-8A2C5A74E7EB}"/>
              </a:ext>
            </a:extLst>
          </p:cNvPr>
          <p:cNvCxnSpPr/>
          <p:nvPr>
            <p:custDataLst>
              <p:tags r:id="rId39"/>
            </p:custDataLst>
          </p:nvPr>
        </p:nvCxnSpPr>
        <p:spPr bwMode="gray">
          <a:xfrm>
            <a:off x="8021638" y="404971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1193C79F-F7FD-48BA-828C-6F86F93CEF1D}"/>
              </a:ext>
            </a:extLst>
          </p:cNvPr>
          <p:cNvCxnSpPr/>
          <p:nvPr>
            <p:custDataLst>
              <p:tags r:id="rId40"/>
            </p:custDataLst>
          </p:nvPr>
        </p:nvCxnSpPr>
        <p:spPr bwMode="gray">
          <a:xfrm>
            <a:off x="8021638" y="272415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38AD4A00-0E69-BA3E-D2DF-15F5D985D1AD}"/>
              </a:ext>
            </a:extLst>
          </p:cNvPr>
          <p:cNvCxnSpPr/>
          <p:nvPr>
            <p:custDataLst>
              <p:tags r:id="rId41"/>
            </p:custDataLst>
          </p:nvPr>
        </p:nvCxnSpPr>
        <p:spPr bwMode="gray">
          <a:xfrm>
            <a:off x="8021638" y="371792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25A3039-99BB-9740-7B14-B842F554376A}"/>
              </a:ext>
            </a:extLst>
          </p:cNvPr>
          <p:cNvCxnSpPr/>
          <p:nvPr>
            <p:custDataLst>
              <p:tags r:id="rId42"/>
            </p:custDataLst>
          </p:nvPr>
        </p:nvCxnSpPr>
        <p:spPr bwMode="gray">
          <a:xfrm>
            <a:off x="8021638" y="338772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6" name="Text Placeholder 2">
            <a:extLst>
              <a:ext uri="{FF2B5EF4-FFF2-40B4-BE49-F238E27FC236}">
                <a16:creationId xmlns:a16="http://schemas.microsoft.com/office/drawing/2014/main" id="{78B4A8A7-251A-582A-E949-3B97DDF4E417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7726363" y="2633663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B79053B-E1AF-4A35-80DE-797125853E93}" type="datetime'''''''''''1'''''''''''''''''',''''''''''''''''''''''0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5" name="Text Placeholder 2">
            <a:extLst>
              <a:ext uri="{FF2B5EF4-FFF2-40B4-BE49-F238E27FC236}">
                <a16:creationId xmlns:a16="http://schemas.microsoft.com/office/drawing/2014/main" id="{D551DCB4-9B37-8BFD-BD9C-31F26DE945FC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gray">
          <a:xfrm>
            <a:off x="7726363" y="2965450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FE4FE75-D738-4932-82B8-FF2E2134EDBB}" type="datetime'''''''''''0'''''''''''''''''''''''''''''''''''',''''5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4" name="Text Placeholder 2">
            <a:extLst>
              <a:ext uri="{FF2B5EF4-FFF2-40B4-BE49-F238E27FC236}">
                <a16:creationId xmlns:a16="http://schemas.microsoft.com/office/drawing/2014/main" id="{E46558E6-A445-6586-FC47-F800BDACED38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gray">
          <a:xfrm>
            <a:off x="7726363" y="3297238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5927B01-CAFF-44D7-A5AE-54C36550BDA5}" type="datetime'''''''''''0'''''''''''''''''''''''''''''''''''''''',''''0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3" name="Text Placeholder 2">
            <a:extLst>
              <a:ext uri="{FF2B5EF4-FFF2-40B4-BE49-F238E27FC236}">
                <a16:creationId xmlns:a16="http://schemas.microsoft.com/office/drawing/2014/main" id="{38EAB104-27FD-C318-DF2E-BD126DC21121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gray">
          <a:xfrm>
            <a:off x="7680325" y="3627438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1B492F3-A77E-425B-8117-DC392D72A460}" type="datetime'''''''''''''''''''''''''''-''''''''''''0,''''5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7" name="Text Placeholder 2">
            <a:extLst>
              <a:ext uri="{FF2B5EF4-FFF2-40B4-BE49-F238E27FC236}">
                <a16:creationId xmlns:a16="http://schemas.microsoft.com/office/drawing/2014/main" id="{A5E285E4-4F7F-9FF7-7B55-0E74BEF6309F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gray">
          <a:xfrm>
            <a:off x="7726363" y="2301875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770630C-5328-41CD-A5E0-D5A4FAAD9444}" type="datetime'''''''1'''''''''''''''''''''''''''''''''''''''''''''',5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2" name="Text Placeholder 2">
            <a:extLst>
              <a:ext uri="{FF2B5EF4-FFF2-40B4-BE49-F238E27FC236}">
                <a16:creationId xmlns:a16="http://schemas.microsoft.com/office/drawing/2014/main" id="{560541AD-D6AC-AF0C-208A-6E8C5BA2A383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gray">
          <a:xfrm>
            <a:off x="7680325" y="3959225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20FB51D-B1C8-4CF5-B60C-297C76136BDE}" type="datetime'''''''''''''-''''''''''''''''''''''''''''1'''',0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8" name="Text Placeholder 2">
            <a:extLst>
              <a:ext uri="{FF2B5EF4-FFF2-40B4-BE49-F238E27FC236}">
                <a16:creationId xmlns:a16="http://schemas.microsoft.com/office/drawing/2014/main" id="{23071747-86F1-451D-264F-3A55F972BA56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7726363" y="1970088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C20D02DF-F70A-452D-98AA-F28C2F6F8D7C}" type="datetime'''''''2'''''''''''''''''''''''''',''''0''''''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1" name="Text Placeholder 2">
            <a:extLst>
              <a:ext uri="{FF2B5EF4-FFF2-40B4-BE49-F238E27FC236}">
                <a16:creationId xmlns:a16="http://schemas.microsoft.com/office/drawing/2014/main" id="{9AC9B0B7-0078-54DE-4192-B0DF5185ACFE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gray">
          <a:xfrm>
            <a:off x="7680325" y="4291013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0AEE5FE-DB7C-485D-9F36-A61CC29B1ED2}" type="datetime'''''''''''''''''''''''''''''''''''''''-1'''',''''''''''''5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0" name="Text Placeholder 2">
            <a:extLst>
              <a:ext uri="{FF2B5EF4-FFF2-40B4-BE49-F238E27FC236}">
                <a16:creationId xmlns:a16="http://schemas.microsoft.com/office/drawing/2014/main" id="{CFA799ED-3C1B-5CC2-42D9-03C00FB55DEB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7680325" y="4879975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A0E08A5-6172-4A70-9574-90521DE80FFD}" type="datetime'''''''-''4'''',''''''''''''''''''''''0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-4,0</a:t>
            </a:fld>
            <a:endParaRPr lang="en-GB" sz="1200" dirty="0">
              <a:solidFill>
                <a:srgbClr val="A1A1A1"/>
              </a:solidFill>
            </a:endParaRPr>
          </a:p>
        </p:txBody>
      </p:sp>
      <p:sp useBgFill="1">
        <p:nvSpPr>
          <p:cNvPr id="542" name="Freeform 541">
            <a:extLst>
              <a:ext uri="{FF2B5EF4-FFF2-40B4-BE49-F238E27FC236}">
                <a16:creationId xmlns:a16="http://schemas.microsoft.com/office/drawing/2014/main" id="{A23F654D-D017-6C4C-A7C0-AE97A375E1A2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7999413" y="4572000"/>
            <a:ext cx="146051" cy="96839"/>
          </a:xfrm>
          <a:custGeom>
            <a:avLst/>
            <a:gdLst/>
            <a:ahLst/>
            <a:cxnLst/>
            <a:rect l="0" t="0" r="0" b="0"/>
            <a:pathLst>
              <a:path w="146051" h="96839">
                <a:moveTo>
                  <a:pt x="0" y="39688"/>
                </a:moveTo>
                <a:lnTo>
                  <a:pt x="146050" y="0"/>
                </a:lnTo>
                <a:lnTo>
                  <a:pt x="146050" y="57150"/>
                </a:lnTo>
                <a:lnTo>
                  <a:pt x="0" y="96838"/>
                </a:lnTo>
                <a:close/>
              </a:path>
            </a:pathLst>
          </a:cu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0" name="Freeform 539">
            <a:extLst>
              <a:ext uri="{FF2B5EF4-FFF2-40B4-BE49-F238E27FC236}">
                <a16:creationId xmlns:a16="http://schemas.microsoft.com/office/drawing/2014/main" id="{2EE1F50B-DC73-829F-E9E4-4AB98758415F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7999413" y="4572000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1" name="Freeform 540">
            <a:extLst>
              <a:ext uri="{FF2B5EF4-FFF2-40B4-BE49-F238E27FC236}">
                <a16:creationId xmlns:a16="http://schemas.microsoft.com/office/drawing/2014/main" id="{E047A95C-D384-E68F-89C7-9C913D83CBFA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7999413" y="4629150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AC4FA5D-D611-25DD-B35A-80E2F5797D77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8120063" y="5013325"/>
            <a:ext cx="8890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B842E68-9D9F-4869-93CE-027D9799D5D5}" type="datetime'C''''''o''''mmi''''t''''tee C''''''''''''''''hai''r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Committee Chair</a:t>
            </a:fld>
            <a:endParaRPr lang="en-GB" sz="10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C873732-940F-CAF4-B622-075E99BD3884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auto">
          <a:xfrm>
            <a:off x="9174163" y="5013325"/>
            <a:ext cx="7493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EE5C60D-B800-473C-9BE5-1A85531FD38C}" type="datetime'Ma''j''''o''''''''ri''''''''''''ty'' ''P''ar''t''''''y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Majority Party</a:t>
            </a:fld>
            <a:endParaRPr lang="en-GB" sz="1000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EDD3004-34B0-C49E-B5C1-ED4BFC5F3C57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auto">
          <a:xfrm>
            <a:off x="10171113" y="5013325"/>
            <a:ext cx="7270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FC7D296-9F33-43B9-85CD-4A98018131E1}" type="datetime'''L''o''''''''''''b''''''''b''''ie''d (9''''''''''0d)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Lobbied (90d)</a:t>
            </a:fld>
            <a:endParaRPr lang="en-GB" sz="1000" dirty="0"/>
          </a:p>
        </p:txBody>
      </p:sp>
      <p:sp>
        <p:nvSpPr>
          <p:cNvPr id="553" name="TextBox 552">
            <a:extLst>
              <a:ext uri="{FF2B5EF4-FFF2-40B4-BE49-F238E27FC236}">
                <a16:creationId xmlns:a16="http://schemas.microsoft.com/office/drawing/2014/main" id="{C4690DDC-2596-D95A-FE26-C33C94730632}"/>
              </a:ext>
            </a:extLst>
          </p:cNvPr>
          <p:cNvSpPr txBox="1"/>
          <p:nvPr/>
        </p:nvSpPr>
        <p:spPr>
          <a:xfrm>
            <a:off x="217705" y="5064899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C9DBD5DB-1141-AC6B-7DDE-B94787727C00}"/>
              </a:ext>
            </a:extLst>
          </p:cNvPr>
          <p:cNvSpPr txBox="1"/>
          <p:nvPr/>
        </p:nvSpPr>
        <p:spPr>
          <a:xfrm>
            <a:off x="6610351" y="501851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C7ACD67E-6CD0-6AD9-A0EB-CCE066EF4A98}"/>
              </a:ext>
            </a:extLst>
          </p:cNvPr>
          <p:cNvSpPr txBox="1"/>
          <p:nvPr/>
        </p:nvSpPr>
        <p:spPr>
          <a:xfrm>
            <a:off x="7497777" y="5064899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97F9CA85-1E1C-4321-0857-CA284E1BDA2B}"/>
              </a:ext>
            </a:extLst>
          </p:cNvPr>
          <p:cNvSpPr txBox="1"/>
          <p:nvPr/>
        </p:nvSpPr>
        <p:spPr>
          <a:xfrm>
            <a:off x="11047534" y="501851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7692CFCE-6261-7E4E-5761-C356F020D6C2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9231313" y="6575425"/>
            <a:ext cx="250825" cy="187325"/>
          </a:xfrm>
          <a:prstGeom prst="rect">
            <a:avLst/>
          </a:prstGeom>
          <a:solidFill>
            <a:srgbClr val="F5A6A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3A950B7E-19F8-1D61-212B-83462EB585DB}"/>
              </a:ext>
            </a:extLst>
          </p:cNvPr>
          <p:cNvCxnSpPr/>
          <p:nvPr>
            <p:custDataLst>
              <p:tags r:id="rId59"/>
            </p:custDataLst>
          </p:nvPr>
        </p:nvCxnSpPr>
        <p:spPr bwMode="gray">
          <a:xfrm>
            <a:off x="10482263" y="6669088"/>
            <a:ext cx="330200" cy="0"/>
          </a:xfrm>
          <a:prstGeom prst="line">
            <a:avLst/>
          </a:prstGeom>
          <a:ln w="19050" cap="rnd" cmpd="sng" algn="ctr">
            <a:solidFill>
              <a:srgbClr val="F088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3" name="Oval 562">
            <a:extLst>
              <a:ext uri="{FF2B5EF4-FFF2-40B4-BE49-F238E27FC236}">
                <a16:creationId xmlns:a16="http://schemas.microsoft.com/office/drawing/2014/main" id="{AB14A359-0DC3-0220-0608-C2D66628E6B0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10602913" y="6624638"/>
            <a:ext cx="88900" cy="88900"/>
          </a:xfrm>
          <a:prstGeom prst="ellipse">
            <a:avLst/>
          </a:prstGeom>
          <a:solidFill>
            <a:srgbClr val="BF504D"/>
          </a:solidFill>
          <a:ln w="9525" cap="flat" cmpd="sng" algn="ctr">
            <a:solidFill>
              <a:srgbClr val="BF50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7" name="Text Placeholder 2">
            <a:extLst>
              <a:ext uri="{FF2B5EF4-FFF2-40B4-BE49-F238E27FC236}">
                <a16:creationId xmlns:a16="http://schemas.microsoft.com/office/drawing/2014/main" id="{95F84C26-92E0-8C28-DF11-9B84752FFCBD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auto">
          <a:xfrm>
            <a:off x="9532938" y="6570663"/>
            <a:ext cx="838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Median Car</a:t>
            </a:r>
            <a:endParaRPr lang="en-GB" sz="1400" dirty="0"/>
          </a:p>
        </p:txBody>
      </p:sp>
      <p:sp>
        <p:nvSpPr>
          <p:cNvPr id="559" name="Text Placeholder 2">
            <a:extLst>
              <a:ext uri="{FF2B5EF4-FFF2-40B4-BE49-F238E27FC236}">
                <a16:creationId xmlns:a16="http://schemas.microsoft.com/office/drawing/2014/main" id="{42F63C86-0956-5309-8BD5-8274ACC27DDA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auto">
          <a:xfrm>
            <a:off x="10872788" y="6570663"/>
            <a:ext cx="5810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Hit Rate</a:t>
            </a:r>
            <a:endParaRPr lang="en-GB" sz="1400" dirty="0"/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A16BDB22-CF3D-AF5E-73E9-BAA01753D1F1}"/>
              </a:ext>
            </a:extLst>
          </p:cNvPr>
          <p:cNvSpPr txBox="1"/>
          <p:nvPr/>
        </p:nvSpPr>
        <p:spPr>
          <a:xfrm>
            <a:off x="756356" y="1412879"/>
            <a:ext cx="5853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Type of committee</a:t>
            </a: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1F45784E-B36B-67CE-BA1A-BCE4775A3AE6}"/>
              </a:ext>
            </a:extLst>
          </p:cNvPr>
          <p:cNvSpPr txBox="1"/>
          <p:nvPr/>
        </p:nvSpPr>
        <p:spPr>
          <a:xfrm>
            <a:off x="7923151" y="1412879"/>
            <a:ext cx="3284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Additional committee activity</a:t>
            </a:r>
          </a:p>
        </p:txBody>
      </p:sp>
    </p:spTree>
    <p:extLst>
      <p:ext uri="{BB962C8B-B14F-4D97-AF65-F5344CB8AC3E}">
        <p14:creationId xmlns:p14="http://schemas.microsoft.com/office/powerpoint/2010/main" val="3242160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B0629-EE17-C5FD-0B89-8AB98FC8F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hink-cell data - do not delete" hidden="1">
            <a:extLst>
              <a:ext uri="{FF2B5EF4-FFF2-40B4-BE49-F238E27FC236}">
                <a16:creationId xmlns:a16="http://schemas.microsoft.com/office/drawing/2014/main" id="{15C41BC3-8E12-2E6A-F673-E8F12485EE2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079823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9" imgW="7772400" imgH="10058400" progId="TCLayout.ActiveDocument.1">
                  <p:embed/>
                </p:oleObj>
              </mc:Choice>
              <mc:Fallback>
                <p:oleObj name="think-cell Slide" r:id="rId49" imgW="7772400" imgH="10058400" progId="TCLayout.ActiveDocument.1">
                  <p:embed/>
                  <p:pic>
                    <p:nvPicPr>
                      <p:cNvPr id="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B1C413-B248-2EA3-7CE3-08C0BBCF90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57E9F99-95D4-CCFF-EB5C-46FDACA63AB4}"/>
              </a:ext>
            </a:extLst>
          </p:cNvPr>
          <p:cNvSpPr txBox="1"/>
          <p:nvPr/>
        </p:nvSpPr>
        <p:spPr>
          <a:xfrm>
            <a:off x="411480" y="164592"/>
            <a:ext cx="48592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3200" b="1" dirty="0"/>
              <a:t>Can an AI Model do </a:t>
            </a:r>
            <a:r>
              <a:rPr lang="it-IT" sz="3200" b="1" dirty="0" err="1"/>
              <a:t>better</a:t>
            </a:r>
            <a:r>
              <a:rPr lang="it-IT" sz="3200" b="1" dirty="0"/>
              <a:t>?</a:t>
            </a:r>
            <a:endParaRPr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ACA61D-0CE8-76D5-68F4-B9CF7C35A999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725D95-8212-A5F7-664E-EE794A601585}"/>
              </a:ext>
            </a:extLst>
          </p:cNvPr>
          <p:cNvSpPr/>
          <p:nvPr/>
        </p:nvSpPr>
        <p:spPr>
          <a:xfrm>
            <a:off x="9244013" y="2138363"/>
            <a:ext cx="2504440" cy="98583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07A08-C354-3E67-8A2A-59FBF5D2073B}"/>
              </a:ext>
            </a:extLst>
          </p:cNvPr>
          <p:cNvSpPr/>
          <p:nvPr/>
        </p:nvSpPr>
        <p:spPr>
          <a:xfrm>
            <a:off x="9244013" y="3313113"/>
            <a:ext cx="2504440" cy="98583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BE26C2-FF5C-7A75-7A0C-2101C3522B2A}"/>
              </a:ext>
            </a:extLst>
          </p:cNvPr>
          <p:cNvSpPr/>
          <p:nvPr/>
        </p:nvSpPr>
        <p:spPr>
          <a:xfrm>
            <a:off x="9244013" y="4440238"/>
            <a:ext cx="2504440" cy="98583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8F3548-8B9F-7D5E-16AC-6CFC67B9596E}"/>
              </a:ext>
            </a:extLst>
          </p:cNvPr>
          <p:cNvSpPr txBox="1"/>
          <p:nvPr/>
        </p:nvSpPr>
        <p:spPr>
          <a:xfrm>
            <a:off x="9296400" y="2308225"/>
            <a:ext cx="2398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2</a:t>
            </a:r>
          </a:p>
          <a:p>
            <a:pPr algn="ctr"/>
            <a:r>
              <a:rPr lang="en-GB" dirty="0"/>
              <a:t>Y</a:t>
            </a:r>
            <a:r>
              <a:rPr lang="en-IT" dirty="0"/>
              <a:t>ears of prediction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9456C0-87F1-A1C2-8FFB-5F5ECDC412A1}"/>
              </a:ext>
            </a:extLst>
          </p:cNvPr>
          <p:cNvSpPr txBox="1"/>
          <p:nvPr/>
        </p:nvSpPr>
        <p:spPr>
          <a:xfrm>
            <a:off x="9455216" y="3443847"/>
            <a:ext cx="88601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+0,5%</a:t>
            </a:r>
          </a:p>
          <a:p>
            <a:pPr algn="ctr"/>
            <a:r>
              <a:rPr lang="en-IT" sz="1400" dirty="0"/>
              <a:t>Optimal </a:t>
            </a:r>
            <a:br>
              <a:rPr lang="en-IT" sz="1400" dirty="0"/>
            </a:br>
            <a:r>
              <a:rPr lang="en-GB" sz="1400" dirty="0"/>
              <a:t>threshold</a:t>
            </a:r>
            <a:endParaRPr lang="en-IT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5B1737-0992-16A0-5FBC-E329762E3B11}"/>
              </a:ext>
            </a:extLst>
          </p:cNvPr>
          <p:cNvSpPr txBox="1"/>
          <p:nvPr/>
        </p:nvSpPr>
        <p:spPr>
          <a:xfrm>
            <a:off x="9455215" y="4565496"/>
            <a:ext cx="88601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51,5%</a:t>
            </a:r>
          </a:p>
          <a:p>
            <a:pPr algn="ctr"/>
            <a:r>
              <a:rPr lang="en-IT" sz="1400" dirty="0"/>
              <a:t>Optimal </a:t>
            </a:r>
            <a:br>
              <a:rPr lang="en-IT" sz="1400" dirty="0"/>
            </a:br>
            <a:r>
              <a:rPr lang="en-GB" sz="1400" dirty="0"/>
              <a:t>threshold</a:t>
            </a:r>
            <a:endParaRPr lang="en-IT" sz="1400" dirty="0"/>
          </a:p>
        </p:txBody>
      </p:sp>
      <p:graphicFrame>
        <p:nvGraphicFramePr>
          <p:cNvPr id="152" name="Chart 151">
            <a:extLst>
              <a:ext uri="{FF2B5EF4-FFF2-40B4-BE49-F238E27FC236}">
                <a16:creationId xmlns:a16="http://schemas.microsoft.com/office/drawing/2014/main" id="{DF36BCAB-4E70-CF4F-74EF-92C9E598EB5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06554745"/>
              </p:ext>
            </p:extLst>
          </p:nvPr>
        </p:nvGraphicFramePr>
        <p:xfrm>
          <a:off x="687388" y="1993900"/>
          <a:ext cx="8350250" cy="361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1"/>
          </a:graphicData>
        </a:graphic>
      </p:graphicFrame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453DCDD-C3BD-88CF-E55A-4D4F64FED970}"/>
              </a:ext>
            </a:extLst>
          </p:cNvPr>
          <p:cNvCxnSpPr/>
          <p:nvPr>
            <p:custDataLst>
              <p:tags r:id="rId3"/>
            </p:custDataLst>
          </p:nvPr>
        </p:nvCxnSpPr>
        <p:spPr bwMode="gray">
          <a:xfrm>
            <a:off x="719138" y="346710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6ED3A-B5C7-5828-F140-BC50F310424A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719138" y="542607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AB176F3-E836-A474-14FC-1768BBFEF069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719138" y="482600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6E501C-0140-4FDF-7A54-E5ECB4675D57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719138" y="2446338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6650D85-54C8-A409-8122-C03F634F1056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719138" y="448627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94BEAD2-2FD5-90CF-3C0D-4E28A185643F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719138" y="278606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B3C6142-BAB4-EA14-F3CC-9F9DB3BA0F29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719138" y="414655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FF55AC4-2FCD-C018-A3C3-FE71D37686FF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719138" y="3125788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506A455-62E7-D1E2-71CB-1ADEEE80489F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719138" y="380682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521CC6C-C734-279A-7BA6-E5D5B898CFF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377825" y="5335588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993D42D-1773-4E9B-8F7B-6F5774FE9F8D}" type="datetime'''''''''''''''''''''-''4'''''''''''''',''''''''0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-4,0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37A46E3-4118-3F7F-F248-3BECF7FB2BA9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377825" y="4735513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C2D3FB6-0DDB-47A6-8D2F-5EDB19492197}" type="datetime'''''''''''''-''''''''''1'''''''''''',5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CD30DC8-B2E4-D824-08DD-59695A6C4841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423863" y="3035300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1147916A-3A3D-4F5E-93F6-0E3441B052D4}" type="datetime'''''''''''''''''''1'''',''''0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92DEA386-7783-FF18-8CB9-E110717EDDBD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423863" y="3716338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99A8EA0-6515-496B-9648-7F08B0727449}" type="datetime'''0'''''''''''',''''''''''''''''''''''''0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FD5B47FB-6790-BC16-3AEC-954D60AC127E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423863" y="2695575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93B2868-ED0A-4A62-984F-848287649C24}" type="datetime'1'''''''''''',''''''''''''''5''''''''''''''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60DE8E4-E6A9-126F-B67A-D03DA7017C3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77825" y="4056063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F8C5EFA-3FFC-4D68-A136-4D9333070A14}" type="datetime'''''-''''''''''''''''''''''''0'',''5''''''''''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6515685-318D-598B-690C-3F6F54C95DA7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423863" y="2355850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35BD6850-2400-4E37-B95B-CA6809564065}" type="datetime'''''''''''''''''''''''''''2'''''''''',''''0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B5661673-BE8D-8B6F-897A-938FF9F73FE1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377825" y="4395788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1F045A1-8FE0-484A-981C-60CD87BDAD58}" type="datetime'''''''''''''''''''''''''''''''''-''''''''''1,''''''''''0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1F2E7AB-7D5D-8493-CE9C-CF79568CEC63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423863" y="3376613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0706915-A2E9-4290-9D62-9D35E8ECD53D}" type="datetime'''''''''''''''''''''''''''''''0'''',''5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 useBgFill="1">
        <p:nvSpPr>
          <p:cNvPr id="103" name="Freeform 102">
            <a:extLst>
              <a:ext uri="{FF2B5EF4-FFF2-40B4-BE49-F238E27FC236}">
                <a16:creationId xmlns:a16="http://schemas.microsoft.com/office/drawing/2014/main" id="{5A74C12A-FDD6-18D7-10C7-232659155AD0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7932738" y="5027613"/>
            <a:ext cx="577851" cy="79376"/>
          </a:xfrm>
          <a:custGeom>
            <a:avLst/>
            <a:gdLst/>
            <a:ahLst/>
            <a:cxnLst/>
            <a:rect l="0" t="0" r="0" b="0"/>
            <a:pathLst>
              <a:path w="577851" h="7937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  <a:lnTo>
                  <a:pt x="495300" y="22225"/>
                </a:lnTo>
                <a:lnTo>
                  <a:pt x="577850" y="0"/>
                </a:lnTo>
                <a:lnTo>
                  <a:pt x="577850" y="57150"/>
                </a:lnTo>
                <a:lnTo>
                  <a:pt x="495300" y="79375"/>
                </a:lnTo>
                <a:lnTo>
                  <a:pt x="412750" y="57150"/>
                </a:lnTo>
                <a:lnTo>
                  <a:pt x="330200" y="79375"/>
                </a:lnTo>
                <a:lnTo>
                  <a:pt x="247650" y="57150"/>
                </a:lnTo>
                <a:lnTo>
                  <a:pt x="165100" y="79375"/>
                </a:lnTo>
                <a:lnTo>
                  <a:pt x="82550" y="57150"/>
                </a:lnTo>
                <a:lnTo>
                  <a:pt x="0" y="79375"/>
                </a:lnTo>
                <a:close/>
              </a:path>
            </a:pathLst>
          </a:cu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 useBgFill="1">
        <p:nvSpPr>
          <p:cNvPr id="100" name="Freeform 99">
            <a:extLst>
              <a:ext uri="{FF2B5EF4-FFF2-40B4-BE49-F238E27FC236}">
                <a16:creationId xmlns:a16="http://schemas.microsoft.com/office/drawing/2014/main" id="{48069E9B-9C89-B194-9C85-8A4BCAF2BFEC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96913" y="5019675"/>
            <a:ext cx="146051" cy="96838"/>
          </a:xfrm>
          <a:custGeom>
            <a:avLst/>
            <a:gdLst/>
            <a:ahLst/>
            <a:cxnLst/>
            <a:rect l="0" t="0" r="0" b="0"/>
            <a:pathLst>
              <a:path w="146051" h="96838">
                <a:moveTo>
                  <a:pt x="0" y="39687"/>
                </a:moveTo>
                <a:lnTo>
                  <a:pt x="146050" y="0"/>
                </a:lnTo>
                <a:lnTo>
                  <a:pt x="146050" y="57150"/>
                </a:lnTo>
                <a:lnTo>
                  <a:pt x="0" y="96837"/>
                </a:lnTo>
                <a:close/>
              </a:path>
            </a:pathLst>
          </a:cu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Freeform 97">
            <a:extLst>
              <a:ext uri="{FF2B5EF4-FFF2-40B4-BE49-F238E27FC236}">
                <a16:creationId xmlns:a16="http://schemas.microsoft.com/office/drawing/2014/main" id="{59BB16DD-FA74-919C-69F8-23008C75832A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696913" y="5019675"/>
            <a:ext cx="146051" cy="39688"/>
          </a:xfrm>
          <a:custGeom>
            <a:avLst/>
            <a:gdLst/>
            <a:ahLst/>
            <a:cxnLst/>
            <a:rect l="0" t="0" r="0" b="0"/>
            <a:pathLst>
              <a:path w="146051" h="39688">
                <a:moveTo>
                  <a:pt x="0" y="39687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Freeform 98">
            <a:extLst>
              <a:ext uri="{FF2B5EF4-FFF2-40B4-BE49-F238E27FC236}">
                <a16:creationId xmlns:a16="http://schemas.microsoft.com/office/drawing/2014/main" id="{1F37E7A8-85EB-8018-4AFC-E555AEC9E92A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96913" y="5076825"/>
            <a:ext cx="146051" cy="39688"/>
          </a:xfrm>
          <a:custGeom>
            <a:avLst/>
            <a:gdLst/>
            <a:ahLst/>
            <a:cxnLst/>
            <a:rect l="0" t="0" r="0" b="0"/>
            <a:pathLst>
              <a:path w="146051" h="39688">
                <a:moveTo>
                  <a:pt x="0" y="39687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E0C6CA92-F379-BED2-7C72-282BBAF340CF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7932738" y="5027613"/>
            <a:ext cx="577851" cy="22226"/>
          </a:xfrm>
          <a:custGeom>
            <a:avLst/>
            <a:gdLst/>
            <a:ahLst/>
            <a:cxnLst/>
            <a:rect l="0" t="0" r="0" b="0"/>
            <a:pathLst>
              <a:path w="5778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  <a:lnTo>
                  <a:pt x="495300" y="22225"/>
                </a:lnTo>
                <a:lnTo>
                  <a:pt x="577850" y="0"/>
                </a:lnTo>
              </a:path>
            </a:pathLst>
          </a:cu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BA0FBD03-B0E7-D84A-1F50-235E673E9C1B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7932738" y="5084763"/>
            <a:ext cx="577851" cy="22226"/>
          </a:xfrm>
          <a:custGeom>
            <a:avLst/>
            <a:gdLst/>
            <a:ahLst/>
            <a:cxnLst/>
            <a:rect l="0" t="0" r="0" b="0"/>
            <a:pathLst>
              <a:path w="5778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  <a:lnTo>
                  <a:pt x="495300" y="22225"/>
                </a:lnTo>
                <a:lnTo>
                  <a:pt x="577850" y="0"/>
                </a:lnTo>
              </a:path>
            </a:pathLst>
          </a:cu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2309E08-5705-8435-90B5-E73C41C5FBD3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3398838" y="54689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A138414-EA9F-4255-B878-4E436B09F1E2}" type="datetime'''''''''''6''''5''''''''''''''''''%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65%</a:t>
            </a:fld>
            <a:endParaRPr lang="en-GB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C3102C4-D952-7526-9309-5D16571EF8DC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4967288" y="54689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AFD7A71-44FD-49CB-BC43-DB3B46252380}" type="datetime'''''''''7''''5''''''''''''''''''''''''''%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75%</a:t>
            </a:fld>
            <a:endParaRPr lang="en-GB" sz="10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E7677F1-A3C0-608B-8FD4-B1BD2A82A4C4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5751513" y="54689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5EE5958-AD59-4CD9-B92A-951DF6BED4FA}" type="datetime'''8''0''''''''''%''''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80%</a:t>
            </a:fld>
            <a:endParaRPr lang="en-GB" sz="10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E22D422-B295-B6F0-46C9-F95C11AA6B07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6537325" y="54689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260DAFA-ACD7-44A6-89D8-0C6F7C3D5934}" type="datetime'''''8''''''''''''''''''''''''''''''''''''''5''''''%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85%</a:t>
            </a:fld>
            <a:endParaRPr lang="en-GB" sz="100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698DA06-31BC-2308-EFBA-0C47FD46F60B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7321550" y="54689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F972034-044E-4ACD-8A1C-E3129B2B2AEF}" type="datetime'9''''''''0''''''''''''''''''''%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90%</a:t>
            </a:fld>
            <a:endParaRPr lang="en-GB" sz="1000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6AB3F6D-EE1F-9BF1-8870-CA86B4D4B96A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8105775" y="54689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9B8D667-D178-48EE-BD06-C9841CF45338}" type="datetime'''''''''''9''''''''''''5''''%''''''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95%</a:t>
            </a:fld>
            <a:endParaRPr lang="en-GB" sz="10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A90A3DB-B7E3-98B0-52F7-64BEFF32F49F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2614613" y="54689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826FFEF-50C8-41E8-9DE6-C213640959F1}" type="datetime'''''''''''''''''''''''''''''''''6''''''''''''''''''0''''%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60%</a:t>
            </a:fld>
            <a:endParaRPr lang="en-GB" sz="10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615FA21-A520-A8AB-7361-A386127717B0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1828800" y="54689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7649D47-9C9D-45DA-8DF6-2DCA428270FB}" type="datetime'''''''5''''5''''''''''''%''''''''''''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55%</a:t>
            </a:fld>
            <a:endParaRPr lang="en-GB" sz="10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D427798-4E6B-3697-2254-0C7EB8F88253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auto">
          <a:xfrm>
            <a:off x="1044575" y="54689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A98EEC0-8277-48FA-8BC2-7355BEF47EAC}" type="datetime'''''''''''''''''''5''''''0''%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50%</a:t>
            </a:fld>
            <a:endParaRPr lang="en-GB" sz="1000" dirty="0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D2C23DC6-6AC9-DC45-24E8-1E9BDC26A15F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8124825" y="5157788"/>
            <a:ext cx="1952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436F380-826E-438D-BD50-D2F98E74A315}" type="datetime'''''''-''''4''''''''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-4</a:t>
            </a:fld>
            <a:endParaRPr lang="en-GB" sz="1400" dirty="0"/>
          </a:p>
        </p:txBody>
      </p:sp>
      <p:sp>
        <p:nvSpPr>
          <p:cNvPr id="107" name="Text Placeholder 2">
            <a:extLst>
              <a:ext uri="{FF2B5EF4-FFF2-40B4-BE49-F238E27FC236}">
                <a16:creationId xmlns:a16="http://schemas.microsoft.com/office/drawing/2014/main" id="{7C3DEA9A-9C0F-F031-972F-74C1E0148D33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982663" y="4848225"/>
            <a:ext cx="357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1.3k</a:t>
            </a:r>
          </a:p>
        </p:txBody>
      </p:sp>
      <p:sp useBgFill="1">
        <p:nvSpPr>
          <p:cNvPr id="110" name="Text Placeholder 2">
            <a:extLst>
              <a:ext uri="{FF2B5EF4-FFF2-40B4-BE49-F238E27FC236}">
                <a16:creationId xmlns:a16="http://schemas.microsoft.com/office/drawing/2014/main" id="{A238BB45-A9C0-A467-B3B2-03D93C037B3D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1766888" y="4730750"/>
            <a:ext cx="3571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1.1k</a:t>
            </a:r>
          </a:p>
        </p:txBody>
      </p:sp>
      <p:sp useBgFill="1">
        <p:nvSpPr>
          <p:cNvPr id="112" name="Text Placeholder 2">
            <a:extLst>
              <a:ext uri="{FF2B5EF4-FFF2-40B4-BE49-F238E27FC236}">
                <a16:creationId xmlns:a16="http://schemas.microsoft.com/office/drawing/2014/main" id="{566FC02D-1D2D-F7DD-0A4F-0D66F6823C9A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2570163" y="432593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887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C6F35CD4-A6C9-2431-D639-A3BF78041648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3354388" y="4187825"/>
            <a:ext cx="3222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683</a:t>
            </a:r>
          </a:p>
        </p:txBody>
      </p:sp>
      <p:sp useBgFill="1">
        <p:nvSpPr>
          <p:cNvPr id="119" name="Text Placeholder 2">
            <a:extLst>
              <a:ext uri="{FF2B5EF4-FFF2-40B4-BE49-F238E27FC236}">
                <a16:creationId xmlns:a16="http://schemas.microsoft.com/office/drawing/2014/main" id="{07C35FD4-97EB-DEA9-2304-FED70E53E4F5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4138613" y="39989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495</a:t>
            </a:r>
            <a:endParaRPr lang="en-GB" sz="1400" dirty="0"/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9E7CA14-90B3-AFA3-BAE0-C76282FC8385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4922838" y="3233738"/>
            <a:ext cx="3222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347</a:t>
            </a:r>
          </a:p>
        </p:txBody>
      </p:sp>
      <p:sp>
        <p:nvSpPr>
          <p:cNvPr id="124" name="Text Placeholder 2">
            <a:extLst>
              <a:ext uri="{FF2B5EF4-FFF2-40B4-BE49-F238E27FC236}">
                <a16:creationId xmlns:a16="http://schemas.microsoft.com/office/drawing/2014/main" id="{033CE12B-C2E5-4471-0AA9-28384BDD0F0D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5707063" y="3270250"/>
            <a:ext cx="3222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215</a:t>
            </a:r>
            <a:endParaRPr lang="en-GB" sz="1400" dirty="0"/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8DA3BB62-FB7C-2052-54A8-36F6803C397D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gray">
          <a:xfrm>
            <a:off x="6492875" y="3140075"/>
            <a:ext cx="3222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101</a:t>
            </a:r>
          </a:p>
        </p:txBody>
      </p:sp>
      <p:sp useBgFill="1">
        <p:nvSpPr>
          <p:cNvPr id="129" name="Text Placeholder 2">
            <a:extLst>
              <a:ext uri="{FF2B5EF4-FFF2-40B4-BE49-F238E27FC236}">
                <a16:creationId xmlns:a16="http://schemas.microsoft.com/office/drawing/2014/main" id="{54D3BDE3-FFD0-1009-0713-BB58612F1861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gray">
          <a:xfrm>
            <a:off x="7321550" y="4349750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42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2CF6370-CCD1-B049-ED2A-536D8EF13498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auto">
          <a:xfrm>
            <a:off x="4183063" y="54689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1DB0176-3436-4288-8D10-0F2CEAC5CE29}" type="datetime'7''''''''''''''0''''''''''''%''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70%</a:t>
            </a:fld>
            <a:endParaRPr lang="en-GB" sz="100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D2B231B-514E-25DF-7BDC-7AE98DD0283F}"/>
              </a:ext>
            </a:extLst>
          </p:cNvPr>
          <p:cNvSpPr/>
          <p:nvPr/>
        </p:nvSpPr>
        <p:spPr>
          <a:xfrm>
            <a:off x="4725988" y="3128963"/>
            <a:ext cx="2381955" cy="9468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8336ADA-AA8D-0A8B-1577-A4017C5F6FDE}"/>
              </a:ext>
            </a:extLst>
          </p:cNvPr>
          <p:cNvSpPr txBox="1"/>
          <p:nvPr/>
        </p:nvSpPr>
        <p:spPr>
          <a:xfrm>
            <a:off x="5297488" y="2874963"/>
            <a:ext cx="1318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Optimal threshold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8E48A56-E32B-033F-A0E9-1332BC71E743}"/>
              </a:ext>
            </a:extLst>
          </p:cNvPr>
          <p:cNvSpPr txBox="1"/>
          <p:nvPr/>
        </p:nvSpPr>
        <p:spPr>
          <a:xfrm>
            <a:off x="754063" y="1781175"/>
            <a:ext cx="793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Model performance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0F3B1A8-31D1-4F52-7CC7-9B6E8564B3B7}"/>
              </a:ext>
            </a:extLst>
          </p:cNvPr>
          <p:cNvSpPr txBox="1"/>
          <p:nvPr/>
        </p:nvSpPr>
        <p:spPr>
          <a:xfrm>
            <a:off x="769938" y="5681663"/>
            <a:ext cx="10978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400" b="1" dirty="0"/>
              <a:t>Optimal strategy:</a:t>
            </a:r>
          </a:p>
          <a:p>
            <a:pPr algn="just"/>
            <a:r>
              <a:rPr lang="en-IT" altLang="en-IT" sz="1400" dirty="0">
                <a:solidFill>
                  <a:srgbClr val="000000"/>
                </a:solidFill>
                <a:latin typeface="-webkit-standard"/>
              </a:rPr>
              <a:t>The model's value lies not in predicting every trade, but in knowing which ones to ignore, filtering congressional purchases down to the highest-confidence signals flips a losing strategy into a marginally profitable one</a:t>
            </a:r>
            <a:endParaRPr lang="en-IT" altLang="en-IT" sz="1400" dirty="0">
              <a:latin typeface="Arial" panose="020B0604020202020204" pitchFamily="34" charset="0"/>
            </a:endParaRPr>
          </a:p>
          <a:p>
            <a:pPr algn="just"/>
            <a:endParaRPr lang="en-GB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4AFE30F-4ADC-DE86-A9A2-5ED7BCBE30DA}"/>
              </a:ext>
            </a:extLst>
          </p:cNvPr>
          <p:cNvSpPr txBox="1"/>
          <p:nvPr/>
        </p:nvSpPr>
        <p:spPr>
          <a:xfrm>
            <a:off x="608432" y="1127922"/>
            <a:ext cx="111416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</a:rPr>
              <a:t>A machine learning filter </a:t>
            </a:r>
            <a:r>
              <a:rPr lang="en-GB" b="1" dirty="0">
                <a:solidFill>
                  <a:srgbClr val="000000"/>
                </a:solidFill>
                <a:effectLst/>
              </a:rPr>
              <a:t>recovers a subset of trades with positive risk-adjusted returns</a:t>
            </a:r>
            <a:r>
              <a:rPr lang="en-GB" dirty="0">
                <a:solidFill>
                  <a:srgbClr val="000000"/>
                </a:solidFill>
                <a:effectLst/>
              </a:rPr>
              <a:t>, suggesting that </a:t>
            </a:r>
            <a:r>
              <a:rPr lang="en-GB" b="1" dirty="0">
                <a:solidFill>
                  <a:srgbClr val="000000"/>
                </a:solidFill>
                <a:effectLst/>
              </a:rPr>
              <a:t>informed selection</a:t>
            </a:r>
            <a:r>
              <a:rPr lang="en-GB" dirty="0">
                <a:solidFill>
                  <a:srgbClr val="000000"/>
                </a:solidFill>
                <a:effectLst/>
              </a:rPr>
              <a:t> not blind replication is where the edge lies</a:t>
            </a:r>
          </a:p>
          <a:p>
            <a:pPr>
              <a:buNone/>
            </a:pPr>
            <a:endParaRPr lang="en-GB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endParaRPr lang="en-GB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endParaRPr lang="en-GB" dirty="0">
              <a:solidFill>
                <a:srgbClr val="000000"/>
              </a:solidFill>
              <a:effectLst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081B8D4-4D01-C794-571C-9600B5F9B871}"/>
              </a:ext>
            </a:extLst>
          </p:cNvPr>
          <p:cNvSpPr txBox="1"/>
          <p:nvPr/>
        </p:nvSpPr>
        <p:spPr>
          <a:xfrm>
            <a:off x="10627238" y="3443847"/>
            <a:ext cx="873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-1,95%</a:t>
            </a:r>
          </a:p>
          <a:p>
            <a:pPr algn="ctr"/>
            <a:r>
              <a:rPr lang="en-GB" sz="1400" dirty="0"/>
              <a:t>A</a:t>
            </a:r>
            <a:r>
              <a:rPr lang="en-IT" sz="1400" dirty="0"/>
              <a:t>ll trades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3F342A1-5CC1-4E81-730A-8E623529ED88}"/>
              </a:ext>
            </a:extLst>
          </p:cNvPr>
          <p:cNvSpPr txBox="1"/>
          <p:nvPr/>
        </p:nvSpPr>
        <p:spPr>
          <a:xfrm>
            <a:off x="10627239" y="4565496"/>
            <a:ext cx="873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44,5%</a:t>
            </a:r>
          </a:p>
          <a:p>
            <a:pPr algn="ctr"/>
            <a:r>
              <a:rPr lang="en-GB" sz="1400" dirty="0"/>
              <a:t>A</a:t>
            </a:r>
            <a:r>
              <a:rPr lang="en-IT" sz="1400" dirty="0"/>
              <a:t>ll trades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38C499C-D4EE-10E8-9E1A-7AA71181AAF9}"/>
              </a:ext>
            </a:extLst>
          </p:cNvPr>
          <p:cNvSpPr txBox="1"/>
          <p:nvPr/>
        </p:nvSpPr>
        <p:spPr>
          <a:xfrm>
            <a:off x="9841993" y="3132320"/>
            <a:ext cx="127150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en-GB" dirty="0"/>
              <a:t>Median Car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7B5419F-1613-D194-16C8-49794FA2AC8D}"/>
              </a:ext>
            </a:extLst>
          </p:cNvPr>
          <p:cNvSpPr txBox="1"/>
          <p:nvPr/>
        </p:nvSpPr>
        <p:spPr>
          <a:xfrm>
            <a:off x="10028267" y="4325445"/>
            <a:ext cx="935064" cy="208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en-GB" dirty="0"/>
              <a:t>Hit Rate</a:t>
            </a:r>
          </a:p>
        </p:txBody>
      </p:sp>
    </p:spTree>
    <p:extLst>
      <p:ext uri="{BB962C8B-B14F-4D97-AF65-F5344CB8AC3E}">
        <p14:creationId xmlns:p14="http://schemas.microsoft.com/office/powerpoint/2010/main" val="47674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B0944-0FEE-9628-3111-D89C8D30B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hink-cell data - do not delete" hidden="1">
            <a:extLst>
              <a:ext uri="{FF2B5EF4-FFF2-40B4-BE49-F238E27FC236}">
                <a16:creationId xmlns:a16="http://schemas.microsoft.com/office/drawing/2014/main" id="{06749351-4282-3B4F-AA36-EFE93621615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6881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48ED6C7-B5D8-A0D8-B261-4CF602FC1DD6}"/>
              </a:ext>
            </a:extLst>
          </p:cNvPr>
          <p:cNvSpPr txBox="1"/>
          <p:nvPr/>
        </p:nvSpPr>
        <p:spPr>
          <a:xfrm>
            <a:off x="411480" y="164592"/>
            <a:ext cx="716478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Model: What Drives the Predictions?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3607C8-DBC1-4F9F-AAD9-86E8D29542FC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9B73554-45A1-3F23-53C4-C26EE1100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339166"/>
              </p:ext>
            </p:extLst>
          </p:nvPr>
        </p:nvGraphicFramePr>
        <p:xfrm>
          <a:off x="274320" y="1675004"/>
          <a:ext cx="5998464" cy="415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CD1CD062-8F40-C420-7B12-63B36E4BADCB}"/>
              </a:ext>
            </a:extLst>
          </p:cNvPr>
          <p:cNvGrpSpPr/>
          <p:nvPr/>
        </p:nvGrpSpPr>
        <p:grpSpPr>
          <a:xfrm>
            <a:off x="6460176" y="1803644"/>
            <a:ext cx="5289864" cy="999908"/>
            <a:chOff x="6460176" y="1457292"/>
            <a:chExt cx="5289864" cy="99990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BC1E7C-6DB9-FAFB-581A-32B3A83ADF9A}"/>
                </a:ext>
              </a:extLst>
            </p:cNvPr>
            <p:cNvSpPr txBox="1"/>
            <p:nvPr/>
          </p:nvSpPr>
          <p:spPr>
            <a:xfrm>
              <a:off x="6460177" y="1457292"/>
              <a:ext cx="5289863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600" dirty="0"/>
                <a:t>Politician characteristics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14C852-6432-0D6E-7A76-3B42A151074D}"/>
                </a:ext>
              </a:extLst>
            </p:cNvPr>
            <p:cNvSpPr/>
            <p:nvPr/>
          </p:nvSpPr>
          <p:spPr>
            <a:xfrm>
              <a:off x="6460176" y="1799620"/>
              <a:ext cx="5289863" cy="657580"/>
            </a:xfrm>
            <a:prstGeom prst="rect">
              <a:avLst/>
            </a:prstGeom>
            <a:solidFill>
              <a:srgbClr val="BCD8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1200" dirty="0"/>
                <a:t>Past politician performance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0F6767F-5E25-EB03-9934-3CDEBCD5EE94}"/>
              </a:ext>
            </a:extLst>
          </p:cNvPr>
          <p:cNvGrpSpPr/>
          <p:nvPr/>
        </p:nvGrpSpPr>
        <p:grpSpPr>
          <a:xfrm>
            <a:off x="6460175" y="3011443"/>
            <a:ext cx="2504922" cy="1164563"/>
            <a:chOff x="6460175" y="3278815"/>
            <a:chExt cx="2504922" cy="116456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BD98DB5-75EC-DF8A-33A0-7D33F30BBCD4}"/>
                </a:ext>
              </a:extLst>
            </p:cNvPr>
            <p:cNvSpPr txBox="1"/>
            <p:nvPr/>
          </p:nvSpPr>
          <p:spPr>
            <a:xfrm>
              <a:off x="6460176" y="3278815"/>
              <a:ext cx="2504921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600" dirty="0"/>
                <a:t>Lobbying activity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AE0AED-73A0-8A14-46BF-FC7A87046DFA}"/>
                </a:ext>
              </a:extLst>
            </p:cNvPr>
            <p:cNvSpPr/>
            <p:nvPr/>
          </p:nvSpPr>
          <p:spPr>
            <a:xfrm>
              <a:off x="6460175" y="3621143"/>
              <a:ext cx="2504921" cy="822235"/>
            </a:xfrm>
            <a:prstGeom prst="rect">
              <a:avLst/>
            </a:prstGeom>
            <a:solidFill>
              <a:srgbClr val="5A9E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I</a:t>
              </a:r>
              <a:r>
                <a:rPr lang="en-IT" sz="1200" dirty="0"/>
                <a:t>ntersections between traded companies and active lobbying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0509D4F-421D-AF73-D5E9-084D2E9BCB32}"/>
              </a:ext>
            </a:extLst>
          </p:cNvPr>
          <p:cNvGrpSpPr/>
          <p:nvPr/>
        </p:nvGrpSpPr>
        <p:grpSpPr>
          <a:xfrm>
            <a:off x="9245117" y="3010308"/>
            <a:ext cx="2504922" cy="1164563"/>
            <a:chOff x="9245117" y="3278815"/>
            <a:chExt cx="2504922" cy="116456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2E66B77-96C2-E9A8-7B29-194864F73C05}"/>
                </a:ext>
              </a:extLst>
            </p:cNvPr>
            <p:cNvSpPr txBox="1"/>
            <p:nvPr/>
          </p:nvSpPr>
          <p:spPr>
            <a:xfrm>
              <a:off x="9245118" y="3278815"/>
              <a:ext cx="2504921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600" dirty="0"/>
                <a:t>Committee Jurisdiction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71CD4A-8D37-1F9F-91C7-13FFF2A56ADF}"/>
                </a:ext>
              </a:extLst>
            </p:cNvPr>
            <p:cNvSpPr/>
            <p:nvPr/>
          </p:nvSpPr>
          <p:spPr>
            <a:xfrm>
              <a:off x="9245117" y="3621143"/>
              <a:ext cx="2504921" cy="822235"/>
            </a:xfrm>
            <a:prstGeom prst="rect">
              <a:avLst/>
            </a:prstGeom>
            <a:solidFill>
              <a:srgbClr val="1B57F5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Committee–industry jurisdictional overlap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CC7D5B8-2BC6-1776-DD94-06404DE79D5C}"/>
              </a:ext>
            </a:extLst>
          </p:cNvPr>
          <p:cNvGrpSpPr/>
          <p:nvPr/>
        </p:nvGrpSpPr>
        <p:grpSpPr>
          <a:xfrm>
            <a:off x="6460175" y="4383897"/>
            <a:ext cx="2504922" cy="1164563"/>
            <a:chOff x="6460175" y="4639293"/>
            <a:chExt cx="2504922" cy="116456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9F8CC9F-9049-6B6C-3B24-1141AC9486E7}"/>
                </a:ext>
              </a:extLst>
            </p:cNvPr>
            <p:cNvSpPr txBox="1"/>
            <p:nvPr/>
          </p:nvSpPr>
          <p:spPr>
            <a:xfrm>
              <a:off x="6460176" y="4639293"/>
              <a:ext cx="2504921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600" dirty="0"/>
                <a:t>Stock Characteristics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9141A4-C1C6-FC3B-D608-DE9D0576B9E1}"/>
                </a:ext>
              </a:extLst>
            </p:cNvPr>
            <p:cNvSpPr/>
            <p:nvPr/>
          </p:nvSpPr>
          <p:spPr>
            <a:xfrm>
              <a:off x="6460175" y="4981621"/>
              <a:ext cx="2504921" cy="822235"/>
            </a:xfrm>
            <a:prstGeom prst="rect">
              <a:avLst/>
            </a:prstGeom>
            <a:solidFill>
              <a:srgbClr val="1735B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1200" dirty="0"/>
                <a:t>Information related to the stock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12DF9F4-0C0A-54E4-FCF8-C89F2F150BA8}"/>
              </a:ext>
            </a:extLst>
          </p:cNvPr>
          <p:cNvGrpSpPr/>
          <p:nvPr/>
        </p:nvGrpSpPr>
        <p:grpSpPr>
          <a:xfrm>
            <a:off x="9245117" y="4383897"/>
            <a:ext cx="2504922" cy="1164563"/>
            <a:chOff x="9245117" y="4639293"/>
            <a:chExt cx="2504922" cy="116456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04D13D-106F-1729-9C1E-41B0821092D8}"/>
                </a:ext>
              </a:extLst>
            </p:cNvPr>
            <p:cNvSpPr txBox="1"/>
            <p:nvPr/>
          </p:nvSpPr>
          <p:spPr>
            <a:xfrm>
              <a:off x="9245118" y="4639293"/>
              <a:ext cx="2504921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600" dirty="0"/>
                <a:t>Trade Signals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34C678-FBB8-8E40-317D-6ACD379F7800}"/>
                </a:ext>
              </a:extLst>
            </p:cNvPr>
            <p:cNvSpPr/>
            <p:nvPr/>
          </p:nvSpPr>
          <p:spPr>
            <a:xfrm>
              <a:off x="9245117" y="4981621"/>
              <a:ext cx="2504921" cy="822235"/>
            </a:xfrm>
            <a:prstGeom prst="rect">
              <a:avLst/>
            </a:prstGeom>
            <a:solidFill>
              <a:srgbClr val="14205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</a:t>
              </a:r>
              <a:r>
                <a:rPr lang="en-IT" sz="1200" dirty="0"/>
                <a:t>pecific trade information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F8FB141A-E19B-DA3E-D9AE-816324C1D94C}"/>
              </a:ext>
            </a:extLst>
          </p:cNvPr>
          <p:cNvSpPr txBox="1"/>
          <p:nvPr/>
        </p:nvSpPr>
        <p:spPr>
          <a:xfrm>
            <a:off x="2607276" y="1309883"/>
            <a:ext cx="338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Features importance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8A9BA9-12CB-6541-C33B-829747A54CFE}"/>
              </a:ext>
            </a:extLst>
          </p:cNvPr>
          <p:cNvSpPr txBox="1"/>
          <p:nvPr/>
        </p:nvSpPr>
        <p:spPr>
          <a:xfrm>
            <a:off x="104706" y="6357664"/>
            <a:ext cx="5907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1: </a:t>
            </a:r>
            <a:r>
              <a:rPr lang="en-GB" sz="1000" dirty="0">
                <a:hlinkClick r:id="rId7"/>
              </a:rPr>
              <a:t>https://api.quiverquant.com/beta/bulk/congresstrading</a:t>
            </a:r>
            <a:endParaRPr lang="en-GB" sz="1000" dirty="0"/>
          </a:p>
          <a:p>
            <a:r>
              <a:rPr lang="en-GB" sz="1000" dirty="0"/>
              <a:t>2: Yahoo Finance</a:t>
            </a:r>
          </a:p>
          <a:p>
            <a:endParaRPr lang="en-GB" sz="1000" dirty="0"/>
          </a:p>
          <a:p>
            <a:endParaRPr lang="en-GB" sz="1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4B2575-A295-671D-3035-6A862DE9FF7A}"/>
              </a:ext>
            </a:extLst>
          </p:cNvPr>
          <p:cNvSpPr txBox="1"/>
          <p:nvPr/>
        </p:nvSpPr>
        <p:spPr>
          <a:xfrm>
            <a:off x="3337644" y="6359142"/>
            <a:ext cx="59074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3: </a:t>
            </a:r>
            <a:r>
              <a:rPr lang="en-GB" sz="1000" dirty="0">
                <a:hlinkClick r:id="rId8"/>
              </a:rPr>
              <a:t>https://github.com/unitedstates/congress-legislators</a:t>
            </a:r>
            <a:endParaRPr lang="en-GB" sz="1000" dirty="0"/>
          </a:p>
          <a:p>
            <a:r>
              <a:rPr lang="en-GB" sz="1000" dirty="0"/>
              <a:t>4:  https://</a:t>
            </a:r>
            <a:r>
              <a:rPr lang="en-GB" sz="1000" dirty="0" err="1"/>
              <a:t>api.quiverquant.com</a:t>
            </a:r>
            <a:r>
              <a:rPr lang="en-GB" sz="1000" dirty="0"/>
              <a:t>/beta/historical/lobbying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5236E9-5527-BDE4-C65D-89D3E3B9BFAD}"/>
              </a:ext>
            </a:extLst>
          </p:cNvPr>
          <p:cNvSpPr txBox="1"/>
          <p:nvPr/>
        </p:nvSpPr>
        <p:spPr>
          <a:xfrm>
            <a:off x="104706" y="6184271"/>
            <a:ext cx="9204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1071892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5A85-7FF5-D337-47F8-F49E0F55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73F596-1080-511F-BECA-3A238B0613AB}"/>
              </a:ext>
            </a:extLst>
          </p:cNvPr>
          <p:cNvSpPr txBox="1"/>
          <p:nvPr/>
        </p:nvSpPr>
        <p:spPr>
          <a:xfrm>
            <a:off x="411480" y="164592"/>
            <a:ext cx="39944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Conclusions &amp; Caveats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79BB6D-3D5D-6FEB-3096-C09BB722A426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BBE19-66F0-12BA-0D99-0B845E9E5296}"/>
              </a:ext>
            </a:extLst>
          </p:cNvPr>
          <p:cNvSpPr txBox="1"/>
          <p:nvPr/>
        </p:nvSpPr>
        <p:spPr>
          <a:xfrm>
            <a:off x="411480" y="1097280"/>
            <a:ext cx="59436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1" dirty="0">
                <a:solidFill>
                  <a:srgbClr val="3FB950"/>
                </a:solidFill>
              </a:rPr>
              <a:t>Key Findings</a:t>
            </a:r>
          </a:p>
          <a:p>
            <a:pPr algn="just">
              <a:spcBef>
                <a:spcPts val="600"/>
              </a:spcBef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Copying congressional trades blindly destroys value 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 across the full test set, the median trade delivers -1.95% CAR with only a 44.6% win rate, meaning the average politician earns less than what their stocks' own systematic risk predicts                                                                                                                                                                       </a:t>
            </a:r>
          </a:p>
          <a:p>
            <a:pPr algn="just">
              <a:spcBef>
                <a:spcPts val="600"/>
              </a:spcBef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- </a:t>
            </a: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Lobbying activity and committee jurisdiction are the strongest structural signals 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 whether a company was actively lobbying in the 90 days before filing is the single most important model feature, followed by committee oversight and direct industry-jurisdiction overlap                                                                                                                                    </a:t>
            </a:r>
          </a:p>
          <a:p>
            <a:pPr algn="just">
              <a:spcBef>
                <a:spcPts val="600"/>
              </a:spcBef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- </a:t>
            </a: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Selective filtering recovers the edge 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 a machine learning model identifies a subset of trades with positive risk-adjusted returns, suggesting informed selection is where the alpha lies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4F200-EB41-96E2-3A2E-1C827238679C}"/>
              </a:ext>
            </a:extLst>
          </p:cNvPr>
          <p:cNvSpPr txBox="1"/>
          <p:nvPr/>
        </p:nvSpPr>
        <p:spPr>
          <a:xfrm>
            <a:off x="6492240" y="1097280"/>
            <a:ext cx="52578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1" dirty="0">
                <a:solidFill>
                  <a:srgbClr val="F85149"/>
                </a:solidFill>
              </a:rPr>
              <a:t>Caveats</a:t>
            </a:r>
          </a:p>
          <a:p>
            <a:pPr algn="just">
              <a:spcBef>
                <a:spcPts val="600"/>
              </a:spcBef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- </a:t>
            </a: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Single macro regime 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 the test set covers Dec 2022 – Jan 2025 only; performance across different market environments (e.g. bull runs, rate cycles) is not validated out-of-sample                         </a:t>
            </a:r>
          </a:p>
          <a:p>
            <a:pPr algn="just">
              <a:spcBef>
                <a:spcPts val="600"/>
              </a:spcBef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 - </a:t>
            </a: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Execution constraints are not modelled 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 no transaction costs, market impact, or liquidity limits are accounted for; real-world returns will be lower, particularly for less liquid tickers</a:t>
            </a:r>
          </a:p>
          <a:p>
            <a:pPr algn="just">
              <a:spcBef>
                <a:spcPts val="600"/>
              </a:spcBef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 - </a:t>
            </a: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Disclosed trades only 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 STOCK Act compliance is imperfect; undisclosed or late-filed activity is not captured, meaning the dataset may systematically miss the most sensitive trades</a:t>
            </a:r>
          </a:p>
          <a:p>
            <a:pPr algn="just">
              <a:spcBef>
                <a:spcPts val="600"/>
              </a:spcBef>
            </a:pPr>
            <a:endParaRPr lang="it-IT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2C79F-2C56-61F9-53AF-F04B35C38DB1}"/>
              </a:ext>
            </a:extLst>
          </p:cNvPr>
          <p:cNvSpPr txBox="1"/>
          <p:nvPr/>
        </p:nvSpPr>
        <p:spPr>
          <a:xfrm>
            <a:off x="411480" y="4259794"/>
            <a:ext cx="1133856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1" dirty="0">
                <a:solidFill>
                  <a:srgbClr val="388BFD"/>
                </a:solidFill>
              </a:rPr>
              <a:t>Potential Data Enrichment (Lobbying Focus)</a:t>
            </a:r>
          </a:p>
          <a:p>
            <a:pPr algn="just">
              <a:spcBef>
                <a:spcPts val="600"/>
              </a:spcBef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- </a:t>
            </a: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Lobbying depth 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 currently only a binary 90-day presence flag; adding spend amount, trend direction, and which specific bills overlap with the politician's committee jurisdiction would sharpen the signal</a:t>
            </a:r>
          </a:p>
          <a:p>
            <a:pPr algn="just">
              <a:spcBef>
                <a:spcPts val="600"/>
              </a:spcBef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 - </a:t>
            </a: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Proximity signal 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 days between the lobbying registration date and the trade's filing date; tighter proximity likely indicates more actionable information access                                         </a:t>
            </a:r>
          </a:p>
          <a:p>
            <a:pPr algn="just">
              <a:spcBef>
                <a:spcPts val="600"/>
              </a:spcBef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 - </a:t>
            </a: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Revolving door 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 identifying lobbyists who previously worked for the same politician or committee would flag trades with unusually direct information channels</a:t>
            </a:r>
          </a:p>
        </p:txBody>
      </p:sp>
    </p:spTree>
    <p:extLst>
      <p:ext uri="{BB962C8B-B14F-4D97-AF65-F5344CB8AC3E}">
        <p14:creationId xmlns:p14="http://schemas.microsoft.com/office/powerpoint/2010/main" val="3428147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63283-1017-79F2-FAB1-751F5066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6F513B-8F67-F491-21B3-061F32E0BCA0}"/>
              </a:ext>
            </a:extLst>
          </p:cNvPr>
          <p:cNvSpPr txBox="1"/>
          <p:nvPr/>
        </p:nvSpPr>
        <p:spPr>
          <a:xfrm>
            <a:off x="4719621" y="2412039"/>
            <a:ext cx="272228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t-IT" sz="4600" b="1" dirty="0">
                <a:solidFill>
                  <a:srgbClr val="E6EDF3"/>
                </a:solidFill>
              </a:rPr>
              <a:t>Thank </a:t>
            </a:r>
            <a:r>
              <a:rPr lang="it-IT" sz="4600" b="1" dirty="0" err="1">
                <a:solidFill>
                  <a:srgbClr val="E6EDF3"/>
                </a:solidFill>
              </a:rPr>
              <a:t>you</a:t>
            </a:r>
            <a:endParaRPr sz="4600" b="1" dirty="0">
              <a:solidFill>
                <a:srgbClr val="E6ED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86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Methodology: How Key Signals Were Constructed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8BFD"/>
                </a:solidFill>
              </a:rPr>
              <a:t>1 — Ticker ↔ Committee Matching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Committee membership from timestamped YAML snapshots (unitedstates/congress-legislators on GitHub)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For each trade, the snapshot closest in time to the Filed date is used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Ensures membership reflects the politician's actual committees at trade time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Committee codes truncated to 4 characters to normalize across snapshot formats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Result: binary committee-category flags per trade (9 categories total)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06324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0883E"/>
                </a:solidFill>
              </a:rPr>
              <a:t>2 — 3-Tier Committee–Industry Match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Manual mapping in config/commette_industry_map.yaml: committee → sector → industry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3 (Strong): committee has DIRECT JURISDICTION — controls budgets, contracts, or legislation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2 (Medium): committee has OVERSIGHT — sets general rules, taxes, or compliance standards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1 (Tangential): committee has INDIRECT impact — general legislative influence only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Result: Industry match 1/2/3 binary flags per trade (1 = politician's committee matches stock's industry at that tier)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12064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FB950"/>
                </a:solidFill>
              </a:rPr>
              <a:t>3 — Lobbying Signal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Source: QuiverQuant lobbying disclosures API, downloaded per traded ticker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lobbied_any_90d = 1 if the company had any active lobbying disclosure in 90 days before trade's Filed date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Currently binary — lobbying spend amount and issue specificity are future enrichment candidates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8590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8BFD"/>
                </a:solidFill>
              </a:rPr>
              <a:t>39,334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Total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79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FB950"/>
                </a:solidFill>
              </a:rPr>
              <a:t>19,096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Purchases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0883E"/>
                </a:solidFill>
              </a:rPr>
              <a:t>15,117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Modelled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8BFD"/>
                </a:solidFill>
              </a:rPr>
              <a:t>268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Politicians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480" y="2651760"/>
          <a:ext cx="113385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Date range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2012-09-13 – 2026-01-30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Transaction types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Purchase / Sale / Sale (Full) / Sale (Partial) / Exchange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Unique tickers (purchases)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2,209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Parties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D / R / I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Chambers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Representatives / Senate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Target variable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realized_car_hybrid &gt; 0 (binary)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CAR windows available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1m / 3m / 6m / 9m / 12m + realized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Train / test split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80% / 20%  chronological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17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3.15632789999999996411E+00&quot;&gt;&lt;m_msothmcolidx val=&quot;0&quot;/&gt;&lt;m_rgb r=&quot;F5&quot; g=&quot;A6&quot; b=&quot;A6&quot;/&gt;&lt;/elem&gt;&lt;elem m_fUsage=&quot;2.96946721000000035673E+00&quot;&gt;&lt;m_msothmcolidx val=&quot;0&quot;/&gt;&lt;m_rgb r=&quot;A8&quot; g=&quot;D9&quot; b=&quot;A8&quot;/&gt;&lt;/elem&gt;&lt;elem m_fUsage=&quot;6.62489036190000213367E-01&quot;&gt;&lt;m_msothmcolidx val=&quot;0&quot;/&gt;&lt;m_rgb r=&quot;F0&quot; g=&quot;88&quot; b=&quot;3E&quot;/&gt;&lt;/elem&gt;&lt;elem m_fUsage=&quot;3.87420489000000145552E-01&quot;&gt;&lt;m_msothmcolidx val=&quot;0&quot;/&gt;&lt;m_rgb r=&quot;BF&quot; g=&quot;50&quot; b=&quot;4D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V0liUdNnZGVZmRmBmM8y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GFhewPGavm8HlJVVdTyL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QYeLXAdPXhU5E.RaiBz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PX5v1gaKbQ8ZihYwHDP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OjlwftkLJQiC0haP6QBO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J3sAcRMtsknMa2wZjQu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VQZipIZd43f4gEqp83AF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RbYVGqWHPc_VrBvgj39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i4MG2tIrWwFRUodgllF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hmAgRu2vyt6Jg.nOI3S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ohovgeBb_cQtl8oXio_a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.monXJfEJLzB_D2R9.p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ZCrqdRsg.QewX9fd2tQz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MEijY4PeTqMkxshnPMN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._aVU0U9lMqdepnJqy3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iDxBeKPOojlYnB5H9yA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hkkEmlB2g0RCQgdCsmL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uODoEPnP9WPjgP4YP0f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5aN8zb0XSabWOl574vUW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1meOJFjGNnEHw0m6vxq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4S5Qwzsi_z4SDK0ASDMZ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UjhKqa5PB54fgUzMxuq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vNtJaR_nNfYWwfbKxUw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R_qj1yBpMBI.bkne8Z7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6GMGVx1D8Txn7evdw9L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mjE0dN56oHo1ZFBnXVs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nR6QoShldERRTTrJDHB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12dt8IxOy7BqudIBKXL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9QZqmkC1a8puVJsvHCD0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8vRK23dnDfUwKnYP2yLB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zoEoyWWmtY6kUea3YZ3w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wm_mezBkhDsNYy91Sf2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.Zs3ArWEmp5YlE7g0Xy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gNhA9jBoNMQ5WYzwQU_X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nFZRB9WI93CxHJjfJD77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17H3aG3pKjN7MceNCGE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VNzZXsaauBmaKdDszmj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zPcnZnsB0rxSnQPcgTB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pAlf9bLd0rfW8PuwtnN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7iI2p5c59SYa5Z55a_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OL4IOtpN0QTL_x7ZrCW2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ETbSq0J0.AfnTSKAWuP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JJs8RpqXv467EQan2u1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.lb.9fW487tKWexp8fZR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p1YUTmJvx_yfqoIqDggM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zrjvibSBzTrH1J2_DJA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VW62L4JJimZa6o_z.7P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1teYZSFyLjX_TQ4gtvu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hNgkQvNvo0lSACWWwfL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RT.dbrZ1TTemuBCO.cE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RTjxr1RyHo4STY_469q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sW5A2sWbYlEVcE47pDb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JchLhqXOT607cMwveyv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I9xi_jIXIQEcK07wJF7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PoYJO2Ka__66MwJ8mIl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8r4EMR_GH9vxeFfVOA3w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T.7ku5iMGXqWfbcKXA3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Kwijce_7G7M02F0fk18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MN.I5NS9yZnny3DxLiX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haOx6xlSsKM9HL_QARs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Vw1fhEi7SX2ZJolf1xhm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YwJr7tVKFUNPErrcXGI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eBDvj2Qh0lLayidH2wpQ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wSa5Koeg_pE2_nUMMxu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XQ99VgbKH7x_hX5EbuWC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_7oT.JrB4sI3yfcKvHh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yecrWOKmCypho98XSo09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50I1FBaf5FJ9vX2J8Zx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hPuz5P0aoNmDzld2BFT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1ZR8XS_aisyXQplBoXYU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BS.x5ZBXxy6vDWWZLRw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gn13pe3cVPxcGjgVt7q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qamjPSaooymEazztIEZ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I2Sbo6f8VgeUU09nTgR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E7Un5pBAZv3iv2o5A9k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LANkyw9FQ9tcw3CwZMf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KLdlQk3cg5FI1d0pok0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tlCnYJbzkq6CpP_St9G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eOCXFfqwLO3Z8FEsC7tU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iCOttFYUeeeByOP7iQeF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6nRhzMOjBTkaNoAzPljM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nAG.YaVCummVP29s_Wz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l7HvahZYLyooyKe0bR4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7yAKpGq1cxBO_CRvT4_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TtpT5rdOHMJhxCREtwo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_OopMxGhbBeLjjbm08WN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1ry50XFDpx5_4B0iDjm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E4sg09yUAHnAKF8e4GE1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HoLxZuv0aNZpaK.F6DE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hXGz805Hhjw1056NHpsu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X_N8F4RSlzYFFiKDVKm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nqI5MwD0i1EURUtBM7b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wIGgo4cB9lesHBwt.vB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Y_2XGvYeGrErxpQTPI8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JKPOAuftOB7saHYoXvi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6tj.6j3NxtyPQW6cSkj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OEJVneThtqOi5EkV.yq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OI4dAjjmdLeXgcxTzzv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tE575LBteV_5elwJs.N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aNRrSXVGzntrCRZ2.vl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_V1wLJm5FambbOaYtug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6hQfz1j.tTXINqRnI7G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TxvPsonBnkR9sTuTImU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5U6TpahL7Tcui8qFwpJ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Tnl7lxPckaIovR_N1El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k1qItW.2Wt3_lSV4zboa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HC7lEZH45phsh9GZs8i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rpujFG1jXr7iZZYmcVen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MFnC5K7NTGfm0aMwgS6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botXpD5HY8lWB2j3EMB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JnonrrqzG7zWM_vfqHx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hFBoU1_1aW3PpraCgsHe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AHkqjrgIgnSZ1aRYk1f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ebVFQEXboO3Qc0kv2C0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oxmAdYRigByGbMgfzPrx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sSp_ZMB5SUddi8y_3hv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1K_.2fs_OoJNPklpVjK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PK80K7JpYQPQUcyjzN9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1ibvFFl5BF2JB9xjzfj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684_nFdGw5r3lMImet6Y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KM6MY2vRV1PO7An8SGO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SODwSJiteTmalMO_Vxx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NwPwuhrgM_9_iQOWLti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ATW1Cufa8GHly5dQ.yS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TletvjIW1rBRFgwd0zm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Kg3idPvKKauMMaD8w7k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guGnQSVkwAvDKj_iU_I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A0B9ow1MMMT2gwOg1PF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MaHSBaJ_mnukzJ6Wgve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R1ogNNzhTZazGOefvT_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N7no6GNGDU84tATguIF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VBPucxjGMuqj7Mr9KVq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jYLFtmf5KZPyrjLZa1us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dQL24MkyLyCodbmG8LC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6jMcFNx.vsy6Ozsf83q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7qp_8Xx7tw4ncufaLUg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rDGU9pebt8f.BHV8kuT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8qb3qpWqu4P9AQukC6O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Z1GUljE.3FdHe2PBA.A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2PtBZRv3TS_bKDsXRjo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8xEIKUWYuH2lIiraVMd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2qJ3Q00bkNt4ZjZ7ue4m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TU8COmsPQxo1WhkIOl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xnxTgve9MTKeTzCUxvJ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nO0cCNp37Z_qsiiqOd.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9xuLoo_qSFl3ZhJCFigz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ZRNl6_Yk2pdRnm4SimLw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OEd9tvJTAWVlCJC7VNh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V1KHnVCinLt.35X0LCV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3d.wTq20YoXY4t8lyPq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N8phKWlTcsbBF_Cs9lh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2wVtz22wkSUX5ckv4utj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xeVFx3szvfrEp4VXE7DO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9IF.s9O9fdu6H6hnOcq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YFOyN3uxgPGkcwfpTVt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C_wvqhrdXOPJ9yYk2Wf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ai5NVmEZ48dUH0CFPGDL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aPOnFefhqDxaBjEwUS8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949UAw3O7uF0uMPqdviw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N8TT.71zvWOclqMmcn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5oXXZcn3G07L7k9Hft3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Sic80JZGibEAO6aFy_k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fceHn_4v8Q22benxcdEw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2c2VQVnw5jc8ZFnfsfup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5erl7D2fT.KZ.RFeQYzu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bmnVyX.h1IQI_x7ShJ1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2woCenrFCwc.I_K9WSXr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zZjw4xAVPqjpEmHLkqwF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156Xfc6sRJKj0DyWWUIJ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F3SXXlAD9LSJiJ.uPWP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P5yr0j.1XRc7TrnXkpwD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ei1OIdDuI6kTo1gWofc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e9qI2Xe6LuXyFgEknIn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TOESvcCEKfGFIQYJEtIa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0oK4vT_4y9fsE12j4UGdQ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3wUwsqlR97lwLmuIdZZX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jUoEo9_1bpykuKjNGV3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1XF0OTQXgoRn6wrS8ofL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e66ttVBkWYwjjzidWrDS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YhOs5p6KVBbiU2q7HaV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7F0xMQKHnq1t.1g4WBN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RpzT5XPsBY1fPKM6QWu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vGZeLGT.IgVloaXfZoY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coTVh4XLkqj.Zbyj4bP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2yKLEEG9CujlUT1DWFk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g0AhYNcbv.nbEGOWk41Z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rY.Ulqg0QMoMrz1g7s1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sQej0cyp.rQrglsuLpJ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CLdQoFLBG1hg5UWvC3b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pWERufvIGoT548rWP61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sBi4kgj6i9RXw.JmodG2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zOkHXdgqMNKgB_tSR13e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Z0oq8Emrm37KmI7ig_N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BDAsNjtxDGw9Hw6dJ08iQ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w_4NsDQ6OgUMFSw5S46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J3qSKFAXBDkeVnGQn7raQ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VrPKIWUBjU1cqJg1mOxg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kb7OAttmxUpFAbMEMtO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xitoUFNVQM3V5nJG31x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8GduNd5PW4ct9nYOQOky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vCkRMvWVQz3PzibsNJVw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64BkCKhJYOcoPdDnvqYg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uEoPpOVanMo0XR3gCBg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7Qr9r1P26Sp9lcQVulCz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vEAo9rTPviiazpHHM.xmQ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.XC_CRJk2J.GXaBtspcg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uF95cuuhgrPF64gJQ2I.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MhdLys8u0U1oiEFZABcw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8v.8xR4u4oNeC9yUK3g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TblAwFXvJ7JRnL2FgTs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EzghCNqITBMQ48WVa1K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Rrr5Cp2O4Zc9.crhOfn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be3BttcEVWOZmVNY7Ix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5QV5HI66pzPoRIp0qns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7ktx4yBGEtYCK1uYShgD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w5jUsHs8NC6ZEs.uFJSw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x.saLgLgCgi2apahrEYt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8pDkpGR.sEJ80IDV3Y3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s8xf26LrrJ2AuqzgLhcG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lb_hcfXH8Hk0X5725BjQ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0A_JrigyGFQBdOtaRR4n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2psr559AOcGZ6reDTI7nw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o1ZB4uo6WWK6shJpgB3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EL4OyXLmrvhC.Ctgk50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viPYTRujpoT8e2vmEAPw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kjMWuTm0JYNtkfCz1u.A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SjJCOBy6Z_2yusbzcVfQ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fZKXN9J6G5OTBj2CTkT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KMWKITmpXE7UwH31ZefA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NUFPitQu3e7yUdlG31cg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rTQfPBM7Hf1Cju_gy_m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AYWaNlJDNf9hUYagBEv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U.E3.WcFhgqafoQbV1L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Lyr1Ot5D2sn80rMnjz1g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3ZoN.tYv0GpDdS2jo9Qn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exxq2KSpkLsnw0rX6v7ig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ZkeyDl0FmkSsLZxXFps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GqEsSYHLFoHG1SNaad7q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qsWxYEh50M8fMh5WcrN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vlhOPvl5bMObnfbT2XZA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4510</TotalTime>
  <Words>1548</Words>
  <Application>Microsoft Macintosh PowerPoint</Application>
  <PresentationFormat>Custom</PresentationFormat>
  <Paragraphs>367</Paragraphs>
  <Slides>13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-webkit-standard</vt:lpstr>
      <vt:lpstr>Aptos</vt:lpstr>
      <vt:lpstr>Arial</vt:lpstr>
      <vt:lpstr>Calibri</vt:lpstr>
      <vt:lpstr>Helvetica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SCARAVELLI Alberto</cp:lastModifiedBy>
  <cp:revision>6</cp:revision>
  <dcterms:created xsi:type="dcterms:W3CDTF">2013-01-27T09:14:16Z</dcterms:created>
  <dcterms:modified xsi:type="dcterms:W3CDTF">2026-03-28T19:01:08Z</dcterms:modified>
  <cp:category/>
</cp:coreProperties>
</file>