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embeddings/Microsoft_Excel_Worksheet10.xlsx" ContentType="application/vnd.openxmlformats-officedocument.spreadsheetml.sheet"/>
  <Override PartName="/ppt/embeddings/Microsoft_Excel_Worksheet11.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69" r:id="rId4"/>
    <p:sldId id="271" r:id="rId5"/>
    <p:sldId id="272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74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8590"/>
    <a:srgbClr val="F5A6A6"/>
    <a:srgbClr val="A8D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 snapToObjects="1">
      <p:cViewPr>
        <p:scale>
          <a:sx n="100" d="100"/>
          <a:sy n="100" d="100"/>
        </p:scale>
        <p:origin x="1024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GB" sz="1100">
                <a:solidFill>
                  <a:sysClr val="windowText" lastClr="000000"/>
                </a:solidFill>
              </a:rPr>
              <a:t>Top 10 — Best  (group avg CAR +6.9%)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415074092300962E-2"/>
          <c:y val="0.12916666666666668"/>
          <c:w val="0.85473380768810148"/>
          <c:h val="0.6026554675297489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John F. Reed  (n=63)</c:v>
                </c:pt>
                <c:pt idx="1">
                  <c:v>Bradley S. Schneider  (n=22)</c:v>
                </c:pt>
                <c:pt idx="2">
                  <c:v>Suzan K. Delbene  (n=21)</c:v>
                </c:pt>
                <c:pt idx="3">
                  <c:v>David P. Joyce  (n=51)</c:v>
                </c:pt>
                <c:pt idx="4">
                  <c:v>John Boozman  (n=45)</c:v>
                </c:pt>
                <c:pt idx="5">
                  <c:v>Victoria Spartz  (n=20)</c:v>
                </c:pt>
                <c:pt idx="6">
                  <c:v>Donald Sternoff Beyer Jr  (n=299)</c:v>
                </c:pt>
                <c:pt idx="7">
                  <c:v>Mo Brooks  (n=24)</c:v>
                </c:pt>
                <c:pt idx="8">
                  <c:v>Dan Sullivan  (n=35)</c:v>
                </c:pt>
                <c:pt idx="9">
                  <c:v>Debbie Wasserman Schultz  (n=20)</c:v>
                </c:pt>
              </c:strCache>
            </c:strRef>
          </c:cat>
          <c:val>
            <c:numLit>
              <c:formatCode>0.00</c:formatCode>
              <c:ptCount val="10"/>
              <c:pt idx="0">
                <c:v>1.7660663760726902</c:v>
              </c:pt>
              <c:pt idx="1">
                <c:v>2.279426815370135</c:v>
              </c:pt>
              <c:pt idx="2">
                <c:v>2.47593159867059</c:v>
              </c:pt>
              <c:pt idx="3">
                <c:v>2.48435790575106</c:v>
              </c:pt>
              <c:pt idx="4">
                <c:v>2.73124643272802</c:v>
              </c:pt>
              <c:pt idx="5">
                <c:v>4.197200525942231</c:v>
              </c:pt>
              <c:pt idx="6">
                <c:v>4.61694439859321</c:v>
              </c:pt>
              <c:pt idx="7">
                <c:v>4.713939395935425</c:v>
              </c:pt>
              <c:pt idx="8">
                <c:v>14.706332736224029</c:v>
              </c:pt>
              <c:pt idx="9">
                <c:v>29.16999989587111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9C6-3E49-8CB3-8F655E635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1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10"/>
              <c:pt idx="0">
                <c:v>63.49206349206349</c:v>
              </c:pt>
              <c:pt idx="1">
                <c:v>68.18181818181817</c:v>
              </c:pt>
              <c:pt idx="2">
                <c:v>80.95238095238095</c:v>
              </c:pt>
              <c:pt idx="3">
                <c:v>68.62745098039215</c:v>
              </c:pt>
              <c:pt idx="4">
                <c:v>75.55555555555556</c:v>
              </c:pt>
              <c:pt idx="5">
                <c:v>70.0</c:v>
              </c:pt>
              <c:pt idx="6">
                <c:v>63.54515050167224</c:v>
              </c:pt>
              <c:pt idx="7">
                <c:v>62.5</c:v>
              </c:pt>
              <c:pt idx="8">
                <c:v>82.85714285714286</c:v>
              </c:pt>
              <c:pt idx="9">
                <c:v>75.0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49C6-3E49-8CB3-8F655E635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3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C8590"/>
                </a:solidFill>
              </a:defRPr>
            </a:pPr>
            <a:endParaRPr lang="en-IT"/>
          </a:p>
        </c:txPr>
        <c:crossAx val="101"/>
        <c:crosses val="autoZero"/>
        <c:crossBetween val="between"/>
      </c:valAx>
      <c:valAx>
        <c:axId val="103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31646195592738408"/>
          <c:y val="5.3112139917695471E-2"/>
          <c:w val="0.36273581036745406"/>
          <c:h val="4.3390525258416773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GB" sz="1100">
                <a:solidFill>
                  <a:sysClr val="windowText" lastClr="000000"/>
                </a:solidFill>
              </a:rPr>
              <a:t>Bottom 10 — Worst  (group avg CAR -8.5%)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625956911636046"/>
          <c:y val="0.13284465020576131"/>
          <c:w val="0.81881630030621178"/>
          <c:h val="0.6245275185509219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Austin Scott  (n=35)</c:v>
                </c:pt>
                <c:pt idx="1">
                  <c:v>Mrs. Marjorie Taylor Greene  (n=22)</c:v>
                </c:pt>
                <c:pt idx="2">
                  <c:v>Tom Malinowski  (n=104)</c:v>
                </c:pt>
                <c:pt idx="3">
                  <c:v>C. Scott Franklin  (n=26)</c:v>
                </c:pt>
                <c:pt idx="4">
                  <c:v>James Comer  (n=27)</c:v>
                </c:pt>
                <c:pt idx="5">
                  <c:v>Michael Patrick Guest  (n=43)</c:v>
                </c:pt>
                <c:pt idx="6">
                  <c:v>Carol Devine Miller  (n=55)</c:v>
                </c:pt>
                <c:pt idx="7">
                  <c:v>Daniel Goldman  (n=307)</c:v>
                </c:pt>
                <c:pt idx="8">
                  <c:v>Daniel Meuser  (n=26)</c:v>
                </c:pt>
                <c:pt idx="9">
                  <c:v>Patrick Fallon  (n=57)</c:v>
                </c:pt>
              </c:strCache>
            </c:strRef>
          </c:cat>
          <c:val>
            <c:numLit>
              <c:formatCode>0.00</c:formatCode>
              <c:ptCount val="10"/>
              <c:pt idx="0">
                <c:v>-18.96702364707319</c:v>
              </c:pt>
              <c:pt idx="1">
                <c:v>-15.882217308014068</c:v>
              </c:pt>
              <c:pt idx="2">
                <c:v>-9.954606977386245</c:v>
              </c:pt>
              <c:pt idx="3">
                <c:v>-9.87156870678083</c:v>
              </c:pt>
              <c:pt idx="4">
                <c:v>-7.9618406230786105</c:v>
              </c:pt>
              <c:pt idx="5">
                <c:v>-6.38482793838403</c:v>
              </c:pt>
              <c:pt idx="6">
                <c:v>-6.21455182879835</c:v>
              </c:pt>
              <c:pt idx="7">
                <c:v>-5.24692010878606</c:v>
              </c:pt>
              <c:pt idx="8">
                <c:v>-2.81837040398344</c:v>
              </c:pt>
              <c:pt idx="9">
                <c:v>-1.2267898162642499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B3-F44B-AA2C-104DC0B7C0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1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10"/>
              <c:pt idx="0">
                <c:v>34.285714285714285</c:v>
              </c:pt>
              <c:pt idx="1">
                <c:v>27.27272727272727</c:v>
              </c:pt>
              <c:pt idx="2">
                <c:v>29.807692307692307</c:v>
              </c:pt>
              <c:pt idx="3">
                <c:v>15.384615384615385</c:v>
              </c:pt>
              <c:pt idx="4">
                <c:v>33.33333333333333</c:v>
              </c:pt>
              <c:pt idx="5">
                <c:v>34.883720930232556</c:v>
              </c:pt>
              <c:pt idx="6">
                <c:v>30.909090909090907</c:v>
              </c:pt>
              <c:pt idx="7">
                <c:v>35.17915309446254</c:v>
              </c:pt>
              <c:pt idx="8">
                <c:v>26.923076923076923</c:v>
              </c:pt>
              <c:pt idx="9">
                <c:v>35.08771929824561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37B3-F44B-AA2C-104DC0B7C0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3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C8590"/>
                </a:solidFill>
              </a:defRPr>
            </a:pPr>
            <a:endParaRPr lang="en-IT"/>
          </a:p>
        </c:txPr>
        <c:crossAx val="101"/>
        <c:crosses val="autoZero"/>
        <c:crossBetween val="between"/>
      </c:valAx>
      <c:valAx>
        <c:axId val="103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31863209481627297"/>
          <c:y val="5.0540123456790119E-2"/>
          <c:w val="0.36273581036745406"/>
          <c:h val="4.3124325716954091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3.6182152919861398E-2"/>
          <c:y val="5.614657210401891E-2"/>
          <c:w val="0.9251804892498674"/>
          <c:h val="0.875325059101654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Trade Volume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invertIfNegative val="1"/>
          <c:cat>
            <c:strRef>
              <c:f>Sheet1!$A$2:$A$42</c:f>
              <c:strCache>
                <c:ptCount val="41"/>
                <c:pt idx="0">
                  <c:v>2015Q1</c:v>
                </c:pt>
                <c:pt idx="4">
                  <c:v>2016Q1</c:v>
                </c:pt>
                <c:pt idx="8">
                  <c:v>2017Q1</c:v>
                </c:pt>
                <c:pt idx="12">
                  <c:v>2018Q1</c:v>
                </c:pt>
                <c:pt idx="16">
                  <c:v>2019Q1</c:v>
                </c:pt>
                <c:pt idx="20">
                  <c:v>2020Q1</c:v>
                </c:pt>
                <c:pt idx="24">
                  <c:v>2021Q1</c:v>
                </c:pt>
                <c:pt idx="28">
                  <c:v>2022Q1</c:v>
                </c:pt>
                <c:pt idx="32">
                  <c:v>2023Q1</c:v>
                </c:pt>
                <c:pt idx="36">
                  <c:v>2024Q1</c:v>
                </c:pt>
                <c:pt idx="40">
                  <c:v>2025Q1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89.0</c:v>
                </c:pt>
                <c:pt idx="1">
                  <c:v>95.0</c:v>
                </c:pt>
                <c:pt idx="2">
                  <c:v>117.0</c:v>
                </c:pt>
                <c:pt idx="3">
                  <c:v>2.0</c:v>
                </c:pt>
                <c:pt idx="4">
                  <c:v>108.0</c:v>
                </c:pt>
                <c:pt idx="5">
                  <c:v>116.0</c:v>
                </c:pt>
                <c:pt idx="6">
                  <c:v>78.0</c:v>
                </c:pt>
                <c:pt idx="7">
                  <c:v>115.0</c:v>
                </c:pt>
                <c:pt idx="8">
                  <c:v>190.0</c:v>
                </c:pt>
                <c:pt idx="9">
                  <c:v>92.0</c:v>
                </c:pt>
                <c:pt idx="10">
                  <c:v>132.0</c:v>
                </c:pt>
                <c:pt idx="11">
                  <c:v>168.0</c:v>
                </c:pt>
                <c:pt idx="12">
                  <c:v>124.0</c:v>
                </c:pt>
                <c:pt idx="13">
                  <c:v>317.0</c:v>
                </c:pt>
                <c:pt idx="14">
                  <c:v>710.0</c:v>
                </c:pt>
                <c:pt idx="15">
                  <c:v>496.0</c:v>
                </c:pt>
                <c:pt idx="16">
                  <c:v>658.0</c:v>
                </c:pt>
                <c:pt idx="17">
                  <c:v>543.0</c:v>
                </c:pt>
                <c:pt idx="18">
                  <c:v>388.0</c:v>
                </c:pt>
                <c:pt idx="19">
                  <c:v>545.0</c:v>
                </c:pt>
                <c:pt idx="20">
                  <c:v>651.0</c:v>
                </c:pt>
                <c:pt idx="21">
                  <c:v>1208.0</c:v>
                </c:pt>
                <c:pt idx="22">
                  <c:v>707.0</c:v>
                </c:pt>
                <c:pt idx="23">
                  <c:v>683.0</c:v>
                </c:pt>
                <c:pt idx="24">
                  <c:v>568.0</c:v>
                </c:pt>
                <c:pt idx="25">
                  <c:v>501.0</c:v>
                </c:pt>
                <c:pt idx="26">
                  <c:v>804.0</c:v>
                </c:pt>
                <c:pt idx="27">
                  <c:v>475.0</c:v>
                </c:pt>
                <c:pt idx="28">
                  <c:v>401.0</c:v>
                </c:pt>
                <c:pt idx="29">
                  <c:v>312.0</c:v>
                </c:pt>
                <c:pt idx="30">
                  <c:v>472.0</c:v>
                </c:pt>
                <c:pt idx="31">
                  <c:v>355.0</c:v>
                </c:pt>
                <c:pt idx="32">
                  <c:v>351.0</c:v>
                </c:pt>
                <c:pt idx="33">
                  <c:v>509.0</c:v>
                </c:pt>
                <c:pt idx="34">
                  <c:v>284.0</c:v>
                </c:pt>
                <c:pt idx="35">
                  <c:v>406.0</c:v>
                </c:pt>
                <c:pt idx="36">
                  <c:v>283.0</c:v>
                </c:pt>
                <c:pt idx="37">
                  <c:v>189.0</c:v>
                </c:pt>
                <c:pt idx="38">
                  <c:v>496.0</c:v>
                </c:pt>
                <c:pt idx="39">
                  <c:v>248.0</c:v>
                </c:pt>
                <c:pt idx="40">
                  <c:v>131.0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B2E-C143-8471-9AA60220C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1"/>
        <c:ser>
          <c:idx val="1"/>
          <c:order val="1"/>
          <c:tx>
            <c:v>% Positive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41"/>
              <c:pt idx="0">
                <c:v>47.19101123595505</c:v>
              </c:pt>
              <c:pt idx="1">
                <c:v>32.631578947368425</c:v>
              </c:pt>
              <c:pt idx="2">
                <c:v>50.427350427350426</c:v>
              </c:pt>
              <c:pt idx="3">
                <c:v>100.0</c:v>
              </c:pt>
              <c:pt idx="4">
                <c:v>80.55555555555556</c:v>
              </c:pt>
              <c:pt idx="5">
                <c:v>56.896551724137936</c:v>
              </c:pt>
              <c:pt idx="6">
                <c:v>52.56410256410257</c:v>
              </c:pt>
              <c:pt idx="7">
                <c:v>46.95652173913044</c:v>
              </c:pt>
              <c:pt idx="8">
                <c:v>37.368421052631575</c:v>
              </c:pt>
              <c:pt idx="9">
                <c:v>53.2608695652174</c:v>
              </c:pt>
              <c:pt idx="10">
                <c:v>65.15151515151516</c:v>
              </c:pt>
              <c:pt idx="11">
                <c:v>44.047619047619044</c:v>
              </c:pt>
              <c:pt idx="12">
                <c:v>51.61290322580645</c:v>
              </c:pt>
              <c:pt idx="13">
                <c:v>56.15141955835961</c:v>
              </c:pt>
              <c:pt idx="14">
                <c:v>49.15492957746479</c:v>
              </c:pt>
              <c:pt idx="15">
                <c:v>55.24193548387096</c:v>
              </c:pt>
              <c:pt idx="16">
                <c:v>48.632218844984806</c:v>
              </c:pt>
              <c:pt idx="17">
                <c:v>46.408839779005525</c:v>
              </c:pt>
              <c:pt idx="18">
                <c:v>44.84536082474227</c:v>
              </c:pt>
              <c:pt idx="19">
                <c:v>50.091743119266056</c:v>
              </c:pt>
              <c:pt idx="20">
                <c:v>52.38095238095239</c:v>
              </c:pt>
              <c:pt idx="21">
                <c:v>55.4635761589404</c:v>
              </c:pt>
              <c:pt idx="22">
                <c:v>49.929278642149924</c:v>
              </c:pt>
              <c:pt idx="23">
                <c:v>49.780380673499266</c:v>
              </c:pt>
              <c:pt idx="24">
                <c:v>42.07746478873239</c:v>
              </c:pt>
              <c:pt idx="25">
                <c:v>45.309381237524946</c:v>
              </c:pt>
              <c:pt idx="26">
                <c:v>44.90049751243781</c:v>
              </c:pt>
              <c:pt idx="27">
                <c:v>48.421052631578945</c:v>
              </c:pt>
              <c:pt idx="28">
                <c:v>53.11720698254364</c:v>
              </c:pt>
              <c:pt idx="29">
                <c:v>52.243589743589745</c:v>
              </c:pt>
              <c:pt idx="30">
                <c:v>43.22033898305085</c:v>
              </c:pt>
              <c:pt idx="31">
                <c:v>50.140845070422536</c:v>
              </c:pt>
              <c:pt idx="32">
                <c:v>37.03703703703704</c:v>
              </c:pt>
              <c:pt idx="33">
                <c:v>40.86444007858546</c:v>
              </c:pt>
              <c:pt idx="34">
                <c:v>42.6056338028169</c:v>
              </c:pt>
              <c:pt idx="35">
                <c:v>45.320197044334975</c:v>
              </c:pt>
              <c:pt idx="36">
                <c:v>44.87632508833922</c:v>
              </c:pt>
              <c:pt idx="37">
                <c:v>42.857142857142854</c:v>
              </c:pt>
              <c:pt idx="38">
                <c:v>44.95967741935484</c:v>
              </c:pt>
              <c:pt idx="39">
                <c:v>49.596774193548384</c:v>
              </c:pt>
              <c:pt idx="40">
                <c:v>51.908396946564885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DB2E-C143-8471-9AA60220C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3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C8590"/>
                </a:solidFill>
              </a:defRPr>
            </a:pPr>
            <a:endParaRPr lang="en-IT"/>
          </a:p>
        </c:txPr>
        <c:crossAx val="101"/>
        <c:crosses val="autoZero"/>
        <c:crossBetween val="between"/>
      </c:valAx>
      <c:valAx>
        <c:axId val="103"/>
        <c:scaling>
          <c:orientation val="minMax"/>
          <c:max val="10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40717160600987867"/>
          <c:y val="0"/>
          <c:w val="0.17909510819021637"/>
          <c:h val="4.9852943913925654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>
                <a:solidFill>
                  <a:srgbClr val="E6EDF3"/>
                </a:solidFill>
              </a:rPr>
              <a:t>Median CAR % — Dem vs Rep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1-B872-6B4D-82B5-C700B5C08B8A}"/>
              </c:ext>
            </c:extLst>
          </c:dPt>
          <c:dPt>
            <c:idx val="1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3-B872-6B4D-82B5-C700B5C08B8A}"/>
              </c:ext>
            </c:extLst>
          </c:dPt>
          <c:cat>
            <c:strRef>
              <c:f>Sheet1!$A$2:$A$3</c:f>
              <c:strCache>
                <c:ptCount val="2"/>
                <c:pt idx="0">
                  <c:v>Democrat</c:v>
                </c:pt>
                <c:pt idx="1">
                  <c:v>Republican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-0.69067488071926997</c:v>
                </c:pt>
                <c:pt idx="1">
                  <c:v>-0.38121448098941002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72-6B4D-82B5-C700B5C08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GB">
                    <a:solidFill>
                      <a:srgbClr val="7D8590"/>
                    </a:solidFill>
                  </a:rPr>
                  <a:t>Median CAR %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  <a:ln w="25400">
          <a:noFill/>
        </a:ln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2"/>
              <c:pt idx="0">
                <c:v>47.5982016090866</c:v>
              </c:pt>
              <c:pt idx="1">
                <c:v>49.129229062673325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>
                <a:solidFill>
                  <a:srgbClr val="E6EDF3"/>
                </a:solidFill>
              </a:rPr>
              <a:t>Median CAR % by Disclosure Delay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3FB950"/>
              </a:solidFill>
            </c:spPr>
            <c:extLst>
              <c:ext xmlns:c16="http://schemas.microsoft.com/office/drawing/2014/chart" uri="{C3380CC4-5D6E-409C-BE32-E72D297353CC}">
                <c16:uniqueId val="{00000001-A5CC-9845-BA7F-41ACE5FAD2A7}"/>
              </c:ext>
            </c:extLst>
          </c:dPt>
          <c:dPt>
            <c:idx val="1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3-A5CC-9845-BA7F-41ACE5FAD2A7}"/>
              </c:ext>
            </c:extLst>
          </c:dPt>
          <c:dPt>
            <c:idx val="2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5-A5CC-9845-BA7F-41ACE5FAD2A7}"/>
              </c:ext>
            </c:extLst>
          </c:dPt>
          <c:dPt>
            <c:idx val="3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7-A5CC-9845-BA7F-41ACE5FAD2A7}"/>
              </c:ext>
            </c:extLst>
          </c:dPt>
          <c:dPt>
            <c:idx val="4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9-A5CC-9845-BA7F-41ACE5FAD2A7}"/>
              </c:ext>
            </c:extLst>
          </c:dPt>
          <c:dPt>
            <c:idx val="5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B-A5CC-9845-BA7F-41ACE5FAD2A7}"/>
              </c:ext>
            </c:extLst>
          </c:dPt>
          <c:dPt>
            <c:idx val="6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D-A5CC-9845-BA7F-41ACE5FAD2A7}"/>
              </c:ext>
            </c:extLst>
          </c:dPt>
          <c:cat>
            <c:strRef>
              <c:f>Sheet1!$A$2:$A$8</c:f>
              <c:strCache>
                <c:ptCount val="7"/>
                <c:pt idx="0">
                  <c:v>0-10d</c:v>
                </c:pt>
                <c:pt idx="1">
                  <c:v>10-20d</c:v>
                </c:pt>
                <c:pt idx="2">
                  <c:v>20-30d</c:v>
                </c:pt>
                <c:pt idx="3">
                  <c:v>30-40d</c:v>
                </c:pt>
                <c:pt idx="4">
                  <c:v>40-45d</c:v>
                </c:pt>
                <c:pt idx="5">
                  <c:v>45-50d</c:v>
                </c:pt>
                <c:pt idx="6">
                  <c:v>50d+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1.16227405624277</c:v>
                </c:pt>
                <c:pt idx="1">
                  <c:v>-0.58365752900530998</c:v>
                </c:pt>
                <c:pt idx="2">
                  <c:v>-0.26377859110444002</c:v>
                </c:pt>
                <c:pt idx="3">
                  <c:v>-0.38217530420059503</c:v>
                </c:pt>
                <c:pt idx="4">
                  <c:v>-1.2460012898638602</c:v>
                </c:pt>
                <c:pt idx="5">
                  <c:v>-2.1971285924551101</c:v>
                </c:pt>
                <c:pt idx="6">
                  <c:v>-0.83217734529470488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5CC-9845-BA7F-41ACE5FAD2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GB">
                    <a:solidFill>
                      <a:srgbClr val="7D8590"/>
                    </a:solidFill>
                  </a:rPr>
                  <a:t>Median CAR %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7"/>
              <c:pt idx="0">
                <c:v>51.97537198563366</c:v>
              </c:pt>
              <c:pt idx="1">
                <c:v>47.2771524186188</c:v>
              </c:pt>
              <c:pt idx="2">
                <c:v>49.00619790553537</c:v>
              </c:pt>
              <c:pt idx="3">
                <c:v>48.31530139103555</c:v>
              </c:pt>
              <c:pt idx="4">
                <c:v>47.73869346733669</c:v>
              </c:pt>
              <c:pt idx="5">
                <c:v>42.8921568627451</c:v>
              </c:pt>
              <c:pt idx="6">
                <c:v>47.43981010512038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>
                <a:solidFill>
                  <a:srgbClr val="E6EDF3"/>
                </a:solidFill>
              </a:rPr>
              <a:t>Median CAR % by Committee-Industry Match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1-749A-954B-B3AF-E84456626015}"/>
              </c:ext>
            </c:extLst>
          </c:dPt>
          <c:dPt>
            <c:idx val="1"/>
            <c:invertIfNegative val="1"/>
            <c:bubble3D val="0"/>
            <c:spPr>
              <a:solidFill>
                <a:srgbClr val="3FB950"/>
              </a:solidFill>
            </c:spPr>
            <c:extLst>
              <c:ext xmlns:c16="http://schemas.microsoft.com/office/drawing/2014/chart" uri="{C3380CC4-5D6E-409C-BE32-E72D297353CC}">
                <c16:uniqueId val="{00000003-749A-954B-B3AF-E84456626015}"/>
              </c:ext>
            </c:extLst>
          </c:dPt>
          <c:dPt>
            <c:idx val="2"/>
            <c:invertIfNegative val="1"/>
            <c:bubble3D val="0"/>
            <c:spPr>
              <a:solidFill>
                <a:srgbClr val="3FB950"/>
              </a:solidFill>
            </c:spPr>
            <c:extLst>
              <c:ext xmlns:c16="http://schemas.microsoft.com/office/drawing/2014/chart" uri="{C3380CC4-5D6E-409C-BE32-E72D297353CC}">
                <c16:uniqueId val="{00000005-749A-954B-B3AF-E84456626015}"/>
              </c:ext>
            </c:extLst>
          </c:dPt>
          <c:dPt>
            <c:idx val="3"/>
            <c:invertIfNegative val="1"/>
            <c:bubble3D val="0"/>
            <c:spPr>
              <a:solidFill>
                <a:srgbClr val="F85149"/>
              </a:solidFill>
            </c:spPr>
            <c:extLst>
              <c:ext xmlns:c16="http://schemas.microsoft.com/office/drawing/2014/chart" uri="{C3380CC4-5D6E-409C-BE32-E72D297353CC}">
                <c16:uniqueId val="{00000007-749A-954B-B3AF-E84456626015}"/>
              </c:ext>
            </c:extLst>
          </c:dPt>
          <c:cat>
            <c:strRef>
              <c:f>Sheet1!$A$2:$A$5</c:f>
              <c:strCache>
                <c:ptCount val="4"/>
                <c:pt idx="0">
                  <c:v>No Match</c:v>
                </c:pt>
                <c:pt idx="1">
                  <c:v>Tier 1 (Tangential)</c:v>
                </c:pt>
                <c:pt idx="2">
                  <c:v>Tier 2 (Oversight)</c:v>
                </c:pt>
                <c:pt idx="3">
                  <c:v>Tier 3 (Direct)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-0.49945448757105998</c:v>
                </c:pt>
                <c:pt idx="1">
                  <c:v>0.30842551617068498</c:v>
                </c:pt>
                <c:pt idx="2">
                  <c:v>0.11895684651623999</c:v>
                </c:pt>
                <c:pt idx="3">
                  <c:v>-1.7360284043146399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9A-954B-B3AF-E84456626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GB">
                    <a:solidFill>
                      <a:srgbClr val="7D8590"/>
                    </a:solidFill>
                  </a:rPr>
                  <a:t>Median CAR %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4"/>
              <c:pt idx="0">
                <c:v>48.40090820629257</c:v>
              </c:pt>
              <c:pt idx="1">
                <c:v>51.067961165048544</c:v>
              </c:pt>
              <c:pt idx="2">
                <c:v>48.49673202614379</c:v>
              </c:pt>
              <c:pt idx="3">
                <c:v>46.44607843137255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ln>
              <a:noFill/>
            </a:ln>
            <a:solidFill>
              <a:srgbClr val="388BFD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Defense &amp;
Security</c:v>
                </c:pt>
                <c:pt idx="1">
                  <c:v>Finance &amp;
Housing</c:v>
                </c:pt>
                <c:pt idx="2">
                  <c:v>Fiscal
Policy</c:v>
                </c:pt>
                <c:pt idx="3">
                  <c:v>Energy &amp;
Environment</c:v>
                </c:pt>
                <c:pt idx="4">
                  <c:v>Health &amp;
Labor</c:v>
                </c:pt>
                <c:pt idx="5">
                  <c:v>Commerce
&amp; Tech</c:v>
                </c:pt>
                <c:pt idx="6">
                  <c:v>Agriculture</c:v>
                </c:pt>
                <c:pt idx="7">
                  <c:v>Infrastructure</c:v>
                </c:pt>
                <c:pt idx="8">
                  <c:v>Oversight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-0.6546827238738241</c:v>
                </c:pt>
                <c:pt idx="1">
                  <c:v>-1.0101159990043627</c:v>
                </c:pt>
                <c:pt idx="2">
                  <c:v>0.4054758499015376</c:v>
                </c:pt>
                <c:pt idx="3">
                  <c:v>1.1620740389768909</c:v>
                </c:pt>
                <c:pt idx="4">
                  <c:v>-0.3649241244392869</c:v>
                </c:pt>
                <c:pt idx="5">
                  <c:v>1.3796209338062315</c:v>
                </c:pt>
                <c:pt idx="6">
                  <c:v>-0.3782785875968105</c:v>
                </c:pt>
                <c:pt idx="7">
                  <c:v>-1.361810404559563</c:v>
                </c:pt>
                <c:pt idx="8">
                  <c:v>-1.7600007524515966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BF2-6540-A3A6-7A584CC085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solidFill>
          <a:srgbClr val="161B22"/>
        </a:solidFill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9"/>
              <c:pt idx="0">
                <c:v>48.31149193548387</c:v>
              </c:pt>
              <c:pt idx="1">
                <c:v>47.259684361549496</c:v>
              </c:pt>
              <c:pt idx="2">
                <c:v>51.298701298701296</c:v>
              </c:pt>
              <c:pt idx="3">
                <c:v>53.5366931918656</c:v>
              </c:pt>
              <c:pt idx="4">
                <c:v>48.7880496054115</c:v>
              </c:pt>
              <c:pt idx="5">
                <c:v>53.239436619718305</c:v>
              </c:pt>
              <c:pt idx="6">
                <c:v>48.71418074944893</c:v>
              </c:pt>
              <c:pt idx="7">
                <c:v>44.20519316022799</c:v>
              </c:pt>
              <c:pt idx="8">
                <c:v>45.32447623914154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</c:plotArea>
    <c:legend>
      <c:legendPos val="t"/>
      <c:overlay val="1"/>
      <c:txPr>
        <a:bodyPr/>
        <a:lstStyle/>
        <a:p>
          <a:pPr>
            <a:defRPr sz="900">
              <a:solidFill>
                <a:srgbClr val="E6EDF3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ln>
              <a:noFill/>
            </a:ln>
            <a:solidFill>
              <a:srgbClr val="388BF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Committee
Chair</c:v>
                </c:pt>
                <c:pt idx="1">
                  <c:v>Majority
Party</c:v>
                </c:pt>
                <c:pt idx="2">
                  <c:v>Lobbied
(90d)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0.37665043896206796</c:v>
                </c:pt>
                <c:pt idx="1">
                  <c:v>0.37162819513987644</c:v>
                </c:pt>
                <c:pt idx="2">
                  <c:v>1.943774136559695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390-3747-9844-21AE7322D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solidFill>
          <a:srgbClr val="161B22"/>
        </a:solidFill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3"/>
              <c:pt idx="0">
                <c:v>50.46052631578948</c:v>
              </c:pt>
              <c:pt idx="1">
                <c:v>51.25994694960212</c:v>
              </c:pt>
              <c:pt idx="2">
                <c:v>56.375838926174495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</c:plotArea>
    <c:legend>
      <c:legendPos val="t"/>
      <c:overlay val="1"/>
      <c:txPr>
        <a:bodyPr/>
        <a:lstStyle/>
        <a:p>
          <a:pPr>
            <a:defRPr sz="900">
              <a:solidFill>
                <a:srgbClr val="E6EDF3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Median CAR %</c:v>
          </c:tx>
          <c:spPr>
            <a:solidFill>
              <a:srgbClr val="388BFD"/>
            </a:solidFill>
            <a:ln>
              <a:noFill/>
            </a:ln>
          </c:spPr>
          <c:invertIfNegative val="1"/>
          <c:cat>
            <c:strRef>
              <c:f>Sheet1!$A$2</c:f>
              <c:strCache>
                <c:ptCount val="10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75%</c:v>
                </c:pt>
                <c:pt idx="6">
                  <c:v>80%</c:v>
                </c:pt>
                <c:pt idx="7">
                  <c:v>85%</c:v>
                </c:pt>
                <c:pt idx="8">
                  <c:v>90%</c:v>
                </c:pt>
                <c:pt idx="9">
                  <c:v>95%</c:v>
                </c:pt>
              </c:strCache>
            </c:strRef>
          </c:cat>
          <c:val>
            <c:numLit>
              <c:formatCode>0.00</c:formatCode>
              <c:ptCount val="10"/>
              <c:pt idx="0">
                <c:v>-1.4953</c:v>
              </c:pt>
              <c:pt idx="1">
                <c:v>-1.3224</c:v>
              </c:pt>
              <c:pt idx="2">
                <c:v>-0.727</c:v>
              </c:pt>
              <c:pt idx="3">
                <c:v>-0.5243</c:v>
              </c:pt>
              <c:pt idx="4">
                <c:v>-0.2473</c:v>
              </c:pt>
              <c:pt idx="5">
                <c:v>0.3364</c:v>
              </c:pt>
              <c:pt idx="6">
                <c:v>0.4385</c:v>
              </c:pt>
              <c:pt idx="7">
                <c:v>0.6296</c:v>
              </c:pt>
              <c:pt idx="8">
                <c:v>-0.763</c:v>
              </c:pt>
              <c:pt idx="9">
                <c:v>-3.5683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1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solidFill>
          <a:srgbClr val="161B22"/>
        </a:solidFill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10"/>
              <c:pt idx="0">
                <c:v>45.9138</c:v>
              </c:pt>
              <c:pt idx="1">
                <c:v>46.4035</c:v>
              </c:pt>
              <c:pt idx="2">
                <c:v>47.4634</c:v>
              </c:pt>
              <c:pt idx="3">
                <c:v>48.0234</c:v>
              </c:pt>
              <c:pt idx="4">
                <c:v>49.0909</c:v>
              </c:pt>
              <c:pt idx="5">
                <c:v>51.8732</c:v>
              </c:pt>
              <c:pt idx="6">
                <c:v>51.6279</c:v>
              </c:pt>
              <c:pt idx="7">
                <c:v>51.4851</c:v>
              </c:pt>
              <c:pt idx="8">
                <c:v>50.0</c:v>
              </c:pt>
              <c:pt idx="9">
                <c:v>50.0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9999"/>
      </c:lineChart>
    </c:plotArea>
    <c:legend>
      <c:legendPos val="t"/>
      <c:overlay val="1"/>
      <c:txPr>
        <a:bodyPr/>
        <a:lstStyle/>
        <a:p>
          <a:pPr>
            <a:defRPr sz="900">
              <a:solidFill>
                <a:srgbClr val="E6EDF3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>
                <a:solidFill>
                  <a:srgbClr val="E6EDF3"/>
                </a:solidFill>
              </a:rPr>
              <a:t>Feature Importances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1-DD42-C143-8FE2-2526470CC518}"/>
              </c:ext>
            </c:extLst>
          </c:dPt>
          <c:dPt>
            <c:idx val="1"/>
            <c:invertIfNegative val="1"/>
            <c:bubble3D val="0"/>
            <c:spPr>
              <a:solidFill>
                <a:srgbClr val="388BFD"/>
              </a:solidFill>
            </c:spPr>
            <c:extLst>
              <c:ext xmlns:c16="http://schemas.microsoft.com/office/drawing/2014/chart" uri="{C3380CC4-5D6E-409C-BE32-E72D297353CC}">
                <c16:uniqueId val="{00000003-DD42-C143-8FE2-2526470CC518}"/>
              </c:ext>
            </c:extLst>
          </c:dPt>
          <c:dPt>
            <c:idx val="2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5-DD42-C143-8FE2-2526470CC518}"/>
              </c:ext>
            </c:extLst>
          </c:dPt>
          <c:dPt>
            <c:idx val="3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7-DD42-C143-8FE2-2526470CC518}"/>
              </c:ext>
            </c:extLst>
          </c:dPt>
          <c:dPt>
            <c:idx val="4"/>
            <c:invertIfNegative val="1"/>
            <c:bubble3D val="0"/>
            <c:spPr>
              <a:solidFill>
                <a:srgbClr val="F0883E"/>
              </a:solidFill>
            </c:spPr>
            <c:extLst>
              <c:ext xmlns:c16="http://schemas.microsoft.com/office/drawing/2014/chart" uri="{C3380CC4-5D6E-409C-BE32-E72D297353CC}">
                <c16:uniqueId val="{00000009-DD42-C143-8FE2-2526470CC518}"/>
              </c:ext>
            </c:extLst>
          </c:dPt>
          <c:dPt>
            <c:idx val="5"/>
            <c:invertIfNegative val="1"/>
            <c:bubble3D val="0"/>
            <c:spPr>
              <a:solidFill>
                <a:srgbClr val="4ECDC4"/>
              </a:solidFill>
            </c:spPr>
            <c:extLst>
              <c:ext xmlns:c16="http://schemas.microsoft.com/office/drawing/2014/chart" uri="{C3380CC4-5D6E-409C-BE32-E72D297353CC}">
                <c16:uniqueId val="{0000000B-DD42-C143-8FE2-2526470CC518}"/>
              </c:ext>
            </c:extLst>
          </c:dPt>
          <c:dPt>
            <c:idx val="6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D-DD42-C143-8FE2-2526470CC518}"/>
              </c:ext>
            </c:extLst>
          </c:dPt>
          <c:dPt>
            <c:idx val="7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F-DD42-C143-8FE2-2526470CC518}"/>
              </c:ext>
            </c:extLst>
          </c:dPt>
          <c:dPt>
            <c:idx val="8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11-DD42-C143-8FE2-2526470CC518}"/>
              </c:ext>
            </c:extLst>
          </c:dPt>
          <c:dPt>
            <c:idx val="9"/>
            <c:invertIfNegative val="1"/>
            <c:bubble3D val="0"/>
            <c:spPr>
              <a:solidFill>
                <a:srgbClr val="FB923C"/>
              </a:solidFill>
            </c:spPr>
            <c:extLst>
              <c:ext xmlns:c16="http://schemas.microsoft.com/office/drawing/2014/chart" uri="{C3380CC4-5D6E-409C-BE32-E72D297353CC}">
                <c16:uniqueId val="{00000013-DD42-C143-8FE2-2526470CC518}"/>
              </c:ext>
            </c:extLst>
          </c:dPt>
          <c:cat>
            <c:strRef>
              <c:f>Sheet1!$A$2:$A$11</c:f>
              <c:strCache>
                <c:ptCount val="10"/>
                <c:pt idx="0">
                  <c:v>Member of Finance &amp; Housing committee</c:v>
                </c:pt>
                <c:pt idx="1">
                  <c:v>Other politicians selling same stock (30d)</c:v>
                </c:pt>
                <c:pt idx="2">
                  <c:v>Tier-2 committee–industry overlap</c:v>
                </c:pt>
                <c:pt idx="3">
                  <c:v>Member of Energy &amp; Environment committee</c:v>
                </c:pt>
                <c:pt idx="4">
                  <c:v>Politician's past avg. return (realized)</c:v>
                </c:pt>
                <c:pt idx="5">
                  <c:v>House vs Senate</c:v>
                </c:pt>
                <c:pt idx="6">
                  <c:v>Tier-1 committee–industry overlap</c:v>
                </c:pt>
                <c:pt idx="7">
                  <c:v>Member of Oversight committee</c:v>
                </c:pt>
                <c:pt idx="8">
                  <c:v>Tier-3 committee–industry overlap</c:v>
                </c:pt>
                <c:pt idx="9">
                  <c:v>Company had active lobbying (90d)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3.0760383233428001E-2</c:v>
                </c:pt>
                <c:pt idx="1">
                  <c:v>3.0806133523583412E-2</c:v>
                </c:pt>
                <c:pt idx="2">
                  <c:v>3.1199920922517776E-2</c:v>
                </c:pt>
                <c:pt idx="3">
                  <c:v>3.122120164334774E-2</c:v>
                </c:pt>
                <c:pt idx="4">
                  <c:v>3.1226268038153648E-2</c:v>
                </c:pt>
                <c:pt idx="5">
                  <c:v>3.1334266066551208E-2</c:v>
                </c:pt>
                <c:pt idx="6">
                  <c:v>3.2110989093780518E-2</c:v>
                </c:pt>
                <c:pt idx="7">
                  <c:v>3.7880789488554001E-2</c:v>
                </c:pt>
                <c:pt idx="8">
                  <c:v>4.1656684130430222E-2</c:v>
                </c:pt>
                <c:pt idx="9">
                  <c:v>5.0378464162349701E-2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D42-C143-8FE2-2526470CC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spPr>
        <a:solidFill>
          <a:srgbClr val="161B22"/>
        </a:solidFill>
      </c:spPr>
    </c:plotArea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ln>
              <a:noFill/>
            </a:ln>
            <a:solidFill>
              <a:srgbClr val="388BFD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Defense &amp;
Security</c:v>
                </c:pt>
                <c:pt idx="1">
                  <c:v>Finance &amp;
Housing</c:v>
                </c:pt>
                <c:pt idx="2">
                  <c:v>Fiscal
Policy</c:v>
                </c:pt>
                <c:pt idx="3">
                  <c:v>Energy &amp;
Environment</c:v>
                </c:pt>
                <c:pt idx="4">
                  <c:v>Health &amp;
Labor</c:v>
                </c:pt>
                <c:pt idx="5">
                  <c:v>Commerce
&amp; Tech</c:v>
                </c:pt>
                <c:pt idx="6">
                  <c:v>Agriculture</c:v>
                </c:pt>
                <c:pt idx="7">
                  <c:v>Infrastructure</c:v>
                </c:pt>
                <c:pt idx="8">
                  <c:v>Oversight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-0.6546827238738241</c:v>
                </c:pt>
                <c:pt idx="1">
                  <c:v>-1.0101159990043627</c:v>
                </c:pt>
                <c:pt idx="2">
                  <c:v>0.4054758499015376</c:v>
                </c:pt>
                <c:pt idx="3">
                  <c:v>1.1620740389768909</c:v>
                </c:pt>
                <c:pt idx="4">
                  <c:v>-0.3649241244392869</c:v>
                </c:pt>
                <c:pt idx="5">
                  <c:v>1.3796209338062315</c:v>
                </c:pt>
                <c:pt idx="6">
                  <c:v>-0.3782785875968105</c:v>
                </c:pt>
                <c:pt idx="7">
                  <c:v>-1.361810404559563</c:v>
                </c:pt>
                <c:pt idx="8">
                  <c:v>-1.7600007524515966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BF2-6540-A3A6-7A584CC085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solidFill>
          <a:srgbClr val="161B22"/>
        </a:solidFill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9"/>
              <c:pt idx="0">
                <c:v>48.31149193548387</c:v>
              </c:pt>
              <c:pt idx="1">
                <c:v>47.259684361549496</c:v>
              </c:pt>
              <c:pt idx="2">
                <c:v>51.298701298701296</c:v>
              </c:pt>
              <c:pt idx="3">
                <c:v>53.5366931918656</c:v>
              </c:pt>
              <c:pt idx="4">
                <c:v>48.7880496054115</c:v>
              </c:pt>
              <c:pt idx="5">
                <c:v>53.239436619718305</c:v>
              </c:pt>
              <c:pt idx="6">
                <c:v>48.71418074944893</c:v>
              </c:pt>
              <c:pt idx="7">
                <c:v>44.20519316022799</c:v>
              </c:pt>
              <c:pt idx="8">
                <c:v>45.32447623914154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</c:plotArea>
    <c:legend>
      <c:legendPos val="t"/>
      <c:overlay val="1"/>
      <c:txPr>
        <a:bodyPr/>
        <a:lstStyle/>
        <a:p>
          <a:pPr>
            <a:defRPr sz="900">
              <a:solidFill>
                <a:srgbClr val="E6EDF3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ln>
              <a:noFill/>
            </a:ln>
            <a:solidFill>
              <a:srgbClr val="388BF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Committee
Chair</c:v>
                </c:pt>
                <c:pt idx="1">
                  <c:v>Majority
Party</c:v>
                </c:pt>
                <c:pt idx="2">
                  <c:v>Lobbied
(90d)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0.37665043896206796</c:v>
                </c:pt>
                <c:pt idx="1">
                  <c:v>0.37162819513987644</c:v>
                </c:pt>
                <c:pt idx="2">
                  <c:v>1.943774136559695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390-3747-9844-21AE7322D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solidFill>
          <a:srgbClr val="161B22"/>
        </a:solidFill>
      </c:spPr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3"/>
              <c:pt idx="0">
                <c:v>50.46052631578948</c:v>
              </c:pt>
              <c:pt idx="1">
                <c:v>51.25994694960212</c:v>
              </c:pt>
              <c:pt idx="2">
                <c:v>56.375838926174495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</c:plotArea>
    <c:legend>
      <c:legendPos val="t"/>
      <c:overlay val="1"/>
      <c:txPr>
        <a:bodyPr/>
        <a:lstStyle/>
        <a:p>
          <a:pPr>
            <a:defRPr sz="900">
              <a:solidFill>
                <a:srgbClr val="E6EDF3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4B4D0-048F-1C4A-B833-37700CAFA7EA}" type="datetimeFigureOut">
              <a:rPr lang="en-IT" smtClean="0"/>
              <a:t>25/03/26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FA227-CFFD-C94E-8259-04E51093CF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25990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61785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72DA-32C6-D866-C022-00F2782E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789A2-1245-A5BC-36DA-B8BC12378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5AE08-E066-5022-9989-1E606F458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758B5-5D66-7810-6B99-F35DF112E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623898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E6EDF3"/>
                </a:solidFill>
              </a:rPr>
              <a:t>Congressional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88BFD"/>
                </a:solidFill>
              </a:rPr>
              <a:t>Do Congress Members Beat the Market?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576072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7D8590"/>
                </a:solidFill>
              </a:rPr>
              <a:t>Machine Learning on STOCK Act Disclosures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DDBA3-0C52-6FBD-19A4-1993D5E7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98DB8-A030-F8F7-DF53-74DC9FAACA6F}"/>
              </a:ext>
            </a:extLst>
          </p:cNvPr>
          <p:cNvSpPr txBox="1"/>
          <p:nvPr/>
        </p:nvSpPr>
        <p:spPr>
          <a:xfrm>
            <a:off x="411480" y="164592"/>
            <a:ext cx="98731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Most Congressional Purchases Underperform the Market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77714E-98E0-91FC-0A67-7005271688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b="-218"/>
          <a:stretch>
            <a:fillRect/>
          </a:stretch>
        </p:blipFill>
        <p:spPr>
          <a:xfrm>
            <a:off x="411480" y="1297432"/>
            <a:ext cx="8708858" cy="50398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9E7701-7893-CBAE-74EC-0ED0A001B6A1}"/>
              </a:ext>
            </a:extLst>
          </p:cNvPr>
          <p:cNvSpPr/>
          <p:nvPr/>
        </p:nvSpPr>
        <p:spPr>
          <a:xfrm>
            <a:off x="9245600" y="14224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03D43-3FAE-FE9F-FA5A-737D5AF0CB8B}"/>
              </a:ext>
            </a:extLst>
          </p:cNvPr>
          <p:cNvSpPr/>
          <p:nvPr/>
        </p:nvSpPr>
        <p:spPr>
          <a:xfrm>
            <a:off x="9245600" y="29845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C17B8F-84F7-A210-1F99-136893837DEB}"/>
              </a:ext>
            </a:extLst>
          </p:cNvPr>
          <p:cNvSpPr/>
          <p:nvPr/>
        </p:nvSpPr>
        <p:spPr>
          <a:xfrm>
            <a:off x="9245600" y="46101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77090-D85D-CEB2-37B0-B2EF88E22571}"/>
              </a:ext>
            </a:extLst>
          </p:cNvPr>
          <p:cNvSpPr txBox="1"/>
          <p:nvPr/>
        </p:nvSpPr>
        <p:spPr>
          <a:xfrm>
            <a:off x="9415247" y="1806469"/>
            <a:ext cx="2165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		15k </a:t>
            </a:r>
          </a:p>
          <a:p>
            <a:r>
              <a:rPr lang="en-GB" dirty="0"/>
              <a:t>T</a:t>
            </a:r>
            <a:r>
              <a:rPr lang="en-IT" dirty="0"/>
              <a:t>otal modeled trades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430C9-CCCE-5FDD-9134-66C66738FAF7}"/>
              </a:ext>
            </a:extLst>
          </p:cNvPr>
          <p:cNvSpPr txBox="1"/>
          <p:nvPr/>
        </p:nvSpPr>
        <p:spPr>
          <a:xfrm>
            <a:off x="9828404" y="331538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-0,5%</a:t>
            </a:r>
          </a:p>
          <a:p>
            <a:pPr algn="ctr"/>
            <a:r>
              <a:rPr lang="en-GB" dirty="0"/>
              <a:t>Median CAR</a:t>
            </a:r>
            <a:endParaRPr lang="en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B29D1-05F1-5036-951D-3A48B12B3C54}"/>
              </a:ext>
            </a:extLst>
          </p:cNvPr>
          <p:cNvSpPr txBox="1"/>
          <p:nvPr/>
        </p:nvSpPr>
        <p:spPr>
          <a:xfrm>
            <a:off x="10002204" y="4940984"/>
            <a:ext cx="991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48.5%</a:t>
            </a:r>
          </a:p>
          <a:p>
            <a:pPr algn="ctr"/>
            <a:r>
              <a:rPr lang="en-GB" dirty="0"/>
              <a:t>Win rate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99841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CD33-8469-0377-DD41-86D1CC77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40665-9B33-C68C-A6E6-14B31F27B64C}"/>
              </a:ext>
            </a:extLst>
          </p:cNvPr>
          <p:cNvSpPr txBox="1"/>
          <p:nvPr/>
        </p:nvSpPr>
        <p:spPr>
          <a:xfrm>
            <a:off x="411480" y="164592"/>
            <a:ext cx="117186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How We Measure Performance: Cumulative Abnormal Return (CAR)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97CD7-F00D-3446-93AF-D690DE79C36D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92F614-9AFD-4614-94CE-0C792AD4CE71}"/>
              </a:ext>
            </a:extLst>
          </p:cNvPr>
          <p:cNvSpPr/>
          <p:nvPr/>
        </p:nvSpPr>
        <p:spPr>
          <a:xfrm>
            <a:off x="2552700" y="2175917"/>
            <a:ext cx="3289300" cy="1863304"/>
          </a:xfrm>
          <a:prstGeom prst="rect">
            <a:avLst/>
          </a:prstGeom>
          <a:solidFill>
            <a:srgbClr val="A8D9A8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B34A5B-7CDF-057F-F503-2A3AD3D2621E}"/>
              </a:ext>
            </a:extLst>
          </p:cNvPr>
          <p:cNvSpPr/>
          <p:nvPr/>
        </p:nvSpPr>
        <p:spPr>
          <a:xfrm>
            <a:off x="5853112" y="2175917"/>
            <a:ext cx="3289300" cy="1863304"/>
          </a:xfrm>
          <a:prstGeom prst="rect">
            <a:avLst/>
          </a:prstGeom>
          <a:solidFill>
            <a:srgbClr val="F5A6A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B3DEE-2AAF-B569-A9E7-78CF64BF9880}"/>
              </a:ext>
            </a:extLst>
          </p:cNvPr>
          <p:cNvSpPr txBox="1"/>
          <p:nvPr/>
        </p:nvSpPr>
        <p:spPr>
          <a:xfrm>
            <a:off x="2541588" y="2532627"/>
            <a:ext cx="3311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Positive CAR (+)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84E3E-BD95-6580-9E0C-7D5A4B4719C1}"/>
              </a:ext>
            </a:extLst>
          </p:cNvPr>
          <p:cNvSpPr txBox="1"/>
          <p:nvPr/>
        </p:nvSpPr>
        <p:spPr>
          <a:xfrm>
            <a:off x="5864224" y="2532627"/>
            <a:ext cx="327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Negative CAR (-)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0A0C68-318F-A99B-FA00-9A311C2BD3B4}"/>
              </a:ext>
            </a:extLst>
          </p:cNvPr>
          <p:cNvSpPr txBox="1"/>
          <p:nvPr/>
        </p:nvSpPr>
        <p:spPr>
          <a:xfrm>
            <a:off x="2552700" y="1714252"/>
            <a:ext cx="65897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Cumulative Abnormal Return (CAR)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D7DB9-FACB-7471-4C5D-3652231C7E5C}"/>
              </a:ext>
            </a:extLst>
          </p:cNvPr>
          <p:cNvSpPr txBox="1"/>
          <p:nvPr/>
        </p:nvSpPr>
        <p:spPr>
          <a:xfrm>
            <a:off x="2952458" y="3097256"/>
            <a:ext cx="24897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Helvetica" pitchFamily="2" charset="0"/>
              </a:rPr>
              <a:t>Compensated MORE for </a:t>
            </a:r>
            <a:br>
              <a:rPr lang="en-GB" sz="1600" dirty="0">
                <a:latin typeface="Helvetica" pitchFamily="2" charset="0"/>
              </a:rPr>
            </a:br>
            <a:r>
              <a:rPr lang="en-GB" sz="1600" dirty="0">
                <a:latin typeface="Helvetica" pitchFamily="2" charset="0"/>
              </a:rPr>
              <a:t>risk than CAPM predicts </a:t>
            </a:r>
          </a:p>
          <a:p>
            <a:pPr algn="ctr"/>
            <a:endParaRPr lang="en-IT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DED9A8-0090-A372-5814-EC968EAF5BB1}"/>
              </a:ext>
            </a:extLst>
          </p:cNvPr>
          <p:cNvSpPr txBox="1"/>
          <p:nvPr/>
        </p:nvSpPr>
        <p:spPr>
          <a:xfrm>
            <a:off x="6035664" y="3097256"/>
            <a:ext cx="29241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Helvetica" pitchFamily="2" charset="0"/>
              </a:rPr>
              <a:t>Compensated LESS, paid </a:t>
            </a:r>
            <a:br>
              <a:rPr lang="en-GB" sz="1600" dirty="0">
                <a:latin typeface="Helvetica" pitchFamily="2" charset="0"/>
              </a:rPr>
            </a:br>
            <a:r>
              <a:rPr lang="en-GB" sz="1600" dirty="0">
                <a:latin typeface="Helvetica" pitchFamily="2" charset="0"/>
              </a:rPr>
              <a:t>for risk that did not materialize</a:t>
            </a:r>
          </a:p>
          <a:p>
            <a:pPr algn="ctr"/>
            <a:endParaRPr lang="en-IT" sz="16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E1D6B8-90EB-3F41-6885-66063AF7BCE0}"/>
              </a:ext>
            </a:extLst>
          </p:cNvPr>
          <p:cNvCxnSpPr>
            <a:cxnSpLocks/>
          </p:cNvCxnSpPr>
          <p:nvPr/>
        </p:nvCxnSpPr>
        <p:spPr>
          <a:xfrm>
            <a:off x="411480" y="5364019"/>
            <a:ext cx="112344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A03973-ADAC-F1DE-52F9-138F7A5CEBB8}"/>
              </a:ext>
            </a:extLst>
          </p:cNvPr>
          <p:cNvSpPr txBox="1"/>
          <p:nvPr/>
        </p:nvSpPr>
        <p:spPr>
          <a:xfrm>
            <a:off x="321268" y="5798847"/>
            <a:ext cx="4440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Excess</a:t>
            </a:r>
            <a:r>
              <a:rPr lang="it-IT" dirty="0"/>
              <a:t> </a:t>
            </a:r>
            <a:r>
              <a:rPr lang="it-IT" dirty="0" err="1"/>
              <a:t>return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actual</a:t>
            </a:r>
            <a:r>
              <a:rPr lang="it-IT" dirty="0"/>
              <a:t> log </a:t>
            </a:r>
            <a:r>
              <a:rPr lang="it-IT" dirty="0" err="1"/>
              <a:t>return</a:t>
            </a:r>
            <a:r>
              <a:rPr lang="it-IT" dirty="0"/>
              <a:t> – CAPM-</a:t>
            </a:r>
            <a:r>
              <a:rPr lang="it-IT" dirty="0" err="1"/>
              <a:t>expected</a:t>
            </a:r>
            <a:r>
              <a:rPr lang="it-IT" dirty="0"/>
              <a:t> log </a:t>
            </a:r>
            <a:r>
              <a:rPr lang="it-IT" dirty="0" err="1"/>
              <a:t>return</a:t>
            </a:r>
            <a:endParaRPr lang="en-IT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DF8A45-93AC-4298-5C55-EA18F226665F}"/>
              </a:ext>
            </a:extLst>
          </p:cNvPr>
          <p:cNvSpPr txBox="1"/>
          <p:nvPr/>
        </p:nvSpPr>
        <p:spPr>
          <a:xfrm>
            <a:off x="1636554" y="4372389"/>
            <a:ext cx="8888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For each day, calculate the excess return relative to the stock's expected risk-adjusted return, then accumulate those daily excesses over the window.</a:t>
            </a:r>
            <a:r>
              <a:rPr lang="en-GB" dirty="0"/>
              <a:t>          </a:t>
            </a:r>
          </a:p>
          <a:p>
            <a:pPr algn="ctr"/>
            <a:endParaRPr lang="en-IT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03A5F7B-BD6A-A002-6C9C-06F4D777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044" y="5762337"/>
            <a:ext cx="3124200" cy="8001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754C19E-5F9E-2976-E43B-92E9C3B2D687}"/>
              </a:ext>
            </a:extLst>
          </p:cNvPr>
          <p:cNvSpPr txBox="1"/>
          <p:nvPr/>
        </p:nvSpPr>
        <p:spPr>
          <a:xfrm>
            <a:off x="8367712" y="5383348"/>
            <a:ext cx="3651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IT" dirty="0"/>
              <a:t>indow:</a:t>
            </a:r>
          </a:p>
          <a:p>
            <a:r>
              <a:rPr lang="en-GB" dirty="0"/>
              <a:t>Measured buy-to-sell (if &lt;12 months) or a fixed 12-month window.</a:t>
            </a:r>
          </a:p>
          <a:p>
            <a:r>
              <a:rPr lang="en-GB" dirty="0"/>
              <a:t>The clock starts the day AFTER the public filing </a:t>
            </a:r>
            <a:r>
              <a:rPr lang="en-GB" dirty="0" err="1"/>
              <a:t>date.x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749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B7078-049A-5D63-1FF9-83352C47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03222-12A7-2D97-0840-7023EA80ACD3}"/>
              </a:ext>
            </a:extLst>
          </p:cNvPr>
          <p:cNvSpPr txBox="1"/>
          <p:nvPr/>
        </p:nvSpPr>
        <p:spPr>
          <a:xfrm>
            <a:off x="411480" y="164592"/>
            <a:ext cx="95285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ysClr val="windowText" lastClr="000000"/>
                </a:solidFill>
              </a:rPr>
              <a:t>Who Consistently Beats — and Loses to — the Market?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C4BEA88-B3AB-B949-8373-A83DA9B3C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18131"/>
              </p:ext>
            </p:extLst>
          </p:nvPr>
        </p:nvGraphicFramePr>
        <p:xfrm>
          <a:off x="228600" y="1051560"/>
          <a:ext cx="5852160" cy="496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D003E99-03CC-8691-5D20-64C80F40A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02330"/>
              </p:ext>
            </p:extLst>
          </p:nvPr>
        </p:nvGraphicFramePr>
        <p:xfrm>
          <a:off x="6263640" y="1051560"/>
          <a:ext cx="5852160" cy="496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214C9B-A506-3F2F-FE48-E98836E73521}"/>
              </a:ext>
            </a:extLst>
          </p:cNvPr>
          <p:cNvSpPr txBox="1"/>
          <p:nvPr/>
        </p:nvSpPr>
        <p:spPr>
          <a:xfrm>
            <a:off x="228600" y="6416409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7D8590"/>
                </a:solidFill>
              </a:rPr>
              <a:t>▸  Based on 101 politicians with ≥ 20 disclosed purchases</a:t>
            </a:r>
          </a:p>
        </p:txBody>
      </p:sp>
    </p:spTree>
    <p:extLst>
      <p:ext uri="{BB962C8B-B14F-4D97-AF65-F5344CB8AC3E}">
        <p14:creationId xmlns:p14="http://schemas.microsoft.com/office/powerpoint/2010/main" val="213382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BED5C-41C6-36B9-8723-80C6945A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C8EF75-6CDF-31B3-0EC2-E9552D7BD8D1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934EB89-CF5E-4F5A-7E90-5532338FE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44004"/>
              </p:ext>
            </p:extLst>
          </p:nvPr>
        </p:nvGraphicFramePr>
        <p:xfrm>
          <a:off x="274320" y="1051560"/>
          <a:ext cx="11612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EF6C8D-BE2E-0E64-952C-5D97D8DF47E4}"/>
              </a:ext>
            </a:extLst>
          </p:cNvPr>
          <p:cNvSpPr txBox="1"/>
          <p:nvPr/>
        </p:nvSpPr>
        <p:spPr>
          <a:xfrm>
            <a:off x="411480" y="539496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2020 Q2–Q3: surge in positive rate — COVID recovery bounce lifted most purchases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2022: sharp drop aligned with rate-hike drawdown across the market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Volume spikes suggest increased trading activity around election cycles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Positive rate rarely exceeds 60% — even in the best macro environments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FB373-E88F-50EB-8EFF-AC89BC96138E}"/>
              </a:ext>
            </a:extLst>
          </p:cNvPr>
          <p:cNvSpPr txBox="1"/>
          <p:nvPr/>
        </p:nvSpPr>
        <p:spPr>
          <a:xfrm>
            <a:off x="411480" y="164592"/>
            <a:ext cx="101823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Performance Over Time: Macro Events Drive Positive Rates</a:t>
            </a:r>
          </a:p>
        </p:txBody>
      </p:sp>
    </p:spTree>
    <p:extLst>
      <p:ext uri="{BB962C8B-B14F-4D97-AF65-F5344CB8AC3E}">
        <p14:creationId xmlns:p14="http://schemas.microsoft.com/office/powerpoint/2010/main" val="2551495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30AF3-03C7-B157-276C-984FDB74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3E496-6C40-3432-A3AC-B77AA14EE555}"/>
              </a:ext>
            </a:extLst>
          </p:cNvPr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EDA: Median CAR Across Key Structural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FBE2D4-F188-BF18-AC42-EA16431B90CB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84C1D8-3309-3B7F-045D-CAD20BA6B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64940"/>
              </p:ext>
            </p:extLst>
          </p:nvPr>
        </p:nvGraphicFramePr>
        <p:xfrm>
          <a:off x="274320" y="1143000"/>
          <a:ext cx="34747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8E62FFF-0C17-DAAC-62DD-519C614F6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098769"/>
              </p:ext>
            </p:extLst>
          </p:nvPr>
        </p:nvGraphicFramePr>
        <p:xfrm>
          <a:off x="3977639" y="1143000"/>
          <a:ext cx="4023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3562626-E0DE-8B9C-7E8C-F5EFFF3D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685928"/>
              </p:ext>
            </p:extLst>
          </p:nvPr>
        </p:nvGraphicFramePr>
        <p:xfrm>
          <a:off x="8275320" y="1143000"/>
          <a:ext cx="3657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D8A399-25E4-D37C-C63F-A0F3B4052E03}"/>
              </a:ext>
            </a:extLst>
          </p:cNvPr>
          <p:cNvSpPr txBox="1"/>
          <p:nvPr/>
        </p:nvSpPr>
        <p:spPr>
          <a:xfrm>
            <a:off x="274320" y="5394960"/>
            <a:ext cx="11430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metrics: median CAR (consistent throughout the deck)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Tier 3 = Direct jurisdiction  ·  Tier 2 = Oversight  ·  Tier 1 = Tangential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Disclosure delay capped at 45 days by STOCK Act; 50d+ entries reflect late filers</a:t>
            </a:r>
          </a:p>
        </p:txBody>
      </p:sp>
    </p:spTree>
    <p:extLst>
      <p:ext uri="{BB962C8B-B14F-4D97-AF65-F5344CB8AC3E}">
        <p14:creationId xmlns:p14="http://schemas.microsoft.com/office/powerpoint/2010/main" val="315128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Committee Membership Shows Selective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Committee categories (all 9)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371600"/>
          <a:ext cx="7223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051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Structural role flags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80960" y="1371600"/>
          <a:ext cx="4297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7150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Orange = flag=1 (on committee / in role / company lobbied)  ·  Blue = flag=0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9 committee categories shown — previously only 5 were displayed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Lobbied (90d): company had active lobbying disclosure in 90 days before filing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6553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3200" b="1" dirty="0">
                <a:solidFill>
                  <a:srgbClr val="E6EDF3"/>
                </a:solidFill>
              </a:rPr>
              <a:t>Can ML do </a:t>
            </a:r>
            <a:r>
              <a:rPr lang="it-IT" sz="3200" b="1" dirty="0" err="1">
                <a:solidFill>
                  <a:srgbClr val="E6EDF3"/>
                </a:solidFill>
              </a:rPr>
              <a:t>it</a:t>
            </a:r>
            <a:r>
              <a:rPr lang="it-IT" sz="3200" b="1" dirty="0">
                <a:solidFill>
                  <a:srgbClr val="E6EDF3"/>
                </a:solidFill>
              </a:rPr>
              <a:t> </a:t>
            </a:r>
            <a:r>
              <a:rPr lang="it-IT" sz="3200" b="1" dirty="0" err="1">
                <a:solidFill>
                  <a:srgbClr val="E6EDF3"/>
                </a:solidFill>
              </a:rPr>
              <a:t>better</a:t>
            </a:r>
            <a:r>
              <a:rPr lang="it-IT" sz="3200" b="1" dirty="0">
                <a:solidFill>
                  <a:srgbClr val="E6EDF3"/>
                </a:solidFill>
              </a:rPr>
              <a:t>?</a:t>
            </a:r>
            <a:endParaRPr sz="3200" b="1" dirty="0">
              <a:solidFill>
                <a:srgbClr val="E6EDF3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8686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52560" y="1097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D8590"/>
                </a:solidFill>
              </a:rPr>
              <a:t>Confusion matrix @ 0.85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52560" y="1508760"/>
          <a:ext cx="294436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No beat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Beat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No beat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TN=1,561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FP=117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Beat mkt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FN=1,215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TP=132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5256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590"/>
                </a:solidFill>
              </a:rPr>
              <a:t>Test set: 3,025 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8590"/>
                </a:solidFill>
              </a:rPr>
              <a:t>Threshold comparison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052560" y="3977639"/>
          <a:ext cx="2724912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Thr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% Pos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Med CAR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1472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47.0%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-0.88%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47.0%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1083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46.4%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-1.07%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46.4%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249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53.0%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+0.67%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53.0%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5577840"/>
            <a:ext cx="86868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B950"/>
                </a:solidFill>
              </a:rPr>
              <a:t>Threshold 0.85 → 53% win rate  ·  median CAR +0.67%  ·  249 trades  ·  53.0% precision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The Model: What Drives the Predictions?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777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051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■  Politician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8BFD"/>
                </a:solidFill>
              </a:rPr>
              <a:t>■  Trade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488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</a:rPr>
              <a:t>■  Stock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974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78BFA"/>
                </a:solidFill>
              </a:rPr>
              <a:t>■  Committee / Industry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923C"/>
                </a:solidFill>
              </a:rPr>
              <a:t>■  Lobbying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Conclusions &amp;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FB950"/>
                </a:solidFill>
              </a:rPr>
              <a:t>Key Findings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Most trades underperform: only 48.5% of purchases beat the market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Past politician skill and lobbying activity are among the top model features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Committee membership shows selective lift — most pronounced for Chair and Majority Party roles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Tier-3 committee–industry match (direct jurisdiction) shows the strongest committee-related edge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XGBoost reaches 53.0% precision at threshold 0.85 — fewer but higher-quality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0972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5149"/>
                </a:solidFill>
              </a:rPr>
              <a:t>Caveats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No transaction costs or market impact modelled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Test set is a single holdout period — results may not generalise across regimes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Skill signals are backward-looking: past performance not guaranteed to continue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CAR is measured from filing date — model already accounts for disclosure lag,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  but real-world execution is constrained to after public disclosure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Dataset covers disclosed trades only — undisclosed activity not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26280"/>
            <a:ext cx="11338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8BFD"/>
                </a:solidFill>
              </a:rPr>
              <a:t>Potential Data Enrichment (Lobbying Focus)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What more lobby data could add: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1. Lobbying spend amount &amp; trend (currently: binary 90d presence only)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2. Issue specificity — which bills/topics overlap with politician's committee jurisdiction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3. Revolving door: lobbyists who previously worked for the same politician/committee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4. Proximity signal: days between lobbying start date and trade filed 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Methodology: How Key Signals Were Constructed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8BFD"/>
                </a:solidFill>
              </a:rPr>
              <a:t>1 — Ticker ↔ Committee Matching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membership from timestamped YAML snapshots (unitedstates/congress-legislators on GitHub)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For each trade, the snapshot closest in time to the Filed date is used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Ensures membership reflects the politician's actual committees at trade time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codes truncated to 4 characters to normalize across snapshot formats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binary committee-category flags per trade (9 categories 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0632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0883E"/>
                </a:solidFill>
              </a:rPr>
              <a:t>2 — 3-Tier Committee–Industry Match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Manual mapping in config/commette_industry_map.yaml: committee → sector → industry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3 (Strong): committee has DIRECT JURISDICTION — controls budgets, contracts, or legislation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2 (Medium): committee has OVERSIGHT — sets general rules, taxes, or compliance standards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1 (Tangential): committee has INDIRECT impact — general legislative influence only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Industry match 1/2/3 binary flags per trade (1 = politician's committee matches stock's industry at that 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12064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B950"/>
                </a:solidFill>
              </a:rPr>
              <a:t>3 — Lobbying Signal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Source: QuiverQuant lobbying disclosures API, downloaded per traded ticker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lobbied_any_90d = 1 if the company had any active lobbying disclosure in 90 days before trade's Filed date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Currently binary — lobbying spend amount and issue specificity are future enrichment candidates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8590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39,334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Total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FB950"/>
                </a:solidFill>
              </a:rPr>
              <a:t>19,096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Purchases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0883E"/>
                </a:solidFill>
              </a:rPr>
              <a:t>15,117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Modelled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Politicians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2651760"/>
          <a:ext cx="11338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Date range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2012-09-13 – 2026-01-30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Transaction types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Purchase / Sale / Sale (Full) / Sale (Partial) / Exchange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Unique tickers (purchases)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2,209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Parties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 / R / I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Chambers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Representatives / Senate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Target variable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realized_car_hybrid &gt; 0 (binary)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CAR windows available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1m / 3m / 6m / 9m / 12m + realized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Train / test split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80% / 20%  chronological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Committee Membership Shows Selective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Committee categories (all 9)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371600"/>
          <a:ext cx="7223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051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Structural role flags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80960" y="1371600"/>
          <a:ext cx="4297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7150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Orange = flag=1 (on committee / in role / company lobbied)  ·  Blue = flag=0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9 committee categories shown — previously only 5 were displayed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Lobbied (90d): company had active lobbying disclosure in 90 days before filing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1071</Words>
  <Application>Microsoft Macintosh PowerPoint</Application>
  <PresentationFormat>Custom</PresentationFormat>
  <Paragraphs>153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SCARAVELLI Alberto</cp:lastModifiedBy>
  <cp:revision>2</cp:revision>
  <dcterms:created xsi:type="dcterms:W3CDTF">2013-01-27T09:14:16Z</dcterms:created>
  <dcterms:modified xsi:type="dcterms:W3CDTF">2026-03-25T16:26:28Z</dcterms:modified>
  <cp:category/>
</cp:coreProperties>
</file>