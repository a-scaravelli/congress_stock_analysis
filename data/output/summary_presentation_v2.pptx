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10.xml" ContentType="application/vnd.openxmlformats-officedocument.drawingml.chart+xml"/>
  <Override PartName="/ppt/charts/chart11.xml" ContentType="application/vnd.openxmlformats-officedocument.drawingml.chart+xml"/>
  <Override PartName="/ppt/charts/chart12.xml" ContentType="application/vnd.openxmlformats-officedocument.drawingml.chart+xml"/>
  <Override PartName="/ppt/charts/chart13.xml" ContentType="application/vnd.openxmlformats-officedocument.drawingml.chart+xml"/>
  <Override PartName="/ppt/charts/chart14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_rels/chart9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9.xlsx"/></Relationships>
</file>

<file path=ppt/charts/_rels/chart10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0.xlsx"/></Relationships>
</file>

<file path=ppt/charts/_rels/chart1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1.xlsx"/></Relationships>
</file>

<file path=ppt/charts/_rels/chart1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2.xlsx"/></Relationships>
</file>

<file path=ppt/charts/_rels/chart1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3.xlsx"/></Relationships>
</file>

<file path=ppt/charts/_rels/chart1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Illustrative example  (hypothetical numbers)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388BFD"/>
              </a:solidFill>
            </c:spPr>
          </c:dPt>
          <c:dPt>
            <c:idx val="1"/>
            <c:spPr>
              <a:solidFill>
                <a:srgbClr val="7D8590"/>
              </a:solidFill>
            </c:spPr>
          </c:dPt>
          <c:dPt>
            <c:idx val="2"/>
            <c:spPr>
              <a:solidFill>
                <a:srgbClr val="3FB950"/>
              </a:solidFill>
            </c:spPr>
          </c:dPt>
          <c:cat>
            <c:strRef>
              <c:f>Sheet1!$A$2:$A$4</c:f>
              <c:strCache>
                <c:ptCount val="3"/>
                <c:pt idx="0">
                  <c:v>Stock Log
Return</c:v>
                </c:pt>
                <c:pt idx="1">
                  <c:v>CAPM Expected
Return</c:v>
                </c:pt>
                <c:pt idx="2">
                  <c:v>CAR (α)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18.0</c:v>
                </c:pt>
                <c:pt idx="1">
                  <c:v>8.0</c:v>
                </c:pt>
                <c:pt idx="2">
                  <c:v>10.0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All trades — Realized CAR distribution  (clipped −1 to +2)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85149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dPt>
            <c:idx val="2"/>
            <c:spPr>
              <a:solidFill>
                <a:srgbClr val="F85149"/>
              </a:solidFill>
            </c:spPr>
          </c:dPt>
          <c:dPt>
            <c:idx val="3"/>
            <c:spPr>
              <a:solidFill>
                <a:srgbClr val="F85149"/>
              </a:solidFill>
            </c:spPr>
          </c:dPt>
          <c:dPt>
            <c:idx val="4"/>
            <c:spPr>
              <a:solidFill>
                <a:srgbClr val="F85149"/>
              </a:solidFill>
            </c:spPr>
          </c:dPt>
          <c:dPt>
            <c:idx val="5"/>
            <c:spPr>
              <a:solidFill>
                <a:srgbClr val="F85149"/>
              </a:solidFill>
            </c:spPr>
          </c:dPt>
          <c:dPt>
            <c:idx val="6"/>
            <c:spPr>
              <a:solidFill>
                <a:srgbClr val="F85149"/>
              </a:solidFill>
            </c:spPr>
          </c:dPt>
          <c:dPt>
            <c:idx val="7"/>
            <c:spPr>
              <a:solidFill>
                <a:srgbClr val="F85149"/>
              </a:solidFill>
            </c:spPr>
          </c:dPt>
          <c:dPt>
            <c:idx val="8"/>
            <c:spPr>
              <a:solidFill>
                <a:srgbClr val="F85149"/>
              </a:solidFill>
            </c:spPr>
          </c:dPt>
          <c:dPt>
            <c:idx val="9"/>
            <c:spPr>
              <a:solidFill>
                <a:srgbClr val="F85149"/>
              </a:solidFill>
            </c:spPr>
          </c:dPt>
          <c:dPt>
            <c:idx val="10"/>
            <c:spPr>
              <a:solidFill>
                <a:srgbClr val="F85149"/>
              </a:solidFill>
            </c:spPr>
          </c:dPt>
          <c:dPt>
            <c:idx val="11"/>
            <c:spPr>
              <a:solidFill>
                <a:srgbClr val="F85149"/>
              </a:solidFill>
            </c:spPr>
          </c:dPt>
          <c:dPt>
            <c:idx val="12"/>
            <c:spPr>
              <a:solidFill>
                <a:srgbClr val="F85149"/>
              </a:solidFill>
            </c:spPr>
          </c:dPt>
          <c:dPt>
            <c:idx val="13"/>
            <c:spPr>
              <a:solidFill>
                <a:srgbClr val="F85149"/>
              </a:solidFill>
            </c:spPr>
          </c:dPt>
          <c:dPt>
            <c:idx val="14"/>
            <c:spPr>
              <a:solidFill>
                <a:srgbClr val="F85149"/>
              </a:solidFill>
            </c:spPr>
          </c:dPt>
          <c:dPt>
            <c:idx val="15"/>
            <c:spPr>
              <a:solidFill>
                <a:srgbClr val="F85149"/>
              </a:solidFill>
            </c:spPr>
          </c:dPt>
          <c:dPt>
            <c:idx val="16"/>
            <c:spPr>
              <a:solidFill>
                <a:srgbClr val="F85149"/>
              </a:solidFill>
            </c:spPr>
          </c:dPt>
          <c:dPt>
            <c:idx val="17"/>
            <c:spPr>
              <a:solidFill>
                <a:srgbClr val="F85149"/>
              </a:solidFill>
            </c:spPr>
          </c:dPt>
          <c:dPt>
            <c:idx val="18"/>
            <c:spPr>
              <a:solidFill>
                <a:srgbClr val="F85149"/>
              </a:solidFill>
            </c:spPr>
          </c:dPt>
          <c:dPt>
            <c:idx val="19"/>
            <c:spPr>
              <a:solidFill>
                <a:srgbClr val="F85149"/>
              </a:solidFill>
            </c:spPr>
          </c:dPt>
          <c:dPt>
            <c:idx val="20"/>
            <c:spPr>
              <a:solidFill>
                <a:srgbClr val="3FB950"/>
              </a:solidFill>
            </c:spPr>
          </c:dPt>
          <c:dPt>
            <c:idx val="21"/>
            <c:spPr>
              <a:solidFill>
                <a:srgbClr val="3FB950"/>
              </a:solidFill>
            </c:spPr>
          </c:dPt>
          <c:dPt>
            <c:idx val="22"/>
            <c:spPr>
              <a:solidFill>
                <a:srgbClr val="3FB950"/>
              </a:solidFill>
            </c:spPr>
          </c:dPt>
          <c:dPt>
            <c:idx val="23"/>
            <c:spPr>
              <a:solidFill>
                <a:srgbClr val="3FB950"/>
              </a:solidFill>
            </c:spPr>
          </c:dPt>
          <c:dPt>
            <c:idx val="24"/>
            <c:spPr>
              <a:solidFill>
                <a:srgbClr val="3FB950"/>
              </a:solidFill>
            </c:spPr>
          </c:dPt>
          <c:dPt>
            <c:idx val="25"/>
            <c:spPr>
              <a:solidFill>
                <a:srgbClr val="3FB950"/>
              </a:solidFill>
            </c:spPr>
          </c:dPt>
          <c:dPt>
            <c:idx val="26"/>
            <c:spPr>
              <a:solidFill>
                <a:srgbClr val="3FB950"/>
              </a:solidFill>
            </c:spPr>
          </c:dPt>
          <c:dPt>
            <c:idx val="27"/>
            <c:spPr>
              <a:solidFill>
                <a:srgbClr val="3FB950"/>
              </a:solidFill>
            </c:spPr>
          </c:dPt>
          <c:dPt>
            <c:idx val="28"/>
            <c:spPr>
              <a:solidFill>
                <a:srgbClr val="3FB950"/>
              </a:solidFill>
            </c:spPr>
          </c:dPt>
          <c:dPt>
            <c:idx val="29"/>
            <c:spPr>
              <a:solidFill>
                <a:srgbClr val="3FB950"/>
              </a:solidFill>
            </c:spPr>
          </c:dPt>
          <c:dPt>
            <c:idx val="30"/>
            <c:spPr>
              <a:solidFill>
                <a:srgbClr val="3FB950"/>
              </a:solidFill>
            </c:spPr>
          </c:dPt>
          <c:dPt>
            <c:idx val="31"/>
            <c:spPr>
              <a:solidFill>
                <a:srgbClr val="3FB950"/>
              </a:solidFill>
            </c:spPr>
          </c:dPt>
          <c:dPt>
            <c:idx val="32"/>
            <c:spPr>
              <a:solidFill>
                <a:srgbClr val="3FB950"/>
              </a:solidFill>
            </c:spPr>
          </c:dPt>
          <c:dPt>
            <c:idx val="33"/>
            <c:spPr>
              <a:solidFill>
                <a:srgbClr val="3FB950"/>
              </a:solidFill>
            </c:spPr>
          </c:dPt>
          <c:dPt>
            <c:idx val="34"/>
            <c:spPr>
              <a:solidFill>
                <a:srgbClr val="3FB950"/>
              </a:solidFill>
            </c:spPr>
          </c:dPt>
          <c:dPt>
            <c:idx val="35"/>
            <c:spPr>
              <a:solidFill>
                <a:srgbClr val="3FB950"/>
              </a:solidFill>
            </c:spPr>
          </c:dPt>
          <c:dPt>
            <c:idx val="36"/>
            <c:spPr>
              <a:solidFill>
                <a:srgbClr val="3FB950"/>
              </a:solidFill>
            </c:spPr>
          </c:dPt>
          <c:dPt>
            <c:idx val="37"/>
            <c:spPr>
              <a:solidFill>
                <a:srgbClr val="3FB950"/>
              </a:solidFill>
            </c:spPr>
          </c:dPt>
          <c:dPt>
            <c:idx val="38"/>
            <c:spPr>
              <a:solidFill>
                <a:srgbClr val="3FB950"/>
              </a:solidFill>
            </c:spPr>
          </c:dPt>
          <c:dPt>
            <c:idx val="39"/>
            <c:spPr>
              <a:solidFill>
                <a:srgbClr val="3FB950"/>
              </a:solidFill>
            </c:spPr>
          </c:dPt>
          <c:dPt>
            <c:idx val="40"/>
            <c:spPr>
              <a:solidFill>
                <a:srgbClr val="3FB950"/>
              </a:solidFill>
            </c:spPr>
          </c:dPt>
          <c:dPt>
            <c:idx val="41"/>
            <c:spPr>
              <a:solidFill>
                <a:srgbClr val="3FB950"/>
              </a:solidFill>
            </c:spPr>
          </c:dPt>
          <c:dPt>
            <c:idx val="42"/>
            <c:spPr>
              <a:solidFill>
                <a:srgbClr val="3FB950"/>
              </a:solidFill>
            </c:spPr>
          </c:dPt>
          <c:dPt>
            <c:idx val="43"/>
            <c:spPr>
              <a:solidFill>
                <a:srgbClr val="3FB950"/>
              </a:solidFill>
            </c:spPr>
          </c:dPt>
          <c:dPt>
            <c:idx val="44"/>
            <c:spPr>
              <a:solidFill>
                <a:srgbClr val="3FB950"/>
              </a:solidFill>
            </c:spPr>
          </c:dPt>
          <c:dPt>
            <c:idx val="45"/>
            <c:spPr>
              <a:solidFill>
                <a:srgbClr val="3FB950"/>
              </a:solidFill>
            </c:spPr>
          </c:dPt>
          <c:dPt>
            <c:idx val="46"/>
            <c:spPr>
              <a:solidFill>
                <a:srgbClr val="3FB950"/>
              </a:solidFill>
            </c:spPr>
          </c:dPt>
          <c:dPt>
            <c:idx val="47"/>
            <c:spPr>
              <a:solidFill>
                <a:srgbClr val="3FB950"/>
              </a:solidFill>
            </c:spPr>
          </c:dPt>
          <c:dPt>
            <c:idx val="48"/>
            <c:spPr>
              <a:solidFill>
                <a:srgbClr val="3FB950"/>
              </a:solidFill>
            </c:spPr>
          </c:dPt>
          <c:dPt>
            <c:idx val="49"/>
            <c:spPr>
              <a:solidFill>
                <a:srgbClr val="3FB950"/>
              </a:solidFill>
            </c:spPr>
          </c:dPt>
          <c:dPt>
            <c:idx val="50"/>
            <c:spPr>
              <a:solidFill>
                <a:srgbClr val="3FB950"/>
              </a:solidFill>
            </c:spPr>
          </c:dPt>
          <c:dPt>
            <c:idx val="51"/>
            <c:spPr>
              <a:solidFill>
                <a:srgbClr val="3FB950"/>
              </a:solidFill>
            </c:spPr>
          </c:dPt>
          <c:dPt>
            <c:idx val="52"/>
            <c:spPr>
              <a:solidFill>
                <a:srgbClr val="3FB950"/>
              </a:solidFill>
            </c:spPr>
          </c:dPt>
          <c:dPt>
            <c:idx val="53"/>
            <c:spPr>
              <a:solidFill>
                <a:srgbClr val="3FB950"/>
              </a:solidFill>
            </c:spPr>
          </c:dPt>
          <c:dPt>
            <c:idx val="54"/>
            <c:spPr>
              <a:solidFill>
                <a:srgbClr val="3FB950"/>
              </a:solidFill>
            </c:spPr>
          </c:dPt>
          <c:dPt>
            <c:idx val="55"/>
            <c:spPr>
              <a:solidFill>
                <a:srgbClr val="3FB950"/>
              </a:solidFill>
            </c:spPr>
          </c:dPt>
          <c:dPt>
            <c:idx val="56"/>
            <c:spPr>
              <a:solidFill>
                <a:srgbClr val="3FB950"/>
              </a:solidFill>
            </c:spPr>
          </c:dPt>
          <c:dPt>
            <c:idx val="57"/>
            <c:spPr>
              <a:solidFill>
                <a:srgbClr val="3FB950"/>
              </a:solidFill>
            </c:spPr>
          </c:dPt>
          <c:dPt>
            <c:idx val="58"/>
            <c:spPr>
              <a:solidFill>
                <a:srgbClr val="3FB950"/>
              </a:solidFill>
            </c:spPr>
          </c:dPt>
          <c:dPt>
            <c:idx val="59"/>
            <c:spPr>
              <a:solidFill>
                <a:srgbClr val="3FB950"/>
              </a:solidFill>
            </c:spPr>
          </c:dPt>
          <c:cat>
            <c:strRef>
              <c:f>Sheet1!$A$2:$A$61</c:f>
              <c:strCache>
                <c:ptCount val="60"/>
                <c:pt idx="0">
                  <c:v>-1.0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-0.2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0.5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1.3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143</c:v>
                </c:pt>
                <c:pt idx="1">
                  <c:v>32</c:v>
                </c:pt>
                <c:pt idx="2">
                  <c:v>33</c:v>
                </c:pt>
                <c:pt idx="3">
                  <c:v>30</c:v>
                </c:pt>
                <c:pt idx="4">
                  <c:v>35</c:v>
                </c:pt>
                <c:pt idx="5">
                  <c:v>42</c:v>
                </c:pt>
                <c:pt idx="6">
                  <c:v>45</c:v>
                </c:pt>
                <c:pt idx="7">
                  <c:v>64</c:v>
                </c:pt>
                <c:pt idx="8">
                  <c:v>73</c:v>
                </c:pt>
                <c:pt idx="9">
                  <c:v>94</c:v>
                </c:pt>
                <c:pt idx="10">
                  <c:v>118</c:v>
                </c:pt>
                <c:pt idx="11">
                  <c:v>172</c:v>
                </c:pt>
                <c:pt idx="12">
                  <c:v>209</c:v>
                </c:pt>
                <c:pt idx="13">
                  <c:v>288</c:v>
                </c:pt>
                <c:pt idx="14">
                  <c:v>423</c:v>
                </c:pt>
                <c:pt idx="15">
                  <c:v>581</c:v>
                </c:pt>
                <c:pt idx="16">
                  <c:v>757</c:v>
                </c:pt>
                <c:pt idx="17">
                  <c:v>1034</c:v>
                </c:pt>
                <c:pt idx="18">
                  <c:v>1310</c:v>
                </c:pt>
                <c:pt idx="19">
                  <c:v>1759</c:v>
                </c:pt>
                <c:pt idx="20">
                  <c:v>1886</c:v>
                </c:pt>
                <c:pt idx="21">
                  <c:v>1291</c:v>
                </c:pt>
                <c:pt idx="22">
                  <c:v>986</c:v>
                </c:pt>
                <c:pt idx="23">
                  <c:v>754</c:v>
                </c:pt>
                <c:pt idx="24">
                  <c:v>548</c:v>
                </c:pt>
                <c:pt idx="25">
                  <c:v>364</c:v>
                </c:pt>
                <c:pt idx="26">
                  <c:v>239</c:v>
                </c:pt>
                <c:pt idx="27">
                  <c:v>192</c:v>
                </c:pt>
                <c:pt idx="28">
                  <c:v>140</c:v>
                </c:pt>
                <c:pt idx="29">
                  <c:v>102</c:v>
                </c:pt>
                <c:pt idx="30">
                  <c:v>70</c:v>
                </c:pt>
                <c:pt idx="31">
                  <c:v>47</c:v>
                </c:pt>
                <c:pt idx="32">
                  <c:v>21</c:v>
                </c:pt>
                <c:pt idx="33">
                  <c:v>34</c:v>
                </c:pt>
                <c:pt idx="34">
                  <c:v>18</c:v>
                </c:pt>
                <c:pt idx="35">
                  <c:v>22</c:v>
                </c:pt>
                <c:pt idx="36">
                  <c:v>15</c:v>
                </c:pt>
                <c:pt idx="37">
                  <c:v>10</c:v>
                </c:pt>
                <c:pt idx="38">
                  <c:v>6</c:v>
                </c:pt>
                <c:pt idx="39">
                  <c:v>12</c:v>
                </c:pt>
                <c:pt idx="40">
                  <c:v>7</c:v>
                </c:pt>
                <c:pt idx="41">
                  <c:v>2</c:v>
                </c:pt>
                <c:pt idx="42">
                  <c:v>2</c:v>
                </c:pt>
                <c:pt idx="43">
                  <c:v>2</c:v>
                </c:pt>
                <c:pt idx="44">
                  <c:v>4</c:v>
                </c:pt>
                <c:pt idx="45">
                  <c:v>2</c:v>
                </c:pt>
                <c:pt idx="46">
                  <c:v>2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1</c:v>
                </c:pt>
                <c:pt idx="52">
                  <c:v>0</c:v>
                </c:pt>
                <c:pt idx="53">
                  <c:v>0</c:v>
                </c:pt>
                <c:pt idx="54">
                  <c:v>1</c:v>
                </c:pt>
                <c:pt idx="55">
                  <c:v>0</c:v>
                </c:pt>
                <c:pt idx="56">
                  <c:v>0</c:v>
                </c:pt>
                <c:pt idx="57">
                  <c:v>1</c:v>
                </c:pt>
                <c:pt idx="58">
                  <c:v>0</c:v>
                </c:pt>
                <c:pt idx="59">
                  <c:v>1</c:v>
                </c:pt>
              </c:numCache>
            </c:numRef>
          </c:val>
        </c:ser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Closed within 12m  (n=6,378)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85149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dPt>
            <c:idx val="2"/>
            <c:spPr>
              <a:solidFill>
                <a:srgbClr val="F85149"/>
              </a:solidFill>
            </c:spPr>
          </c:dPt>
          <c:dPt>
            <c:idx val="3"/>
            <c:spPr>
              <a:solidFill>
                <a:srgbClr val="F85149"/>
              </a:solidFill>
            </c:spPr>
          </c:dPt>
          <c:dPt>
            <c:idx val="4"/>
            <c:spPr>
              <a:solidFill>
                <a:srgbClr val="F85149"/>
              </a:solidFill>
            </c:spPr>
          </c:dPt>
          <c:dPt>
            <c:idx val="5"/>
            <c:spPr>
              <a:solidFill>
                <a:srgbClr val="F85149"/>
              </a:solidFill>
            </c:spPr>
          </c:dPt>
          <c:dPt>
            <c:idx val="6"/>
            <c:spPr>
              <a:solidFill>
                <a:srgbClr val="F85149"/>
              </a:solidFill>
            </c:spPr>
          </c:dPt>
          <c:dPt>
            <c:idx val="7"/>
            <c:spPr>
              <a:solidFill>
                <a:srgbClr val="F85149"/>
              </a:solidFill>
            </c:spPr>
          </c:dPt>
          <c:dPt>
            <c:idx val="8"/>
            <c:spPr>
              <a:solidFill>
                <a:srgbClr val="F85149"/>
              </a:solidFill>
            </c:spPr>
          </c:dPt>
          <c:dPt>
            <c:idx val="9"/>
            <c:spPr>
              <a:solidFill>
                <a:srgbClr val="F85149"/>
              </a:solidFill>
            </c:spPr>
          </c:dPt>
          <c:dPt>
            <c:idx val="10"/>
            <c:spPr>
              <a:solidFill>
                <a:srgbClr val="F85149"/>
              </a:solidFill>
            </c:spPr>
          </c:dPt>
          <c:dPt>
            <c:idx val="11"/>
            <c:spPr>
              <a:solidFill>
                <a:srgbClr val="F85149"/>
              </a:solidFill>
            </c:spPr>
          </c:dPt>
          <c:dPt>
            <c:idx val="12"/>
            <c:spPr>
              <a:solidFill>
                <a:srgbClr val="F85149"/>
              </a:solidFill>
            </c:spPr>
          </c:dPt>
          <c:dPt>
            <c:idx val="13"/>
            <c:spPr>
              <a:solidFill>
                <a:srgbClr val="F85149"/>
              </a:solidFill>
            </c:spPr>
          </c:dPt>
          <c:dPt>
            <c:idx val="14"/>
            <c:spPr>
              <a:solidFill>
                <a:srgbClr val="F85149"/>
              </a:solidFill>
            </c:spPr>
          </c:dPt>
          <c:dPt>
            <c:idx val="15"/>
            <c:spPr>
              <a:solidFill>
                <a:srgbClr val="F85149"/>
              </a:solidFill>
            </c:spPr>
          </c:dPt>
          <c:dPt>
            <c:idx val="16"/>
            <c:spPr>
              <a:solidFill>
                <a:srgbClr val="F85149"/>
              </a:solidFill>
            </c:spPr>
          </c:dPt>
          <c:dPt>
            <c:idx val="17"/>
            <c:spPr>
              <a:solidFill>
                <a:srgbClr val="F85149"/>
              </a:solidFill>
            </c:spPr>
          </c:dPt>
          <c:dPt>
            <c:idx val="18"/>
            <c:spPr>
              <a:solidFill>
                <a:srgbClr val="F85149"/>
              </a:solidFill>
            </c:spPr>
          </c:dPt>
          <c:dPt>
            <c:idx val="19"/>
            <c:spPr>
              <a:solidFill>
                <a:srgbClr val="F85149"/>
              </a:solidFill>
            </c:spPr>
          </c:dPt>
          <c:dPt>
            <c:idx val="20"/>
            <c:spPr>
              <a:solidFill>
                <a:srgbClr val="3FB950"/>
              </a:solidFill>
            </c:spPr>
          </c:dPt>
          <c:dPt>
            <c:idx val="21"/>
            <c:spPr>
              <a:solidFill>
                <a:srgbClr val="3FB950"/>
              </a:solidFill>
            </c:spPr>
          </c:dPt>
          <c:dPt>
            <c:idx val="22"/>
            <c:spPr>
              <a:solidFill>
                <a:srgbClr val="3FB950"/>
              </a:solidFill>
            </c:spPr>
          </c:dPt>
          <c:dPt>
            <c:idx val="23"/>
            <c:spPr>
              <a:solidFill>
                <a:srgbClr val="3FB950"/>
              </a:solidFill>
            </c:spPr>
          </c:dPt>
          <c:dPt>
            <c:idx val="24"/>
            <c:spPr>
              <a:solidFill>
                <a:srgbClr val="3FB950"/>
              </a:solidFill>
            </c:spPr>
          </c:dPt>
          <c:dPt>
            <c:idx val="25"/>
            <c:spPr>
              <a:solidFill>
                <a:srgbClr val="3FB950"/>
              </a:solidFill>
            </c:spPr>
          </c:dPt>
          <c:dPt>
            <c:idx val="26"/>
            <c:spPr>
              <a:solidFill>
                <a:srgbClr val="3FB950"/>
              </a:solidFill>
            </c:spPr>
          </c:dPt>
          <c:dPt>
            <c:idx val="27"/>
            <c:spPr>
              <a:solidFill>
                <a:srgbClr val="3FB950"/>
              </a:solidFill>
            </c:spPr>
          </c:dPt>
          <c:dPt>
            <c:idx val="28"/>
            <c:spPr>
              <a:solidFill>
                <a:srgbClr val="3FB950"/>
              </a:solidFill>
            </c:spPr>
          </c:dPt>
          <c:dPt>
            <c:idx val="29"/>
            <c:spPr>
              <a:solidFill>
                <a:srgbClr val="3FB950"/>
              </a:solidFill>
            </c:spPr>
          </c:dPt>
          <c:dPt>
            <c:idx val="30"/>
            <c:spPr>
              <a:solidFill>
                <a:srgbClr val="3FB950"/>
              </a:solidFill>
            </c:spPr>
          </c:dPt>
          <c:dPt>
            <c:idx val="31"/>
            <c:spPr>
              <a:solidFill>
                <a:srgbClr val="3FB950"/>
              </a:solidFill>
            </c:spPr>
          </c:dPt>
          <c:dPt>
            <c:idx val="32"/>
            <c:spPr>
              <a:solidFill>
                <a:srgbClr val="3FB950"/>
              </a:solidFill>
            </c:spPr>
          </c:dPt>
          <c:dPt>
            <c:idx val="33"/>
            <c:spPr>
              <a:solidFill>
                <a:srgbClr val="3FB950"/>
              </a:solidFill>
            </c:spPr>
          </c:dPt>
          <c:dPt>
            <c:idx val="34"/>
            <c:spPr>
              <a:solidFill>
                <a:srgbClr val="3FB950"/>
              </a:solidFill>
            </c:spPr>
          </c:dPt>
          <c:dPt>
            <c:idx val="35"/>
            <c:spPr>
              <a:solidFill>
                <a:srgbClr val="3FB950"/>
              </a:solidFill>
            </c:spPr>
          </c:dPt>
          <c:dPt>
            <c:idx val="36"/>
            <c:spPr>
              <a:solidFill>
                <a:srgbClr val="3FB950"/>
              </a:solidFill>
            </c:spPr>
          </c:dPt>
          <c:dPt>
            <c:idx val="37"/>
            <c:spPr>
              <a:solidFill>
                <a:srgbClr val="3FB950"/>
              </a:solidFill>
            </c:spPr>
          </c:dPt>
          <c:dPt>
            <c:idx val="38"/>
            <c:spPr>
              <a:solidFill>
                <a:srgbClr val="3FB950"/>
              </a:solidFill>
            </c:spPr>
          </c:dPt>
          <c:dPt>
            <c:idx val="39"/>
            <c:spPr>
              <a:solidFill>
                <a:srgbClr val="3FB950"/>
              </a:solidFill>
            </c:spPr>
          </c:dPt>
          <c:dPt>
            <c:idx val="40"/>
            <c:spPr>
              <a:solidFill>
                <a:srgbClr val="3FB950"/>
              </a:solidFill>
            </c:spPr>
          </c:dPt>
          <c:dPt>
            <c:idx val="41"/>
            <c:spPr>
              <a:solidFill>
                <a:srgbClr val="3FB950"/>
              </a:solidFill>
            </c:spPr>
          </c:dPt>
          <c:dPt>
            <c:idx val="42"/>
            <c:spPr>
              <a:solidFill>
                <a:srgbClr val="3FB950"/>
              </a:solidFill>
            </c:spPr>
          </c:dPt>
          <c:dPt>
            <c:idx val="43"/>
            <c:spPr>
              <a:solidFill>
                <a:srgbClr val="3FB950"/>
              </a:solidFill>
            </c:spPr>
          </c:dPt>
          <c:dPt>
            <c:idx val="44"/>
            <c:spPr>
              <a:solidFill>
                <a:srgbClr val="3FB950"/>
              </a:solidFill>
            </c:spPr>
          </c:dPt>
          <c:dPt>
            <c:idx val="45"/>
            <c:spPr>
              <a:solidFill>
                <a:srgbClr val="3FB950"/>
              </a:solidFill>
            </c:spPr>
          </c:dPt>
          <c:dPt>
            <c:idx val="46"/>
            <c:spPr>
              <a:solidFill>
                <a:srgbClr val="3FB950"/>
              </a:solidFill>
            </c:spPr>
          </c:dPt>
          <c:dPt>
            <c:idx val="47"/>
            <c:spPr>
              <a:solidFill>
                <a:srgbClr val="3FB950"/>
              </a:solidFill>
            </c:spPr>
          </c:dPt>
          <c:dPt>
            <c:idx val="48"/>
            <c:spPr>
              <a:solidFill>
                <a:srgbClr val="3FB950"/>
              </a:solidFill>
            </c:spPr>
          </c:dPt>
          <c:dPt>
            <c:idx val="49"/>
            <c:spPr>
              <a:solidFill>
                <a:srgbClr val="3FB950"/>
              </a:solidFill>
            </c:spPr>
          </c:dPt>
          <c:dPt>
            <c:idx val="50"/>
            <c:spPr>
              <a:solidFill>
                <a:srgbClr val="3FB950"/>
              </a:solidFill>
            </c:spPr>
          </c:dPt>
          <c:dPt>
            <c:idx val="51"/>
            <c:spPr>
              <a:solidFill>
                <a:srgbClr val="3FB950"/>
              </a:solidFill>
            </c:spPr>
          </c:dPt>
          <c:dPt>
            <c:idx val="52"/>
            <c:spPr>
              <a:solidFill>
                <a:srgbClr val="3FB950"/>
              </a:solidFill>
            </c:spPr>
          </c:dPt>
          <c:dPt>
            <c:idx val="53"/>
            <c:spPr>
              <a:solidFill>
                <a:srgbClr val="3FB950"/>
              </a:solidFill>
            </c:spPr>
          </c:dPt>
          <c:dPt>
            <c:idx val="54"/>
            <c:spPr>
              <a:solidFill>
                <a:srgbClr val="3FB950"/>
              </a:solidFill>
            </c:spPr>
          </c:dPt>
          <c:dPt>
            <c:idx val="55"/>
            <c:spPr>
              <a:solidFill>
                <a:srgbClr val="3FB950"/>
              </a:solidFill>
            </c:spPr>
          </c:dPt>
          <c:dPt>
            <c:idx val="56"/>
            <c:spPr>
              <a:solidFill>
                <a:srgbClr val="3FB950"/>
              </a:solidFill>
            </c:spPr>
          </c:dPt>
          <c:dPt>
            <c:idx val="57"/>
            <c:spPr>
              <a:solidFill>
                <a:srgbClr val="3FB950"/>
              </a:solidFill>
            </c:spPr>
          </c:dPt>
          <c:dPt>
            <c:idx val="58"/>
            <c:spPr>
              <a:solidFill>
                <a:srgbClr val="3FB950"/>
              </a:solidFill>
            </c:spPr>
          </c:dPt>
          <c:dPt>
            <c:idx val="59"/>
            <c:spPr>
              <a:solidFill>
                <a:srgbClr val="3FB950"/>
              </a:solidFill>
            </c:spPr>
          </c:dPt>
          <c:cat>
            <c:strRef>
              <c:f>Sheet1!$A$2:$A$61</c:f>
              <c:strCache>
                <c:ptCount val="60"/>
                <c:pt idx="0">
                  <c:v>-1.0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-0.2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0.5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1.3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33</c:v>
                </c:pt>
                <c:pt idx="1">
                  <c:v>11</c:v>
                </c:pt>
                <c:pt idx="2">
                  <c:v>11</c:v>
                </c:pt>
                <c:pt idx="3">
                  <c:v>10</c:v>
                </c:pt>
                <c:pt idx="4">
                  <c:v>11</c:v>
                </c:pt>
                <c:pt idx="5">
                  <c:v>8</c:v>
                </c:pt>
                <c:pt idx="6">
                  <c:v>16</c:v>
                </c:pt>
                <c:pt idx="7">
                  <c:v>23</c:v>
                </c:pt>
                <c:pt idx="8">
                  <c:v>29</c:v>
                </c:pt>
                <c:pt idx="9">
                  <c:v>24</c:v>
                </c:pt>
                <c:pt idx="10">
                  <c:v>35</c:v>
                </c:pt>
                <c:pt idx="11">
                  <c:v>74</c:v>
                </c:pt>
                <c:pt idx="12">
                  <c:v>85</c:v>
                </c:pt>
                <c:pt idx="13">
                  <c:v>123</c:v>
                </c:pt>
                <c:pt idx="14">
                  <c:v>189</c:v>
                </c:pt>
                <c:pt idx="15">
                  <c:v>252</c:v>
                </c:pt>
                <c:pt idx="16">
                  <c:v>322</c:v>
                </c:pt>
                <c:pt idx="17">
                  <c:v>492</c:v>
                </c:pt>
                <c:pt idx="18">
                  <c:v>700</c:v>
                </c:pt>
                <c:pt idx="19">
                  <c:v>945</c:v>
                </c:pt>
                <c:pt idx="20">
                  <c:v>1074</c:v>
                </c:pt>
                <c:pt idx="21">
                  <c:v>629</c:v>
                </c:pt>
                <c:pt idx="22">
                  <c:v>430</c:v>
                </c:pt>
                <c:pt idx="23">
                  <c:v>304</c:v>
                </c:pt>
                <c:pt idx="24">
                  <c:v>158</c:v>
                </c:pt>
                <c:pt idx="25">
                  <c:v>111</c:v>
                </c:pt>
                <c:pt idx="26">
                  <c:v>65</c:v>
                </c:pt>
                <c:pt idx="27">
                  <c:v>52</c:v>
                </c:pt>
                <c:pt idx="28">
                  <c:v>44</c:v>
                </c:pt>
                <c:pt idx="29">
                  <c:v>30</c:v>
                </c:pt>
                <c:pt idx="30">
                  <c:v>31</c:v>
                </c:pt>
                <c:pt idx="31">
                  <c:v>9</c:v>
                </c:pt>
                <c:pt idx="32">
                  <c:v>5</c:v>
                </c:pt>
                <c:pt idx="33">
                  <c:v>10</c:v>
                </c:pt>
                <c:pt idx="34">
                  <c:v>5</c:v>
                </c:pt>
                <c:pt idx="35">
                  <c:v>5</c:v>
                </c:pt>
                <c:pt idx="36">
                  <c:v>5</c:v>
                </c:pt>
                <c:pt idx="37">
                  <c:v>3</c:v>
                </c:pt>
                <c:pt idx="38">
                  <c:v>1</c:v>
                </c:pt>
                <c:pt idx="39">
                  <c:v>5</c:v>
                </c:pt>
                <c:pt idx="40">
                  <c:v>4</c:v>
                </c:pt>
                <c:pt idx="41">
                  <c:v>0</c:v>
                </c:pt>
                <c:pt idx="42">
                  <c:v>0</c:v>
                </c:pt>
                <c:pt idx="43">
                  <c:v>2</c:v>
                </c:pt>
                <c:pt idx="44">
                  <c:v>1</c:v>
                </c:pt>
                <c:pt idx="45">
                  <c:v>1</c:v>
                </c:pt>
                <c:pt idx="46">
                  <c:v>1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0</c:v>
                </c:pt>
                <c:pt idx="52">
                  <c:v>0</c:v>
                </c:pt>
                <c:pt idx="53">
                  <c:v>0</c:v>
                </c:pt>
                <c:pt idx="54">
                  <c:v>0</c:v>
                </c:pt>
                <c:pt idx="55">
                  <c:v>0</c:v>
                </c:pt>
                <c:pt idx="56">
                  <c:v>0</c:v>
                </c:pt>
                <c:pt idx="57">
                  <c:v>0</c:v>
                </c:pt>
                <c:pt idx="58">
                  <c:v>0</c:v>
                </c:pt>
                <c:pt idx="59">
                  <c:v>0</c:v>
                </c:pt>
              </c:numCache>
            </c:numRef>
          </c:val>
        </c:ser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Held to 12m window  (n=7,646)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Count</c:v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85149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dPt>
            <c:idx val="2"/>
            <c:spPr>
              <a:solidFill>
                <a:srgbClr val="F85149"/>
              </a:solidFill>
            </c:spPr>
          </c:dPt>
          <c:dPt>
            <c:idx val="3"/>
            <c:spPr>
              <a:solidFill>
                <a:srgbClr val="F85149"/>
              </a:solidFill>
            </c:spPr>
          </c:dPt>
          <c:dPt>
            <c:idx val="4"/>
            <c:spPr>
              <a:solidFill>
                <a:srgbClr val="F85149"/>
              </a:solidFill>
            </c:spPr>
          </c:dPt>
          <c:dPt>
            <c:idx val="5"/>
            <c:spPr>
              <a:solidFill>
                <a:srgbClr val="F85149"/>
              </a:solidFill>
            </c:spPr>
          </c:dPt>
          <c:dPt>
            <c:idx val="6"/>
            <c:spPr>
              <a:solidFill>
                <a:srgbClr val="F85149"/>
              </a:solidFill>
            </c:spPr>
          </c:dPt>
          <c:dPt>
            <c:idx val="7"/>
            <c:spPr>
              <a:solidFill>
                <a:srgbClr val="F85149"/>
              </a:solidFill>
            </c:spPr>
          </c:dPt>
          <c:dPt>
            <c:idx val="8"/>
            <c:spPr>
              <a:solidFill>
                <a:srgbClr val="F85149"/>
              </a:solidFill>
            </c:spPr>
          </c:dPt>
          <c:dPt>
            <c:idx val="9"/>
            <c:spPr>
              <a:solidFill>
                <a:srgbClr val="F85149"/>
              </a:solidFill>
            </c:spPr>
          </c:dPt>
          <c:dPt>
            <c:idx val="10"/>
            <c:spPr>
              <a:solidFill>
                <a:srgbClr val="F85149"/>
              </a:solidFill>
            </c:spPr>
          </c:dPt>
          <c:dPt>
            <c:idx val="11"/>
            <c:spPr>
              <a:solidFill>
                <a:srgbClr val="F85149"/>
              </a:solidFill>
            </c:spPr>
          </c:dPt>
          <c:dPt>
            <c:idx val="12"/>
            <c:spPr>
              <a:solidFill>
                <a:srgbClr val="F85149"/>
              </a:solidFill>
            </c:spPr>
          </c:dPt>
          <c:dPt>
            <c:idx val="13"/>
            <c:spPr>
              <a:solidFill>
                <a:srgbClr val="F85149"/>
              </a:solidFill>
            </c:spPr>
          </c:dPt>
          <c:dPt>
            <c:idx val="14"/>
            <c:spPr>
              <a:solidFill>
                <a:srgbClr val="F85149"/>
              </a:solidFill>
            </c:spPr>
          </c:dPt>
          <c:dPt>
            <c:idx val="15"/>
            <c:spPr>
              <a:solidFill>
                <a:srgbClr val="F85149"/>
              </a:solidFill>
            </c:spPr>
          </c:dPt>
          <c:dPt>
            <c:idx val="16"/>
            <c:spPr>
              <a:solidFill>
                <a:srgbClr val="F85149"/>
              </a:solidFill>
            </c:spPr>
          </c:dPt>
          <c:dPt>
            <c:idx val="17"/>
            <c:spPr>
              <a:solidFill>
                <a:srgbClr val="F85149"/>
              </a:solidFill>
            </c:spPr>
          </c:dPt>
          <c:dPt>
            <c:idx val="18"/>
            <c:spPr>
              <a:solidFill>
                <a:srgbClr val="F85149"/>
              </a:solidFill>
            </c:spPr>
          </c:dPt>
          <c:dPt>
            <c:idx val="19"/>
            <c:spPr>
              <a:solidFill>
                <a:srgbClr val="F85149"/>
              </a:solidFill>
            </c:spPr>
          </c:dPt>
          <c:dPt>
            <c:idx val="20"/>
            <c:spPr>
              <a:solidFill>
                <a:srgbClr val="3FB950"/>
              </a:solidFill>
            </c:spPr>
          </c:dPt>
          <c:dPt>
            <c:idx val="21"/>
            <c:spPr>
              <a:solidFill>
                <a:srgbClr val="3FB950"/>
              </a:solidFill>
            </c:spPr>
          </c:dPt>
          <c:dPt>
            <c:idx val="22"/>
            <c:spPr>
              <a:solidFill>
                <a:srgbClr val="3FB950"/>
              </a:solidFill>
            </c:spPr>
          </c:dPt>
          <c:dPt>
            <c:idx val="23"/>
            <c:spPr>
              <a:solidFill>
                <a:srgbClr val="3FB950"/>
              </a:solidFill>
            </c:spPr>
          </c:dPt>
          <c:dPt>
            <c:idx val="24"/>
            <c:spPr>
              <a:solidFill>
                <a:srgbClr val="3FB950"/>
              </a:solidFill>
            </c:spPr>
          </c:dPt>
          <c:dPt>
            <c:idx val="25"/>
            <c:spPr>
              <a:solidFill>
                <a:srgbClr val="3FB950"/>
              </a:solidFill>
            </c:spPr>
          </c:dPt>
          <c:dPt>
            <c:idx val="26"/>
            <c:spPr>
              <a:solidFill>
                <a:srgbClr val="3FB950"/>
              </a:solidFill>
            </c:spPr>
          </c:dPt>
          <c:dPt>
            <c:idx val="27"/>
            <c:spPr>
              <a:solidFill>
                <a:srgbClr val="3FB950"/>
              </a:solidFill>
            </c:spPr>
          </c:dPt>
          <c:dPt>
            <c:idx val="28"/>
            <c:spPr>
              <a:solidFill>
                <a:srgbClr val="3FB950"/>
              </a:solidFill>
            </c:spPr>
          </c:dPt>
          <c:dPt>
            <c:idx val="29"/>
            <c:spPr>
              <a:solidFill>
                <a:srgbClr val="3FB950"/>
              </a:solidFill>
            </c:spPr>
          </c:dPt>
          <c:dPt>
            <c:idx val="30"/>
            <c:spPr>
              <a:solidFill>
                <a:srgbClr val="3FB950"/>
              </a:solidFill>
            </c:spPr>
          </c:dPt>
          <c:dPt>
            <c:idx val="31"/>
            <c:spPr>
              <a:solidFill>
                <a:srgbClr val="3FB950"/>
              </a:solidFill>
            </c:spPr>
          </c:dPt>
          <c:dPt>
            <c:idx val="32"/>
            <c:spPr>
              <a:solidFill>
                <a:srgbClr val="3FB950"/>
              </a:solidFill>
            </c:spPr>
          </c:dPt>
          <c:dPt>
            <c:idx val="33"/>
            <c:spPr>
              <a:solidFill>
                <a:srgbClr val="3FB950"/>
              </a:solidFill>
            </c:spPr>
          </c:dPt>
          <c:dPt>
            <c:idx val="34"/>
            <c:spPr>
              <a:solidFill>
                <a:srgbClr val="3FB950"/>
              </a:solidFill>
            </c:spPr>
          </c:dPt>
          <c:dPt>
            <c:idx val="35"/>
            <c:spPr>
              <a:solidFill>
                <a:srgbClr val="3FB950"/>
              </a:solidFill>
            </c:spPr>
          </c:dPt>
          <c:dPt>
            <c:idx val="36"/>
            <c:spPr>
              <a:solidFill>
                <a:srgbClr val="3FB950"/>
              </a:solidFill>
            </c:spPr>
          </c:dPt>
          <c:dPt>
            <c:idx val="37"/>
            <c:spPr>
              <a:solidFill>
                <a:srgbClr val="3FB950"/>
              </a:solidFill>
            </c:spPr>
          </c:dPt>
          <c:dPt>
            <c:idx val="38"/>
            <c:spPr>
              <a:solidFill>
                <a:srgbClr val="3FB950"/>
              </a:solidFill>
            </c:spPr>
          </c:dPt>
          <c:dPt>
            <c:idx val="39"/>
            <c:spPr>
              <a:solidFill>
                <a:srgbClr val="3FB950"/>
              </a:solidFill>
            </c:spPr>
          </c:dPt>
          <c:dPt>
            <c:idx val="40"/>
            <c:spPr>
              <a:solidFill>
                <a:srgbClr val="3FB950"/>
              </a:solidFill>
            </c:spPr>
          </c:dPt>
          <c:dPt>
            <c:idx val="41"/>
            <c:spPr>
              <a:solidFill>
                <a:srgbClr val="3FB950"/>
              </a:solidFill>
            </c:spPr>
          </c:dPt>
          <c:dPt>
            <c:idx val="42"/>
            <c:spPr>
              <a:solidFill>
                <a:srgbClr val="3FB950"/>
              </a:solidFill>
            </c:spPr>
          </c:dPt>
          <c:dPt>
            <c:idx val="43"/>
            <c:spPr>
              <a:solidFill>
                <a:srgbClr val="3FB950"/>
              </a:solidFill>
            </c:spPr>
          </c:dPt>
          <c:dPt>
            <c:idx val="44"/>
            <c:spPr>
              <a:solidFill>
                <a:srgbClr val="3FB950"/>
              </a:solidFill>
            </c:spPr>
          </c:dPt>
          <c:dPt>
            <c:idx val="45"/>
            <c:spPr>
              <a:solidFill>
                <a:srgbClr val="3FB950"/>
              </a:solidFill>
            </c:spPr>
          </c:dPt>
          <c:dPt>
            <c:idx val="46"/>
            <c:spPr>
              <a:solidFill>
                <a:srgbClr val="3FB950"/>
              </a:solidFill>
            </c:spPr>
          </c:dPt>
          <c:dPt>
            <c:idx val="47"/>
            <c:spPr>
              <a:solidFill>
                <a:srgbClr val="3FB950"/>
              </a:solidFill>
            </c:spPr>
          </c:dPt>
          <c:dPt>
            <c:idx val="48"/>
            <c:spPr>
              <a:solidFill>
                <a:srgbClr val="3FB950"/>
              </a:solidFill>
            </c:spPr>
          </c:dPt>
          <c:dPt>
            <c:idx val="49"/>
            <c:spPr>
              <a:solidFill>
                <a:srgbClr val="3FB950"/>
              </a:solidFill>
            </c:spPr>
          </c:dPt>
          <c:dPt>
            <c:idx val="50"/>
            <c:spPr>
              <a:solidFill>
                <a:srgbClr val="3FB950"/>
              </a:solidFill>
            </c:spPr>
          </c:dPt>
          <c:dPt>
            <c:idx val="51"/>
            <c:spPr>
              <a:solidFill>
                <a:srgbClr val="3FB950"/>
              </a:solidFill>
            </c:spPr>
          </c:dPt>
          <c:dPt>
            <c:idx val="52"/>
            <c:spPr>
              <a:solidFill>
                <a:srgbClr val="3FB950"/>
              </a:solidFill>
            </c:spPr>
          </c:dPt>
          <c:dPt>
            <c:idx val="53"/>
            <c:spPr>
              <a:solidFill>
                <a:srgbClr val="3FB950"/>
              </a:solidFill>
            </c:spPr>
          </c:dPt>
          <c:dPt>
            <c:idx val="54"/>
            <c:spPr>
              <a:solidFill>
                <a:srgbClr val="3FB950"/>
              </a:solidFill>
            </c:spPr>
          </c:dPt>
          <c:dPt>
            <c:idx val="55"/>
            <c:spPr>
              <a:solidFill>
                <a:srgbClr val="3FB950"/>
              </a:solidFill>
            </c:spPr>
          </c:dPt>
          <c:dPt>
            <c:idx val="56"/>
            <c:spPr>
              <a:solidFill>
                <a:srgbClr val="3FB950"/>
              </a:solidFill>
            </c:spPr>
          </c:dPt>
          <c:dPt>
            <c:idx val="57"/>
            <c:spPr>
              <a:solidFill>
                <a:srgbClr val="3FB950"/>
              </a:solidFill>
            </c:spPr>
          </c:dPt>
          <c:dPt>
            <c:idx val="58"/>
            <c:spPr>
              <a:solidFill>
                <a:srgbClr val="3FB950"/>
              </a:solidFill>
            </c:spPr>
          </c:dPt>
          <c:dPt>
            <c:idx val="59"/>
            <c:spPr>
              <a:solidFill>
                <a:srgbClr val="3FB950"/>
              </a:solidFill>
            </c:spPr>
          </c:dPt>
          <c:cat>
            <c:strRef>
              <c:f>Sheet1!$A$2:$A$61</c:f>
              <c:strCache>
                <c:ptCount val="60"/>
                <c:pt idx="0">
                  <c:v>-1.0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/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/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/>
                </c:pt>
                <c:pt idx="13">
                  <c:v/>
                </c:pt>
                <c:pt idx="14">
                  <c:v/>
                </c:pt>
                <c:pt idx="15">
                  <c:v>-0.2</c:v>
                </c:pt>
                <c:pt idx="16">
                  <c:v/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/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/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/>
                </c:pt>
                <c:pt idx="29">
                  <c:v/>
                </c:pt>
                <c:pt idx="30">
                  <c:v>0.5</c:v>
                </c:pt>
                <c:pt idx="31">
                  <c:v/>
                </c:pt>
                <c:pt idx="32">
                  <c:v/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/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/>
                </c:pt>
                <c:pt idx="41">
                  <c:v/>
                </c:pt>
                <c:pt idx="42">
                  <c:v/>
                </c:pt>
                <c:pt idx="43">
                  <c:v/>
                </c:pt>
                <c:pt idx="44">
                  <c:v/>
                </c:pt>
                <c:pt idx="45">
                  <c:v>1.3</c:v>
                </c:pt>
                <c:pt idx="46">
                  <c:v/>
                </c:pt>
                <c:pt idx="47">
                  <c:v/>
                </c:pt>
                <c:pt idx="48">
                  <c:v/>
                </c:pt>
                <c:pt idx="49">
                  <c:v/>
                </c:pt>
                <c:pt idx="50">
                  <c:v/>
                </c:pt>
                <c:pt idx="51">
                  <c:v/>
                </c:pt>
                <c:pt idx="52">
                  <c:v/>
                </c:pt>
                <c:pt idx="53">
                  <c:v/>
                </c:pt>
                <c:pt idx="54">
                  <c:v/>
                </c:pt>
                <c:pt idx="55">
                  <c:v/>
                </c:pt>
                <c:pt idx="56">
                  <c:v/>
                </c:pt>
                <c:pt idx="57">
                  <c:v/>
                </c:pt>
                <c:pt idx="58">
                  <c:v/>
                </c:pt>
                <c:pt idx="59">
                  <c:v/>
                </c:pt>
              </c:strCache>
            </c:strRef>
          </c:cat>
          <c:val>
            <c:numRef>
              <c:f>Sheet1!$B$2:$B$61</c:f>
              <c:numCache>
                <c:formatCode>General</c:formatCode>
                <c:ptCount val="60"/>
                <c:pt idx="0">
                  <c:v>110</c:v>
                </c:pt>
                <c:pt idx="1">
                  <c:v>21</c:v>
                </c:pt>
                <c:pt idx="2">
                  <c:v>22</c:v>
                </c:pt>
                <c:pt idx="3">
                  <c:v>20</c:v>
                </c:pt>
                <c:pt idx="4">
                  <c:v>24</c:v>
                </c:pt>
                <c:pt idx="5">
                  <c:v>34</c:v>
                </c:pt>
                <c:pt idx="6">
                  <c:v>29</c:v>
                </c:pt>
                <c:pt idx="7">
                  <c:v>41</c:v>
                </c:pt>
                <c:pt idx="8">
                  <c:v>44</c:v>
                </c:pt>
                <c:pt idx="9">
                  <c:v>70</c:v>
                </c:pt>
                <c:pt idx="10">
                  <c:v>83</c:v>
                </c:pt>
                <c:pt idx="11">
                  <c:v>98</c:v>
                </c:pt>
                <c:pt idx="12">
                  <c:v>124</c:v>
                </c:pt>
                <c:pt idx="13">
                  <c:v>165</c:v>
                </c:pt>
                <c:pt idx="14">
                  <c:v>234</c:v>
                </c:pt>
                <c:pt idx="15">
                  <c:v>329</c:v>
                </c:pt>
                <c:pt idx="16">
                  <c:v>435</c:v>
                </c:pt>
                <c:pt idx="17">
                  <c:v>542</c:v>
                </c:pt>
                <c:pt idx="18">
                  <c:v>610</c:v>
                </c:pt>
                <c:pt idx="19">
                  <c:v>814</c:v>
                </c:pt>
                <c:pt idx="20">
                  <c:v>812</c:v>
                </c:pt>
                <c:pt idx="21">
                  <c:v>662</c:v>
                </c:pt>
                <c:pt idx="22">
                  <c:v>556</c:v>
                </c:pt>
                <c:pt idx="23">
                  <c:v>450</c:v>
                </c:pt>
                <c:pt idx="24">
                  <c:v>390</c:v>
                </c:pt>
                <c:pt idx="25">
                  <c:v>253</c:v>
                </c:pt>
                <c:pt idx="26">
                  <c:v>174</c:v>
                </c:pt>
                <c:pt idx="27">
                  <c:v>140</c:v>
                </c:pt>
                <c:pt idx="28">
                  <c:v>96</c:v>
                </c:pt>
                <c:pt idx="29">
                  <c:v>72</c:v>
                </c:pt>
                <c:pt idx="30">
                  <c:v>39</c:v>
                </c:pt>
                <c:pt idx="31">
                  <c:v>38</c:v>
                </c:pt>
                <c:pt idx="32">
                  <c:v>16</c:v>
                </c:pt>
                <c:pt idx="33">
                  <c:v>24</c:v>
                </c:pt>
                <c:pt idx="34">
                  <c:v>13</c:v>
                </c:pt>
                <c:pt idx="35">
                  <c:v>17</c:v>
                </c:pt>
                <c:pt idx="36">
                  <c:v>10</c:v>
                </c:pt>
                <c:pt idx="37">
                  <c:v>7</c:v>
                </c:pt>
                <c:pt idx="38">
                  <c:v>5</c:v>
                </c:pt>
                <c:pt idx="39">
                  <c:v>7</c:v>
                </c:pt>
                <c:pt idx="40">
                  <c:v>3</c:v>
                </c:pt>
                <c:pt idx="41">
                  <c:v>2</c:v>
                </c:pt>
                <c:pt idx="42">
                  <c:v>2</c:v>
                </c:pt>
                <c:pt idx="43">
                  <c:v>0</c:v>
                </c:pt>
                <c:pt idx="44">
                  <c:v>3</c:v>
                </c:pt>
                <c:pt idx="45">
                  <c:v>1</c:v>
                </c:pt>
                <c:pt idx="46">
                  <c:v>1</c:v>
                </c:pt>
                <c:pt idx="47">
                  <c:v>0</c:v>
                </c:pt>
                <c:pt idx="48">
                  <c:v>0</c:v>
                </c:pt>
                <c:pt idx="49">
                  <c:v>0</c:v>
                </c:pt>
                <c:pt idx="50">
                  <c:v>0</c:v>
                </c:pt>
                <c:pt idx="51">
                  <c:v>1</c:v>
                </c:pt>
                <c:pt idx="52">
                  <c:v>0</c:v>
                </c:pt>
                <c:pt idx="53">
                  <c:v>0</c:v>
                </c:pt>
                <c:pt idx="54">
                  <c:v>1</c:v>
                </c:pt>
                <c:pt idx="55">
                  <c:v>0</c:v>
                </c:pt>
                <c:pt idx="56">
                  <c:v>0</c:v>
                </c:pt>
                <c:pt idx="57">
                  <c:v>1</c:v>
                </c:pt>
                <c:pt idx="58">
                  <c:v>0</c:v>
                </c:pt>
                <c:pt idx="59">
                  <c:v>1</c:v>
                </c:pt>
              </c:numCache>
            </c:numRef>
          </c:val>
        </c:ser>
        <c:gapWidth val="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Top 10 — Best  (group avg 67.3%)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Ron Wyden  (n=161)</c:v>
                </c:pt>
                <c:pt idx="1">
                  <c:v>Kelly Loeffler  (n=38)</c:v>
                </c:pt>
                <c:pt idx="2">
                  <c:v>Roger W. Marshall  (n=46)</c:v>
                </c:pt>
                <c:pt idx="3">
                  <c:v>Mo Brooks  (n=24)</c:v>
                </c:pt>
                <c:pt idx="4">
                  <c:v>Donald Sternoff Beyer Jr  (n=297)</c:v>
                </c:pt>
                <c:pt idx="5">
                  <c:v>John F. Reed  (n=42)</c:v>
                </c:pt>
                <c:pt idx="6">
                  <c:v>Bradley S. Schneider  (n=22)</c:v>
                </c:pt>
                <c:pt idx="7">
                  <c:v>David P. Joyce  (n=44)</c:v>
                </c:pt>
                <c:pt idx="8">
                  <c:v>John Boozman  (n=44)</c:v>
                </c:pt>
                <c:pt idx="9">
                  <c:v>Suzan K. Delbene  (n=21)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2.8992870926178</c:v>
                </c:pt>
                <c:pt idx="1">
                  <c:v>2.857748044254855</c:v>
                </c:pt>
                <c:pt idx="2">
                  <c:v>4.951339573646485</c:v>
                </c:pt>
                <c:pt idx="3">
                  <c:v>4.713939395935425</c:v>
                </c:pt>
                <c:pt idx="4">
                  <c:v>4.609212396218361</c:v>
                </c:pt>
                <c:pt idx="5">
                  <c:v>1.9498663060768453</c:v>
                </c:pt>
                <c:pt idx="6">
                  <c:v>2.279426815370135</c:v>
                </c:pt>
                <c:pt idx="7">
                  <c:v>2.84812559022151</c:v>
                </c:pt>
                <c:pt idx="8">
                  <c:v>2.736869436782875</c:v>
                </c:pt>
                <c:pt idx="9">
                  <c:v>2.47593159867059</c:v>
                </c:pt>
              </c:numCache>
            </c:numRef>
          </c:val>
        </c:ser>
        <c:axId val="101"/>
        <c:axId val="102"/>
      </c:barChart>
      <c:catAx>
        <c:axId val="10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/>
        <c:delete val="0"/>
        <c:axPos val="l"/>
        <c:majorGridlines/>
        <c:majorTickMark val="out"/>
        <c:minorTickMark val="none"/>
        <c:tickLblPos val="nextTo"/>
        <c:crossAx val="101"/>
        <c:crosses val="autoZero"/>
      </c:valAx>
      <c:lineChart>
        <c:grouping val="standard"/>
        <c:smooth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Ref>
              <c:f/>
              <c:numCache>
                <c:formatCode>0.0</c:formatCode>
                <c:ptCount val="10"/>
                <c:pt idx="0">
                  <c:v>60.24844720496895</c:v>
                </c:pt>
                <c:pt idx="1">
                  <c:v>60.526315789473685</c:v>
                </c:pt>
                <c:pt idx="2">
                  <c:v>60.86956521739131</c:v>
                </c:pt>
                <c:pt idx="3">
                  <c:v>62.5</c:v>
                </c:pt>
                <c:pt idx="4">
                  <c:v>63.2996632996633</c:v>
                </c:pt>
                <c:pt idx="5">
                  <c:v>66.66666666666666</c:v>
                </c:pt>
                <c:pt idx="6">
                  <c:v>68.18181818181817</c:v>
                </c:pt>
                <c:pt idx="7">
                  <c:v>72.72727272727273</c:v>
                </c:pt>
                <c:pt idx="8">
                  <c:v>77.27272727272727</c:v>
                </c:pt>
                <c:pt idx="9">
                  <c:v>80.95238095238095</c:v>
                </c:pt>
              </c:numCache>
            </c:numRef>
          </c:val>
        </c:ser>
        <c:axId val="101"/>
        <c:axId val="103"/>
      </c:lineChart>
      <c:valAx>
        <c:axId val="103"/>
        <c:scaling>
          <c:orientation val="minMax"/>
          <c:max val="5.951339573646485"/>
          <c:min val="-19.96702364707319"/>
        </c:scaling>
        <c:delete val="0"/>
        <c:axPos val="r"/>
        <c:crossAx val="101"/>
        <c:crosses val="max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Bottom 10 — Worst  (group avg 32.0%)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Median CAR %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C. Scott Franklin  (n=24)</c:v>
                </c:pt>
                <c:pt idx="1">
                  <c:v>Mrs. Marjorie Taylor Greene  (n=22)</c:v>
                </c:pt>
                <c:pt idx="2">
                  <c:v>Tom Malinowski  (n=104)</c:v>
                </c:pt>
                <c:pt idx="3">
                  <c:v>Carol Devine Miller  (n=54)</c:v>
                </c:pt>
                <c:pt idx="4">
                  <c:v>Austin Scott  (n=35)</c:v>
                </c:pt>
                <c:pt idx="5">
                  <c:v>Daniel Goldman  (n=306)</c:v>
                </c:pt>
                <c:pt idx="6">
                  <c:v>Michael Patrick Guest  (n=42)</c:v>
                </c:pt>
                <c:pt idx="7">
                  <c:v>Jonathan Jackson  (n=47)</c:v>
                </c:pt>
                <c:pt idx="8">
                  <c:v>James Comer  (n=22)</c:v>
                </c:pt>
                <c:pt idx="9">
                  <c:v>Joe Courtney  (n=57)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-8.121829787984824</c:v>
                </c:pt>
                <c:pt idx="1">
                  <c:v>-15.882217308014068</c:v>
                </c:pt>
                <c:pt idx="2">
                  <c:v>-9.954606977386245</c:v>
                </c:pt>
                <c:pt idx="3">
                  <c:v>-6.84837274203246</c:v>
                </c:pt>
                <c:pt idx="4">
                  <c:v>-18.96702364707319</c:v>
                </c:pt>
                <c:pt idx="5">
                  <c:v>-5.12210746332646</c:v>
                </c:pt>
                <c:pt idx="6">
                  <c:v>-6.277802344491221</c:v>
                </c:pt>
                <c:pt idx="7">
                  <c:v>-5.63031226557604</c:v>
                </c:pt>
                <c:pt idx="8">
                  <c:v>-7.563083510364265</c:v>
                </c:pt>
                <c:pt idx="9">
                  <c:v>-2.13981090577625</c:v>
                </c:pt>
              </c:numCache>
            </c:numRef>
          </c:val>
        </c:ser>
        <c:axId val="101"/>
        <c:axId val="102"/>
      </c:barChart>
      <c:catAx>
        <c:axId val="10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/>
        <c:delete val="0"/>
        <c:axPos val="l"/>
        <c:majorGridlines/>
        <c:majorTickMark val="out"/>
        <c:minorTickMark val="none"/>
        <c:tickLblPos val="nextTo"/>
        <c:crossAx val="101"/>
        <c:crosses val="autoZero"/>
      </c:valAx>
      <c:lineChart>
        <c:grouping val="standard"/>
        <c:smooth val="0"/>
        <c:ser>
          <c:idx val="1"/>
          <c:order val="1"/>
          <c:tx>
            <c:v>Hit Rate %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Ref>
              <c:f/>
              <c:numCache>
                <c:formatCode>0.0</c:formatCode>
                <c:ptCount val="10"/>
                <c:pt idx="0">
                  <c:v>16.666666666666664</c:v>
                </c:pt>
                <c:pt idx="1">
                  <c:v>27.27272727272727</c:v>
                </c:pt>
                <c:pt idx="2">
                  <c:v>29.807692307692307</c:v>
                </c:pt>
                <c:pt idx="3">
                  <c:v>31.48148148148148</c:v>
                </c:pt>
                <c:pt idx="4">
                  <c:v>34.285714285714285</c:v>
                </c:pt>
                <c:pt idx="5">
                  <c:v>35.294117647058826</c:v>
                </c:pt>
                <c:pt idx="6">
                  <c:v>35.714285714285715</c:v>
                </c:pt>
                <c:pt idx="7">
                  <c:v>36.17021276595745</c:v>
                </c:pt>
                <c:pt idx="8">
                  <c:v>36.36363636363637</c:v>
                </c:pt>
                <c:pt idx="9">
                  <c:v>36.84210526315789</c:v>
                </c:pt>
              </c:numCache>
            </c:numRef>
          </c:val>
        </c:ser>
        <c:axId val="101"/>
        <c:axId val="103"/>
      </c:lineChart>
      <c:valAx>
        <c:axId val="103"/>
        <c:scaling>
          <c:orientation val="minMax"/>
          <c:max val="5.951339573646485"/>
          <c:min val="-19.96702364707319"/>
        </c:scaling>
        <c:delete val="0"/>
        <c:axPos val="r"/>
        <c:crossAx val="101"/>
        <c:crosses val="max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Trade Volume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Sheet1!$A$2:$A$42</c:f>
              <c:strCache>
                <c:ptCount val="41"/>
                <c:pt idx="0">
                  <c:v>2015Q1</c:v>
                </c:pt>
                <c:pt idx="1">
                  <c:v/>
                </c:pt>
                <c:pt idx="2">
                  <c:v/>
                </c:pt>
                <c:pt idx="3">
                  <c:v/>
                </c:pt>
                <c:pt idx="4">
                  <c:v>2016Q1</c:v>
                </c:pt>
                <c:pt idx="5">
                  <c:v/>
                </c:pt>
                <c:pt idx="6">
                  <c:v/>
                </c:pt>
                <c:pt idx="7">
                  <c:v/>
                </c:pt>
                <c:pt idx="8">
                  <c:v>2017Q1</c:v>
                </c:pt>
                <c:pt idx="9">
                  <c:v/>
                </c:pt>
                <c:pt idx="10">
                  <c:v/>
                </c:pt>
                <c:pt idx="11">
                  <c:v/>
                </c:pt>
                <c:pt idx="12">
                  <c:v>2018Q1</c:v>
                </c:pt>
                <c:pt idx="13">
                  <c:v/>
                </c:pt>
                <c:pt idx="14">
                  <c:v/>
                </c:pt>
                <c:pt idx="15">
                  <c:v/>
                </c:pt>
                <c:pt idx="16">
                  <c:v>2019Q1</c:v>
                </c:pt>
                <c:pt idx="17">
                  <c:v/>
                </c:pt>
                <c:pt idx="18">
                  <c:v/>
                </c:pt>
                <c:pt idx="19">
                  <c:v/>
                </c:pt>
                <c:pt idx="20">
                  <c:v>2020Q1</c:v>
                </c:pt>
                <c:pt idx="21">
                  <c:v/>
                </c:pt>
                <c:pt idx="22">
                  <c:v/>
                </c:pt>
                <c:pt idx="23">
                  <c:v/>
                </c:pt>
                <c:pt idx="24">
                  <c:v>2021Q1</c:v>
                </c:pt>
                <c:pt idx="25">
                  <c:v/>
                </c:pt>
                <c:pt idx="26">
                  <c:v/>
                </c:pt>
                <c:pt idx="27">
                  <c:v/>
                </c:pt>
                <c:pt idx="28">
                  <c:v>2022Q1</c:v>
                </c:pt>
                <c:pt idx="29">
                  <c:v/>
                </c:pt>
                <c:pt idx="30">
                  <c:v/>
                </c:pt>
                <c:pt idx="31">
                  <c:v/>
                </c:pt>
                <c:pt idx="32">
                  <c:v>2023Q1</c:v>
                </c:pt>
                <c:pt idx="33">
                  <c:v/>
                </c:pt>
                <c:pt idx="34">
                  <c:v/>
                </c:pt>
                <c:pt idx="35">
                  <c:v/>
                </c:pt>
                <c:pt idx="36">
                  <c:v>2024Q1</c:v>
                </c:pt>
                <c:pt idx="37">
                  <c:v/>
                </c:pt>
                <c:pt idx="38">
                  <c:v/>
                </c:pt>
                <c:pt idx="39">
                  <c:v/>
                </c:pt>
                <c:pt idx="40">
                  <c:v>2025Q1</c:v>
                </c:pt>
              </c:strCache>
            </c:strRef>
          </c:cat>
          <c:val>
            <c:numRef>
              <c:f>Sheet1!$B$2:$B$42</c:f>
              <c:numCache>
                <c:formatCode>General</c:formatCode>
                <c:ptCount val="41"/>
                <c:pt idx="0">
                  <c:v>84.0</c:v>
                </c:pt>
                <c:pt idx="1">
                  <c:v>86.0</c:v>
                </c:pt>
                <c:pt idx="2">
                  <c:v>105.0</c:v>
                </c:pt>
                <c:pt idx="3">
                  <c:v>2.0</c:v>
                </c:pt>
                <c:pt idx="4">
                  <c:v>97.0</c:v>
                </c:pt>
                <c:pt idx="5">
                  <c:v>109.0</c:v>
                </c:pt>
                <c:pt idx="6">
                  <c:v>68.0</c:v>
                </c:pt>
                <c:pt idx="7">
                  <c:v>95.0</c:v>
                </c:pt>
                <c:pt idx="8">
                  <c:v>178.0</c:v>
                </c:pt>
                <c:pt idx="9">
                  <c:v>84.0</c:v>
                </c:pt>
                <c:pt idx="10">
                  <c:v>128.0</c:v>
                </c:pt>
                <c:pt idx="11">
                  <c:v>158.0</c:v>
                </c:pt>
                <c:pt idx="12">
                  <c:v>114.0</c:v>
                </c:pt>
                <c:pt idx="13">
                  <c:v>307.0</c:v>
                </c:pt>
                <c:pt idx="14">
                  <c:v>681.0</c:v>
                </c:pt>
                <c:pt idx="15">
                  <c:v>440.0</c:v>
                </c:pt>
                <c:pt idx="16">
                  <c:v>607.0</c:v>
                </c:pt>
                <c:pt idx="17">
                  <c:v>492.0</c:v>
                </c:pt>
                <c:pt idx="18">
                  <c:v>358.0</c:v>
                </c:pt>
                <c:pt idx="19">
                  <c:v>506.0</c:v>
                </c:pt>
                <c:pt idx="20">
                  <c:v>610.0</c:v>
                </c:pt>
                <c:pt idx="21">
                  <c:v>1129.0</c:v>
                </c:pt>
                <c:pt idx="22">
                  <c:v>646.0</c:v>
                </c:pt>
                <c:pt idx="23">
                  <c:v>633.0</c:v>
                </c:pt>
                <c:pt idx="24">
                  <c:v>535.0</c:v>
                </c:pt>
                <c:pt idx="25">
                  <c:v>468.0</c:v>
                </c:pt>
                <c:pt idx="26">
                  <c:v>747.0</c:v>
                </c:pt>
                <c:pt idx="27">
                  <c:v>412.0</c:v>
                </c:pt>
                <c:pt idx="28">
                  <c:v>377.0</c:v>
                </c:pt>
                <c:pt idx="29">
                  <c:v>301.0</c:v>
                </c:pt>
                <c:pt idx="30">
                  <c:v>434.0</c:v>
                </c:pt>
                <c:pt idx="31">
                  <c:v>321.0</c:v>
                </c:pt>
                <c:pt idx="32">
                  <c:v>346.0</c:v>
                </c:pt>
                <c:pt idx="33">
                  <c:v>484.0</c:v>
                </c:pt>
                <c:pt idx="34">
                  <c:v>276.0</c:v>
                </c:pt>
                <c:pt idx="35">
                  <c:v>399.0</c:v>
                </c:pt>
                <c:pt idx="36">
                  <c:v>228.0</c:v>
                </c:pt>
                <c:pt idx="37">
                  <c:v>182.0</c:v>
                </c:pt>
                <c:pt idx="38">
                  <c:v>456.0</c:v>
                </c:pt>
                <c:pt idx="39">
                  <c:v>235.0</c:v>
                </c:pt>
                <c:pt idx="40">
                  <c:v>106.0</c:v>
                </c:pt>
              </c:numCache>
            </c:numRef>
          </c:val>
        </c:ser>
        <c:axId val="101"/>
        <c:axId val="102"/>
      </c:barChart>
      <c:catAx>
        <c:axId val="10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/>
        <c:delete val="0"/>
        <c:axPos val="l"/>
        <c:majorGridlines/>
        <c:majorTickMark val="out"/>
        <c:minorTickMark val="none"/>
        <c:tickLblPos val="nextTo"/>
        <c:crossAx val="101"/>
        <c:crosses val="autoZero"/>
      </c:valAx>
      <c:lineChart>
        <c:grouping val="standard"/>
        <c:smooth val="0"/>
        <c:ser>
          <c:idx val="1"/>
          <c:order val="1"/>
          <c:tx>
            <c:v>% Positive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Ref>
              <c:f/>
              <c:numCache>
                <c:formatCode>0.0</c:formatCode>
                <c:ptCount val="41"/>
                <c:pt idx="0">
                  <c:v>46.42857142857143</c:v>
                </c:pt>
                <c:pt idx="1">
                  <c:v>36.04651162790697</c:v>
                </c:pt>
                <c:pt idx="2">
                  <c:v>51.42857142857142</c:v>
                </c:pt>
                <c:pt idx="3">
                  <c:v>100.0</c:v>
                </c:pt>
                <c:pt idx="4">
                  <c:v>79.38144329896907</c:v>
                </c:pt>
                <c:pt idx="5">
                  <c:v>57.798165137614674</c:v>
                </c:pt>
                <c:pt idx="6">
                  <c:v>51.470588235294116</c:v>
                </c:pt>
                <c:pt idx="7">
                  <c:v>47.368421052631575</c:v>
                </c:pt>
                <c:pt idx="8">
                  <c:v>38.20224719101123</c:v>
                </c:pt>
                <c:pt idx="9">
                  <c:v>53.57142857142857</c:v>
                </c:pt>
                <c:pt idx="10">
                  <c:v>66.40625</c:v>
                </c:pt>
                <c:pt idx="11">
                  <c:v>43.67088607594937</c:v>
                </c:pt>
                <c:pt idx="12">
                  <c:v>50.877192982456144</c:v>
                </c:pt>
                <c:pt idx="13">
                  <c:v>56.67752442996743</c:v>
                </c:pt>
                <c:pt idx="14">
                  <c:v>49.04552129221732</c:v>
                </c:pt>
                <c:pt idx="15">
                  <c:v>53.63636363636364</c:v>
                </c:pt>
                <c:pt idx="16">
                  <c:v>48.270181219110384</c:v>
                </c:pt>
                <c:pt idx="17">
                  <c:v>45.32520325203252</c:v>
                </c:pt>
                <c:pt idx="18">
                  <c:v>43.575418994413404</c:v>
                </c:pt>
                <c:pt idx="19">
                  <c:v>50.988142292490124</c:v>
                </c:pt>
                <c:pt idx="20">
                  <c:v>51.967213114754095</c:v>
                </c:pt>
                <c:pt idx="21">
                  <c:v>54.82728077945084</c:v>
                </c:pt>
                <c:pt idx="22">
                  <c:v>48.91640866873065</c:v>
                </c:pt>
                <c:pt idx="23">
                  <c:v>49.447077409162716</c:v>
                </c:pt>
                <c:pt idx="24">
                  <c:v>42.429906542056074</c:v>
                </c:pt>
                <c:pt idx="25">
                  <c:v>46.36752136752137</c:v>
                </c:pt>
                <c:pt idx="26">
                  <c:v>44.84605087014726</c:v>
                </c:pt>
                <c:pt idx="27">
                  <c:v>49.271844660194176</c:v>
                </c:pt>
                <c:pt idx="28">
                  <c:v>51.9893899204244</c:v>
                </c:pt>
                <c:pt idx="29">
                  <c:v>52.49169435215947</c:v>
                </c:pt>
                <c:pt idx="30">
                  <c:v>42.857142857142854</c:v>
                </c:pt>
                <c:pt idx="31">
                  <c:v>48.598130841121495</c:v>
                </c:pt>
                <c:pt idx="32">
                  <c:v>37.57225433526011</c:v>
                </c:pt>
                <c:pt idx="33">
                  <c:v>40.289256198347104</c:v>
                </c:pt>
                <c:pt idx="34">
                  <c:v>45.289855072463766</c:v>
                </c:pt>
                <c:pt idx="35">
                  <c:v>46.11528822055138</c:v>
                </c:pt>
                <c:pt idx="36">
                  <c:v>43.859649122807014</c:v>
                </c:pt>
                <c:pt idx="37">
                  <c:v>42.857142857142854</c:v>
                </c:pt>
                <c:pt idx="38">
                  <c:v>44.95614035087719</c:v>
                </c:pt>
                <c:pt idx="39">
                  <c:v>51.06382978723404</c:v>
                </c:pt>
                <c:pt idx="40">
                  <c:v>51.886792452830186</c:v>
                </c:pt>
              </c:numCache>
            </c:numRef>
          </c:val>
        </c:ser>
        <c:axId val="101"/>
        <c:axId val="103"/>
      </c:lineChart>
      <c:valAx>
        <c:axId val="103"/>
        <c:scaling>
          <c:orientation val="minMax"/>
        </c:scaling>
        <c:delete val="0"/>
        <c:axPos val="r"/>
        <c:crossAx val="101"/>
        <c:crosses val="max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Median CAR % — Dem vs Rep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85149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cat>
            <c:strRef>
              <c:f>Sheet1!$A$2:$A$3</c:f>
              <c:strCache>
                <c:ptCount val="2"/>
                <c:pt idx="0">
                  <c:v>Democrat</c:v>
                </c:pt>
                <c:pt idx="1">
                  <c:v>Republican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-0.90474677288054</c:v>
                </c:pt>
                <c:pt idx="1">
                  <c:v>-0.34966620742192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>
                    <a:solidFill>
                      <a:srgbClr val="7D8590"/>
                    </a:solidFill>
                  </a:rPr>
                  <a:t>Median CAR 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Median CAR % by Disclosure Delay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3FB950"/>
              </a:solidFill>
            </c:spPr>
          </c:dPt>
          <c:dPt>
            <c:idx val="1"/>
            <c:spPr>
              <a:solidFill>
                <a:srgbClr val="F85149"/>
              </a:solidFill>
            </c:spPr>
          </c:dPt>
          <c:dPt>
            <c:idx val="2"/>
            <c:spPr>
              <a:solidFill>
                <a:srgbClr val="F85149"/>
              </a:solidFill>
            </c:spPr>
          </c:dPt>
          <c:dPt>
            <c:idx val="3"/>
            <c:spPr>
              <a:solidFill>
                <a:srgbClr val="F85149"/>
              </a:solidFill>
            </c:spPr>
          </c:dPt>
          <c:dPt>
            <c:idx val="4"/>
            <c:spPr>
              <a:solidFill>
                <a:srgbClr val="F85149"/>
              </a:solidFill>
            </c:spPr>
          </c:dPt>
          <c:dPt>
            <c:idx val="5"/>
            <c:spPr>
              <a:solidFill>
                <a:srgbClr val="F85149"/>
              </a:solidFill>
            </c:spPr>
          </c:dPt>
          <c:dPt>
            <c:idx val="6"/>
            <c:spPr>
              <a:solidFill>
                <a:srgbClr val="F85149"/>
              </a:solidFill>
            </c:spPr>
          </c:dPt>
          <c:cat>
            <c:strRef>
              <c:f>Sheet1!$A$2:$A$8</c:f>
              <c:strCache>
                <c:ptCount val="7"/>
                <c:pt idx="0">
                  <c:v>0-10d</c:v>
                </c:pt>
                <c:pt idx="1">
                  <c:v>10-20d</c:v>
                </c:pt>
                <c:pt idx="2">
                  <c:v>20-30d</c:v>
                </c:pt>
                <c:pt idx="3">
                  <c:v>30-40d</c:v>
                </c:pt>
                <c:pt idx="4">
                  <c:v>40-45d</c:v>
                </c:pt>
                <c:pt idx="5">
                  <c:v>45-50d</c:v>
                </c:pt>
                <c:pt idx="6">
                  <c:v>50d+</c:v>
                </c:pt>
              </c:strCache>
            </c:strRef>
          </c:cat>
          <c:val>
            <c:numRef>
              <c:f>Sheet1!$B$2:$B$8</c:f>
              <c:numCache>
                <c:formatCode>General</c:formatCode>
                <c:ptCount val="7"/>
                <c:pt idx="0">
                  <c:v>1.12682843440094</c:v>
                </c:pt>
                <c:pt idx="1">
                  <c:v>-0.7552430917908901</c:v>
                </c:pt>
                <c:pt idx="2">
                  <c:v>-0.45762393430482</c:v>
                </c:pt>
                <c:pt idx="3">
                  <c:v>-0.27921484686478004</c:v>
                </c:pt>
                <c:pt idx="4">
                  <c:v>-1.18935259073622</c:v>
                </c:pt>
                <c:pt idx="5">
                  <c:v>-2.2385380533378</c:v>
                </c:pt>
                <c:pt idx="6">
                  <c:v>-0.8204284439693701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>
                    <a:solidFill>
                      <a:srgbClr val="7D8590"/>
                    </a:solidFill>
                  </a:rPr>
                  <a:t>Median CAR 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Median CAR % by Committee-Industry Match Tier</a:t>
            </a:r>
          </a:p>
        </c:rich>
      </c:tx>
      <c:layout/>
      <c:overlay val="0"/>
    </c:title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F85149"/>
              </a:solidFill>
            </c:spPr>
          </c:dPt>
          <c:dPt>
            <c:idx val="1"/>
            <c:spPr>
              <a:solidFill>
                <a:srgbClr val="3FB950"/>
              </a:solidFill>
            </c:spPr>
          </c:dPt>
          <c:dPt>
            <c:idx val="2"/>
            <c:spPr>
              <a:solidFill>
                <a:srgbClr val="F85149"/>
              </a:solidFill>
            </c:spPr>
          </c:dPt>
          <c:dPt>
            <c:idx val="3"/>
            <c:spPr>
              <a:solidFill>
                <a:srgbClr val="F85149"/>
              </a:solidFill>
            </c:spPr>
          </c:dPt>
          <c:cat>
            <c:strRef>
              <c:f>Sheet1!$A$2:$A$5</c:f>
              <c:strCache>
                <c:ptCount val="4"/>
                <c:pt idx="0">
                  <c:v>No Match</c:v>
                </c:pt>
                <c:pt idx="1">
                  <c:v>Tier 1 (Tangential)</c:v>
                </c:pt>
                <c:pt idx="2">
                  <c:v>Tier 2 (Oversight)</c:v>
                </c:pt>
                <c:pt idx="3">
                  <c:v>Tier 3 (Direct)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-0.5510829020539</c:v>
                </c:pt>
                <c:pt idx="1">
                  <c:v>0.613536424114805</c:v>
                </c:pt>
                <c:pt idx="2">
                  <c:v>-0.114273437138745</c:v>
                </c:pt>
                <c:pt idx="3">
                  <c:v>-1.8742694527032997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title>
          <c:tx>
            <c:rich>
              <a:bodyPr/>
              <a:lstStyle/>
              <a:p>
                <a:r>
                  <a:rPr>
                    <a:solidFill>
                      <a:srgbClr val="7D8590"/>
                    </a:solidFill>
                  </a:rPr>
                  <a:t>Median CAR %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 (flag=1)</c:v>
                </c:pt>
              </c:strCache>
            </c:strRef>
          </c:tx>
          <c:spPr>
            <a:solidFill>
              <a:srgbClr val="F0883E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Defense &amp;
Security</c:v>
                </c:pt>
                <c:pt idx="1">
                  <c:v>Finance &amp;
Housing</c:v>
                </c:pt>
                <c:pt idx="2">
                  <c:v>Fiscal
Policy</c:v>
                </c:pt>
                <c:pt idx="3">
                  <c:v>Energy &amp;
Environment</c:v>
                </c:pt>
                <c:pt idx="4">
                  <c:v>Health &amp;
Labor</c:v>
                </c:pt>
                <c:pt idx="5">
                  <c:v>Commerce
&amp; Tech</c:v>
                </c:pt>
                <c:pt idx="6">
                  <c:v>Agriculture</c:v>
                </c:pt>
                <c:pt idx="7">
                  <c:v>Infrastructure</c:v>
                </c:pt>
                <c:pt idx="8">
                  <c:v>Oversight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48.73477038425492</c:v>
                </c:pt>
                <c:pt idx="1">
                  <c:v>46.90635451505017</c:v>
                </c:pt>
                <c:pt idx="2">
                  <c:v>50.992438563327035</c:v>
                </c:pt>
                <c:pt idx="3">
                  <c:v>53.33983422720624</c:v>
                </c:pt>
                <c:pt idx="4">
                  <c:v>48.12404287901991</c:v>
                </c:pt>
                <c:pt idx="5">
                  <c:v>53.03265940902022</c:v>
                </c:pt>
                <c:pt idx="6">
                  <c:v>49.31002759889604</c:v>
                </c:pt>
                <c:pt idx="7">
                  <c:v>46.97156983930778</c:v>
                </c:pt>
                <c:pt idx="8">
                  <c:v>44.70659407138536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 (flag=0)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Sheet1!$A$2:$A$10</c:f>
              <c:strCache>
                <c:ptCount val="9"/>
                <c:pt idx="0">
                  <c:v>Defense &amp;
Security</c:v>
                </c:pt>
                <c:pt idx="1">
                  <c:v>Finance &amp;
Housing</c:v>
                </c:pt>
                <c:pt idx="2">
                  <c:v>Fiscal
Policy</c:v>
                </c:pt>
                <c:pt idx="3">
                  <c:v>Energy &amp;
Environment</c:v>
                </c:pt>
                <c:pt idx="4">
                  <c:v>Health &amp;
Labor</c:v>
                </c:pt>
                <c:pt idx="5">
                  <c:v>Commerce
&amp; Tech</c:v>
                </c:pt>
                <c:pt idx="6">
                  <c:v>Agriculture</c:v>
                </c:pt>
                <c:pt idx="7">
                  <c:v>Infrastructure</c:v>
                </c:pt>
                <c:pt idx="8">
                  <c:v>Oversight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48.230619975977085</c:v>
                </c:pt>
                <c:pt idx="1">
                  <c:v>48.64167812929849</c:v>
                </c:pt>
                <c:pt idx="2">
                  <c:v>47.875377897211955</c:v>
                </c:pt>
                <c:pt idx="3">
                  <c:v>47.49018625240124</c:v>
                </c:pt>
                <c:pt idx="4">
                  <c:v>48.396424815983174</c:v>
                </c:pt>
                <c:pt idx="5">
                  <c:v>48.12046932217323</c:v>
                </c:pt>
                <c:pt idx="6">
                  <c:v>48.16877637130801</c:v>
                </c:pt>
                <c:pt idx="7">
                  <c:v>48.42981460461597</c:v>
                </c:pt>
                <c:pt idx="8">
                  <c:v>48.831945679411525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On (flag=1)</c:v>
                </c:pt>
              </c:strCache>
            </c:strRef>
          </c:tx>
          <c:spPr>
            <a:solidFill>
              <a:srgbClr val="F0883E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Committee
Chair</c:v>
                </c:pt>
                <c:pt idx="1">
                  <c:v>Majority
Party</c:v>
                </c:pt>
                <c:pt idx="2">
                  <c:v>Lobbied
(90d)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50.18982536066818</c:v>
                </c:pt>
                <c:pt idx="1">
                  <c:v>51.64690382081687</c:v>
                </c:pt>
                <c:pt idx="2">
                  <c:v>56.375838926174495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Off (flag=0)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Sheet1!$A$2:$A$4</c:f>
              <c:strCache>
                <c:ptCount val="3"/>
                <c:pt idx="0">
                  <c:v>Committee
Chair</c:v>
                </c:pt>
                <c:pt idx="1">
                  <c:v>Majority
Party</c:v>
                </c:pt>
                <c:pt idx="2">
                  <c:v>Lobbied
(90d)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48.154560478476434</c:v>
                </c:pt>
                <c:pt idx="1">
                  <c:v>47.70579722482336</c:v>
                </c:pt>
                <c:pt idx="2">
                  <c:v>47.7989337395278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N Trades</c:v>
                </c:pt>
              </c:strCache>
            </c:strRef>
          </c:tx>
          <c:spPr>
            <a:solidFill>
              <a:srgbClr val="388BFD"/>
            </a:solidFill>
            <a:ln>
              <a:noFill/>
            </a:ln>
          </c:spPr>
          <c:cat>
            <c:strRef>
              <c:f>Sheet1!$A$2:$A$11</c:f>
              <c:strCache>
                <c:ptCount val="10"/>
                <c:pt idx="0">
                  <c:v>50%</c:v>
                </c:pt>
                <c:pt idx="1">
                  <c:v>55%</c:v>
                </c:pt>
                <c:pt idx="2">
                  <c:v>60%</c:v>
                </c:pt>
                <c:pt idx="3">
                  <c:v>65%</c:v>
                </c:pt>
                <c:pt idx="4">
                  <c:v>70%</c:v>
                </c:pt>
                <c:pt idx="5">
                  <c:v>75%</c:v>
                </c:pt>
                <c:pt idx="6">
                  <c:v>80%</c:v>
                </c:pt>
                <c:pt idx="7">
                  <c:v>85%</c:v>
                </c:pt>
                <c:pt idx="8">
                  <c:v>90%</c:v>
                </c:pt>
                <c:pt idx="9">
                  <c:v>95%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1346.0</c:v>
                </c:pt>
                <c:pt idx="1">
                  <c:v>1140.0</c:v>
                </c:pt>
                <c:pt idx="2">
                  <c:v>887.0</c:v>
                </c:pt>
                <c:pt idx="3">
                  <c:v>683.0</c:v>
                </c:pt>
                <c:pt idx="4">
                  <c:v>495.0</c:v>
                </c:pt>
                <c:pt idx="5">
                  <c:v>347.0</c:v>
                </c:pt>
                <c:pt idx="6">
                  <c:v>215.0</c:v>
                </c:pt>
                <c:pt idx="7">
                  <c:v>101.0</c:v>
                </c:pt>
                <c:pt idx="8">
                  <c:v>42.0</c:v>
                </c:pt>
                <c:pt idx="9">
                  <c:v>10.0</c:v>
                </c:pt>
              </c:numCache>
            </c:numRef>
          </c:val>
        </c:ser>
        <c:axId val="101"/>
        <c:axId val="102"/>
      </c:barChart>
      <c:catAx>
        <c:axId val="101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102"/>
        <c:crosses val="autoZero"/>
        <c:auto val="1"/>
        <c:lblAlgn val="ctr"/>
        <c:lblOffset val="100"/>
        <c:noMultiLvlLbl val="0"/>
      </c:catAx>
      <c:valAx>
        <c:axId val="102"/>
        <c:scaling/>
        <c:delete val="0"/>
        <c:axPos val="l"/>
        <c:majorGridlines/>
        <c:majorTickMark val="out"/>
        <c:minorTickMark val="none"/>
        <c:tickLblPos val="nextTo"/>
        <c:crossAx val="101"/>
        <c:crosses val="autoZero"/>
      </c:valAx>
      <c:lineChart>
        <c:grouping val="standard"/>
        <c:smooth val="0"/>
        <c:ser>
          <c:idx val="1"/>
          <c:order val="1"/>
          <c:tx>
            <c:v>% Positive (base 44.6%)</c:v>
          </c:tx>
          <c:spPr>
            <a:ln w="25400">
              <a:solidFill>
                <a:srgbClr val="F0883E"/>
              </a:solidFill>
            </a:ln>
          </c:spPr>
          <c:marker>
            <c:symbol val="circle"/>
            <c:size val="5"/>
          </c:marker>
          <c:val>
            <c:numRef>
              <c:f/>
              <c:numCache>
                <c:formatCode>0.0</c:formatCode>
                <c:ptCount val="10"/>
                <c:pt idx="0">
                  <c:v>45.91381872213967</c:v>
                </c:pt>
                <c:pt idx="1">
                  <c:v>46.40350877192982</c:v>
                </c:pt>
                <c:pt idx="2">
                  <c:v>47.463359639233374</c:v>
                </c:pt>
                <c:pt idx="3">
                  <c:v>48.02342606149341</c:v>
                </c:pt>
                <c:pt idx="4">
                  <c:v>49.09090909090909</c:v>
                </c:pt>
                <c:pt idx="5">
                  <c:v>51.873198847262245</c:v>
                </c:pt>
                <c:pt idx="6">
                  <c:v>51.627906976744185</c:v>
                </c:pt>
                <c:pt idx="7">
                  <c:v>51.48514851485149</c:v>
                </c:pt>
                <c:pt idx="8">
                  <c:v>50.0</c:v>
                </c:pt>
                <c:pt idx="9">
                  <c:v>50.0</c:v>
                </c:pt>
              </c:numCache>
            </c:numRef>
          </c:val>
        </c:ser>
        <c:ser>
          <c:idx val="2"/>
          <c:order val="2"/>
          <c:tx>
            <c:v>Median CAR % (base -2.0%)</c:v>
          </c:tx>
          <c:spPr>
            <a:ln w="25400">
              <a:solidFill>
                <a:srgbClr val="3FB950"/>
              </a:solidFill>
            </a:ln>
          </c:spPr>
          <c:marker>
            <c:symbol val="square"/>
            <c:size val="5"/>
          </c:marker>
          <c:val>
            <c:numRef>
              <c:f/>
              <c:numCache>
                <c:formatCode>0.0</c:formatCode>
                <c:ptCount val="10"/>
                <c:pt idx="0">
                  <c:v>-1.49533320455376</c:v>
                </c:pt>
                <c:pt idx="1">
                  <c:v>-1.32238251882437</c:v>
                </c:pt>
                <c:pt idx="2">
                  <c:v>-0.72696754771976</c:v>
                </c:pt>
                <c:pt idx="3">
                  <c:v>-0.52432456725605</c:v>
                </c:pt>
                <c:pt idx="4">
                  <c:v>-0.24732561423907</c:v>
                </c:pt>
                <c:pt idx="5">
                  <c:v>0.33644005517189</c:v>
                </c:pt>
                <c:pt idx="6">
                  <c:v>0.43848259685343</c:v>
                </c:pt>
                <c:pt idx="7">
                  <c:v>0.6295983215110901</c:v>
                </c:pt>
                <c:pt idx="8">
                  <c:v>-0.76297876753889</c:v>
                </c:pt>
                <c:pt idx="9">
                  <c:v>-3.5683270784685197</c:v>
                </c:pt>
              </c:numCache>
            </c:numRef>
          </c:val>
        </c:ser>
        <c:axId val="101"/>
        <c:axId val="103"/>
      </c:lineChart>
      <c:valAx>
        <c:axId val="103"/>
        <c:scaling>
          <c:orientation val="minMax"/>
        </c:scaling>
        <c:delete val="0"/>
        <c:axPos val="r"/>
        <c:crossAx val="101"/>
        <c:crosses val="max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</c:valAx>
      <c:spPr>
        <a:solidFill>
          <a:srgbClr val="161B22"/>
        </a:solidFill>
      </c:spPr>
    </c:plotArea>
    <c:legend>
      <c:legendPos val="t"/>
      <c:txPr>
        <a:bodyPr/>
        <a:lstStyle/>
        <a:p>
          <a:pPr>
            <a:defRPr sz="900">
              <a:solidFill>
                <a:srgbClr val="E6EDF3"/>
              </a:solidFill>
            </a:defRPr>
          </a:pPr>
        </a:p>
      </c:txPr>
    </c:legend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title>
      <c:tx>
        <c:rich>
          <a:bodyPr/>
          <a:lstStyle/>
          <a:p>
            <a:r>
              <a:rPr sz="1100">
                <a:solidFill>
                  <a:srgbClr val="E6EDF3"/>
                </a:solidFill>
              </a:rPr>
              <a:t>Feature Importances (top 10)</a:t>
            </a:r>
          </a:p>
        </c:rich>
      </c:tx>
      <c:layout/>
      <c:overlay val="0"/>
    </c:title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ln>
              <a:noFill/>
            </a:ln>
          </c:spPr>
          <c:dPt>
            <c:idx val="0"/>
            <c:spPr>
              <a:solidFill>
                <a:srgbClr val="A78BFA"/>
              </a:solidFill>
            </c:spPr>
          </c:dPt>
          <c:dPt>
            <c:idx val="1"/>
            <c:spPr>
              <a:solidFill>
                <a:srgbClr val="A78BFA"/>
              </a:solidFill>
            </c:spPr>
          </c:dPt>
          <c:dPt>
            <c:idx val="2"/>
            <c:spPr>
              <a:solidFill>
                <a:srgbClr val="A78BFA"/>
              </a:solidFill>
            </c:spPr>
          </c:dPt>
          <c:dPt>
            <c:idx val="3"/>
            <c:spPr>
              <a:solidFill>
                <a:srgbClr val="A78BFA"/>
              </a:solidFill>
            </c:spPr>
          </c:dPt>
          <c:dPt>
            <c:idx val="4"/>
            <c:spPr>
              <a:solidFill>
                <a:srgbClr val="F0883E"/>
              </a:solidFill>
            </c:spPr>
          </c:dPt>
          <c:dPt>
            <c:idx val="5"/>
            <c:spPr>
              <a:solidFill>
                <a:srgbClr val="F0883E"/>
              </a:solidFill>
            </c:spPr>
          </c:dPt>
          <c:dPt>
            <c:idx val="6"/>
            <c:spPr>
              <a:solidFill>
                <a:srgbClr val="4ECDC4"/>
              </a:solidFill>
            </c:spPr>
          </c:dPt>
          <c:dPt>
            <c:idx val="7"/>
            <c:spPr>
              <a:solidFill>
                <a:srgbClr val="A78BFA"/>
              </a:solidFill>
            </c:spPr>
          </c:dPt>
          <c:dPt>
            <c:idx val="8"/>
            <c:spPr>
              <a:solidFill>
                <a:srgbClr val="A78BFA"/>
              </a:solidFill>
            </c:spPr>
          </c:dPt>
          <c:dPt>
            <c:idx val="9"/>
            <c:spPr>
              <a:solidFill>
                <a:srgbClr val="FB923C"/>
              </a:solidFill>
            </c:spPr>
          </c:dPt>
          <c:cat>
            <c:strRef>
              <c:f>Sheet1!$A$2:$A$11</c:f>
              <c:strCache>
                <c:ptCount val="10"/>
                <c:pt idx="0">
                  <c:v>Member of Finance &amp; Housing committee</c:v>
                </c:pt>
                <c:pt idx="1">
                  <c:v>Tier-2 committee–industry overlap</c:v>
                </c:pt>
                <c:pt idx="2">
                  <c:v>committee_commerce_technology</c:v>
                </c:pt>
                <c:pt idx="3">
                  <c:v>Tier-1 committee–industry overlap</c:v>
                </c:pt>
                <c:pt idx="4">
                  <c:v>Politician's past avg. market-adj. return</c:v>
                </c:pt>
                <c:pt idx="5">
                  <c:v>Politician's past avg. return (realized)</c:v>
                </c:pt>
                <c:pt idx="6">
                  <c:v>House vs Senate</c:v>
                </c:pt>
                <c:pt idx="7">
                  <c:v>Member of Oversight committee</c:v>
                </c:pt>
                <c:pt idx="8">
                  <c:v>Tier-3 committee–industry overlap</c:v>
                </c:pt>
                <c:pt idx="9">
                  <c:v>Company had active lobbying (90d)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0.030676571652293205</c:v>
                </c:pt>
                <c:pt idx="1">
                  <c:v>0.03075980395078659</c:v>
                </c:pt>
                <c:pt idx="2">
                  <c:v>0.030948540195822716</c:v>
                </c:pt>
                <c:pt idx="3">
                  <c:v>0.031191138550639153</c:v>
                </c:pt>
                <c:pt idx="4">
                  <c:v>0.03137001022696495</c:v>
                </c:pt>
                <c:pt idx="5">
                  <c:v>0.03148549795150757</c:v>
                </c:pt>
                <c:pt idx="6">
                  <c:v>0.03269713371992111</c:v>
                </c:pt>
                <c:pt idx="7">
                  <c:v>0.032875195145606995</c:v>
                </c:pt>
                <c:pt idx="8">
                  <c:v>0.04543573409318924</c:v>
                </c:pt>
                <c:pt idx="9">
                  <c:v>0.05393137037754059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b"/>
        <c:majorGridlines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7D8590"/>
                </a:solidFill>
              </a:defRPr>
            </a:pPr>
          </a:p>
        </c:txPr>
        <c:crossAx val="-2068027336"/>
        <c:crosses val="autoZero"/>
      </c:valAx>
      <c:spPr>
        <a:solidFill>
          <a:srgbClr val="161B22"/>
        </a:solidFill>
      </c:spPr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  <c:spPr>
    <a:solidFill>
      <a:srgbClr val="0F1117"/>
    </a:solidFill>
  </c:spPr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2.xml"/><Relationship Id="rId3" Type="http://schemas.openxmlformats.org/officeDocument/2006/relationships/chart" Target="../charts/chart3.xml"/><Relationship Id="rId4" Type="http://schemas.openxmlformats.org/officeDocument/2006/relationships/chart" Target="../charts/char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5.xml"/><Relationship Id="rId3" Type="http://schemas.openxmlformats.org/officeDocument/2006/relationships/chart" Target="../charts/char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8.xml"/><Relationship Id="rId3" Type="http://schemas.openxmlformats.org/officeDocument/2006/relationships/chart" Target="../charts/chart9.xml"/><Relationship Id="rId4" Type="http://schemas.openxmlformats.org/officeDocument/2006/relationships/chart" Target="../charts/chart10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1.xml"/><Relationship Id="rId3" Type="http://schemas.openxmlformats.org/officeDocument/2006/relationships/chart" Target="../charts/chart1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3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4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645920"/>
            <a:ext cx="1033272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4600" b="1">
                <a:solidFill>
                  <a:srgbClr val="E6EDF3"/>
                </a:solidFill>
              </a:rPr>
              <a:t>Congressional Stock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371600" y="2926080"/>
            <a:ext cx="94183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>
                <a:solidFill>
                  <a:srgbClr val="388BFD"/>
                </a:solidFill>
              </a:rPr>
              <a:t>Do Congress Members Beat the Market?</a:t>
            </a:r>
          </a:p>
        </p:txBody>
      </p:sp>
      <p:sp>
        <p:nvSpPr>
          <p:cNvPr id="4" name="Rectangle 3"/>
          <p:cNvSpPr/>
          <p:nvPr/>
        </p:nvSpPr>
        <p:spPr>
          <a:xfrm>
            <a:off x="3200400" y="3749039"/>
            <a:ext cx="5760720" cy="36576"/>
          </a:xfrm>
          <a:prstGeom prst="rect">
            <a:avLst/>
          </a:prstGeom>
          <a:solidFill>
            <a:srgbClr val="30363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371600" y="3931920"/>
            <a:ext cx="941832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>
                <a:solidFill>
                  <a:srgbClr val="7D8590"/>
                </a:solidFill>
              </a:rPr>
              <a:t>Machine Learning on STOCK Act Disclosures  ·  March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How We Measure Performance: Cumulative Abnormal Return (CAR)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640080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Returns are computed as log returns — additive over time, correct for compounding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Market benchmark = CAPM-expected return:  E[R] = Rf + β × (Rm − Rf)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β estimated from 756 trading days of close prices (min 60 days required)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CAR = Actual log return − CAPM-expected log return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Positive CAR → stock earned more than its risk justified (positive alpha)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Negative CAR → stock earned less than CAPM predicted for its level of risk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CAR &gt; 0 does NOT mean the stock beat the index — it means the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risk-adjusted excess return was positive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Realized CAR hybrid target: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→ actual buy-to-sell log return, if position closed within 12 months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→ 12-month fixed-window CAR from filing date, if held longer or no sell recorded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CAR window starts the day AFTER the disclosure filing date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766560" y="1188720"/>
          <a:ext cx="5120640" cy="34747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Rectangle 5"/>
          <p:cNvSpPr/>
          <p:nvPr/>
        </p:nvSpPr>
        <p:spPr>
          <a:xfrm>
            <a:off x="6766560" y="4846320"/>
            <a:ext cx="5120640" cy="178308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F0883E"/>
                </a:solidFill>
              </a:rPr>
              <a:t>Positive CAR = compensated MORE for risk than CAPM predicts
Negative CAR = compensated LESS — paid for risk that did not materialise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Most Congressional Purchases Underperform the Market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11612880" cy="31089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875520" y="1188719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0883E"/>
                </a:solidFill>
              </a:rPr>
              <a:t>Median: -0.006</a:t>
            </a:r>
          </a:p>
        </p:txBody>
      </p:sp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274320" y="4251960"/>
          <a:ext cx="5669280" cy="1920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9319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0883E"/>
                </a:solidFill>
              </a:rPr>
              <a:t>Median: -0.010</a:t>
            </a:r>
          </a:p>
        </p:txBody>
      </p:sp>
      <p:graphicFrame>
        <p:nvGraphicFramePr>
          <p:cNvPr id="8" name="Chart 7"/>
          <p:cNvGraphicFramePr>
            <a:graphicFrameLocks noGrp="1"/>
          </p:cNvGraphicFramePr>
          <p:nvPr/>
        </p:nvGraphicFramePr>
        <p:xfrm>
          <a:off x="6217920" y="4251960"/>
          <a:ext cx="5669280" cy="192024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9875520" y="43891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1">
                <a:solidFill>
                  <a:srgbClr val="F0883E"/>
                </a:solidFill>
              </a:rPr>
              <a:t>Median: -0.001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1480" y="6263640"/>
            <a:ext cx="11338560" cy="457200"/>
          </a:xfrm>
          <a:prstGeom prst="rect">
            <a:avLst/>
          </a:prstGeom>
          <a:solidFill>
            <a:srgbClr val="161B22"/>
          </a:solidFill>
          <a:ln w="19050">
            <a:solidFill>
              <a:srgbClr val="F0883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200" b="1">
                <a:solidFill>
                  <a:srgbClr val="F0883E"/>
                </a:solidFill>
              </a:rPr>
              <a:t>N = 14,024 trades  ·  Median CAR -0.006 (-0.6%)  ·  only 48.3% beat the market  ·  Green = positive  ·  Red = negative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Who Consistently Beats — and Loses to — the Market?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28600" y="1051560"/>
          <a:ext cx="5852160" cy="493776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6263640" y="1051560"/>
          <a:ext cx="5852160" cy="493776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274320" y="6126480"/>
            <a:ext cx="11430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Based on 97 politicians with ≥ 20 disclosed purchases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Bars = median CAR %  ·  Line = % of trades beating the market (hit rate)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Both charts share the same hit rate axis scale for direct comparison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Performance Over Time: Macro Events Drive Positive Rates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11612880" cy="429768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411480" y="5394960"/>
            <a:ext cx="1124712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2020 Q2–Q3: surge in positive rate — COVID recovery bounce lifted most purchases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2022: sharp drop aligned with rate-hike drawdown across the market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Volume spikes suggest increased trading activity around election cycles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7D8590"/>
                </a:solidFill>
              </a:rPr>
              <a:t>▸  Positive rate rarely exceeds 60% — even in the best macro environments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EDA: Median CAR Across Key Structural Variables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143000"/>
          <a:ext cx="3474720" cy="41148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3977639" y="1143000"/>
          <a:ext cx="4023360" cy="411480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graphicFrame>
        <p:nvGraphicFramePr>
          <p:cNvPr id="6" name="Chart 5"/>
          <p:cNvGraphicFramePr>
            <a:graphicFrameLocks noGrp="1"/>
          </p:cNvGraphicFramePr>
          <p:nvPr/>
        </p:nvGraphicFramePr>
        <p:xfrm>
          <a:off x="8275320" y="1143000"/>
          <a:ext cx="3657600" cy="41148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274320" y="5394960"/>
            <a:ext cx="11430000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All metrics: median CAR (consistent throughout the deck)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Tier 3 = Direct jurisdiction  ·  Tier 2 = Oversight  ·  Tier 1 = Tangential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Disclosure delay capped at 45 days by STOCK Act; 50d+ entries reflect late filers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Committee Membership Shows Selective Advantage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1051560"/>
            <a:ext cx="7223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590"/>
                </a:solidFill>
              </a:rPr>
              <a:t>Committee categories (all 9)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274320" y="1371600"/>
          <a:ext cx="7223760" cy="4206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680960" y="1051560"/>
            <a:ext cx="42976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7D8590"/>
                </a:solidFill>
              </a:rPr>
              <a:t>Structural role flags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7680960" y="1371600"/>
          <a:ext cx="4297680" cy="4206240"/>
        </p:xfrm>
        <a:graphic>
          <a:graphicData uri="http://schemas.openxmlformats.org/drawingml/2006/chart">
            <c:chart xmlns:c="http://schemas.openxmlformats.org/drawingml/2006/chart" r:id="rId3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274320" y="5715000"/>
            <a:ext cx="114300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Orange = flag=1 (on committee / in role / company lobbied)  ·  Blue = flag=0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All 9 committee categories shown — previously only 5 were displayed</a:t>
            </a:r>
          </a:p>
          <a:p>
            <a:pPr>
              <a:spcBef>
                <a:spcPts val="600"/>
              </a:spcBef>
            </a:pPr>
            <a:r>
              <a:rPr sz="1200">
                <a:solidFill>
                  <a:srgbClr val="7D8590"/>
                </a:solidFill>
              </a:rPr>
              <a:t>▸  Lobbied (90d): company had active lobbying disclosure in 90 days before filing date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Median CAR Turns Positive Only at High Confidence (≥ 85%)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8686800" cy="438912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9052560" y="109728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7D8590"/>
                </a:solidFill>
              </a:rPr>
              <a:t>Confusion matrix @ 0.85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9052560" y="1508760"/>
          <a:ext cx="2944368" cy="1645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15568"/>
                <a:gridCol w="914400"/>
                <a:gridCol w="914400"/>
              </a:tblGrid>
              <a:tr h="548640"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/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Pred: No beat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Pred: Beat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Actual: No beat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TN=1,506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FP=49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54864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Actual: Beat mkt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FN=1,199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TP=52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9052560" y="32461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>
                <a:solidFill>
                  <a:srgbClr val="7D8590"/>
                </a:solidFill>
              </a:rPr>
              <a:t>Test set: 2,806 trades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052560" y="36118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7D8590"/>
                </a:solidFill>
              </a:rPr>
              <a:t>Threshold comparison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9052560" y="3977639"/>
          <a:ext cx="2724912" cy="14173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7200"/>
                <a:gridCol w="457200"/>
                <a:gridCol w="548640"/>
                <a:gridCol w="713232"/>
                <a:gridCol w="548640"/>
              </a:tblGrid>
              <a:tr h="354330"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Thr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N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% Pos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Med CAR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Prec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</a:tr>
              <a:tr h="35433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1346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45.9%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-1.50%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45.9%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35433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60%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887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47.5%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-0.73%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47.5%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35433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101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51.5%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+0.63%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51.5%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10" name="Rectangle 9"/>
          <p:cNvSpPr/>
          <p:nvPr/>
        </p:nvSpPr>
        <p:spPr>
          <a:xfrm>
            <a:off x="274320" y="5577840"/>
            <a:ext cx="8686800" cy="777240"/>
          </a:xfrm>
          <a:prstGeom prst="rect">
            <a:avLst/>
          </a:prstGeom>
          <a:solidFill>
            <a:srgbClr val="161B22"/>
          </a:solidFill>
          <a:ln w="19050">
            <a:solidFill>
              <a:srgbClr val="3FB95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1300" b="1">
                <a:solidFill>
                  <a:srgbClr val="3FB950"/>
                </a:solidFill>
              </a:rPr>
              <a:t>Threshold 0.85 → 51% win rate  ·  median CAR +0.63%  ·  101 trades  ·  51.5% precision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The Model: What Drives the Predictions?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274320" y="1051560"/>
          <a:ext cx="7772400" cy="50292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8229600" y="105156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0883E"/>
                </a:solidFill>
              </a:rPr>
              <a:t>■  Politician Skill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0" y="160020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388BFD"/>
                </a:solidFill>
              </a:rPr>
              <a:t>■  Trade Signals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0" y="214883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4ECDC4"/>
                </a:solidFill>
              </a:rPr>
              <a:t>■  Stock Characteristics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0" y="2697479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A78BFA"/>
                </a:solidFill>
              </a:rPr>
              <a:t>■  Committee / Industry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0" y="3246120"/>
            <a:ext cx="2834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B923C"/>
                </a:solidFill>
              </a:rPr>
              <a:t>■  Lobbying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Conclusions &amp; Caveats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59436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3FB950"/>
                </a:solidFill>
              </a:rPr>
              <a:t>Key Findings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Most trades underperform: only 48.3% of purchases beat the market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Past politician skill and lobbying activity are among the top model features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Committee membership shows selective lift — most pronounced for Chair and Majority Party roles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Tier-3 committee–industry match (direct jurisdiction) shows the strongest committee-related edge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XGBoost reaches 51.5% precision at threshold 0.85 — fewer but higher-quality trades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92240" y="1097280"/>
            <a:ext cx="5486400" cy="3291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F85149"/>
                </a:solidFill>
              </a:rPr>
              <a:t>Caveats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No transaction costs or market impact modelled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Test set is a single holdout period — results may not generalise across regimes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Skill signals are backward-looking: past performance not guaranteed to continue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CAR is measured from filing date — model already accounts for disclosure lag,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  but real-world execution is constrained to after public disclosure</a:t>
            </a:r>
          </a:p>
          <a:p>
            <a:pPr>
              <a:spcBef>
                <a:spcPts val="600"/>
              </a:spcBef>
            </a:pPr>
            <a:r>
              <a:rPr sz="1400">
                <a:solidFill>
                  <a:srgbClr val="E6EDF3"/>
                </a:solidFill>
              </a:rPr>
              <a:t>▸  Dataset covers disclosed trades only — undisclosed activity not captured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4526280"/>
            <a:ext cx="1133856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8BFD"/>
                </a:solidFill>
              </a:rPr>
              <a:t>Potential Data Enrichment (Lobbying Focus)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What more lobby data could add: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1. Lobbying spend amount &amp; trend (currently: binary 90d presence only)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2. Issue specificity — which bills/topics overlap with politician's committee jurisdiction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3. Revolving door: lobbyists who previously worked for the same politician/committee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  4. Proximity signal: days between lobbying start date and trade filed date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Methodology: How Key Signals Were Constructed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1097280"/>
            <a:ext cx="1124712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88BFD"/>
                </a:solidFill>
              </a:rPr>
              <a:t>1 — Ticker ↔ Committee Matching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Committee membership from timestamped YAML snapshots (unitedstates/congress-legislators on GitHub)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For each trade, the snapshot closest in time to the Filed date is used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Ensures membership reflects the politician's actual committees at trade time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Committee codes truncated to 4 characters to normalize across snapshot formats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Result: binary committee-category flags per trade (9 categories total)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3063240"/>
            <a:ext cx="11247120" cy="1920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F0883E"/>
                </a:solidFill>
              </a:rPr>
              <a:t>2 — 3-Tier Committee–Industry Match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Manual mapping in config/commette_industry_map.yaml: committee → sector → industry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3 (Strong): committee has DIRECT JURISDICTION — controls budgets, contracts, or legislation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2 (Medium): committee has OVERSIGHT — sets general rules, taxes, or compliance standards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Tier 1 (Tangential): committee has INDIRECT impact — general legislative influence only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Result: Industry match 1/2/3 binary flags per trade (1 = politician's committee matches stock's industry at that tier)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11480" y="5120640"/>
            <a:ext cx="1124712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500" b="1">
                <a:solidFill>
                  <a:srgbClr val="3FB950"/>
                </a:solidFill>
              </a:rPr>
              <a:t>3 — Lobbying Signal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Source: QuiverQuant lobbying disclosures API, downloaded per traded ticker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lobbied_any_90d = 1 if the company had any active lobbying disclosure in 90 days before trade's Filed date</a:t>
            </a:r>
          </a:p>
          <a:p>
            <a:pPr>
              <a:spcBef>
                <a:spcPts val="600"/>
              </a:spcBef>
            </a:pPr>
            <a:r>
              <a:rPr sz="1300">
                <a:solidFill>
                  <a:srgbClr val="E6EDF3"/>
                </a:solidFill>
              </a:rPr>
              <a:t>▸  Currently binary — lobbying spend amount and issue specificity are future enrichment candidates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137160"/>
            <a:ext cx="22860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>
                <a:solidFill>
                  <a:srgbClr val="7D8590"/>
                </a:solidFill>
              </a:rPr>
              <a:t>APPENDIX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164592"/>
            <a:ext cx="11338560" cy="777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>
                <a:solidFill>
                  <a:srgbClr val="E6EDF3"/>
                </a:solidFill>
              </a:rPr>
              <a:t>Dataset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411480" y="914400"/>
            <a:ext cx="11338560" cy="36576"/>
          </a:xfrm>
          <a:prstGeom prst="rect">
            <a:avLst/>
          </a:prstGeom>
          <a:solidFill>
            <a:srgbClr val="388B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1148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36,658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Total Records</a:t>
            </a:r>
          </a:p>
        </p:txBody>
      </p:sp>
      <p:sp>
        <p:nvSpPr>
          <p:cNvPr id="8" name="Rectangle 7"/>
          <p:cNvSpPr/>
          <p:nvPr/>
        </p:nvSpPr>
        <p:spPr>
          <a:xfrm>
            <a:off x="324612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79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FB950"/>
                </a:solidFill>
              </a:rPr>
              <a:t>17,781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83279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Purchases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08076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F0883E"/>
                </a:solidFill>
              </a:rPr>
              <a:t>14,024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1792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Modelled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915400" y="1188720"/>
            <a:ext cx="2560320" cy="128016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052560" y="1280160"/>
            <a:ext cx="2286000" cy="685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600" b="1">
                <a:solidFill>
                  <a:srgbClr val="388BFD"/>
                </a:solidFill>
              </a:rPr>
              <a:t>268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052560" y="1965960"/>
            <a:ext cx="228600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100">
                <a:solidFill>
                  <a:srgbClr val="7D8590"/>
                </a:solidFill>
              </a:rPr>
              <a:t>Politicians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411480" y="2651760"/>
          <a:ext cx="11338560" cy="39319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8138160"/>
              </a:tblGrid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Metric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300" b="1">
                          <a:solidFill>
                            <a:srgbClr val="0F1117"/>
                          </a:solidFill>
                        </a:rPr>
                        <a:t>Value</a:t>
                      </a:r>
                    </a:p>
                  </a:txBody>
                  <a:tcPr>
                    <a:solidFill>
                      <a:srgbClr val="388BFD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Date range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2012-09-13 – 2026-01-30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Transaction types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Purchase / Sale / Sale (Full) / Sale (Partial) / Exchange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Unique tickers (purchases)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2,207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Parties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D / R / I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Chambers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Representatives / Senate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Target variable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realized_car_hybrid &gt; 0 (binary)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CAR windows available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1m / 3m / 6m / 9m / 12m + realized</a:t>
                      </a:r>
                    </a:p>
                  </a:txBody>
                  <a:tcPr>
                    <a:solidFill>
                      <a:srgbClr val="161B22"/>
                    </a:solidFill>
                  </a:tcPr>
                </a:tc>
              </a:tr>
              <a:tr h="436880"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Train / test split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  <a:tc>
                  <a:txBody>
                    <a:bodyPr anchor="ctr"/>
                    <a:lstStyle/>
                    <a:p>
                      <a:pPr algn="ctr"/>
                      <a:r>
                        <a:rPr sz="1200" b="0">
                          <a:solidFill>
                            <a:srgbClr val="E6EDF3"/>
                          </a:solidFill>
                        </a:rPr>
                        <a:t>80% / 20%  chronological</a:t>
                      </a:r>
                    </a:p>
                  </a:txBody>
                  <a:tcPr>
                    <a:solidFill>
                      <a:srgbClr val="0F111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